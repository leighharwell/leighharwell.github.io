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Urbanist Medium"/>
      <p:regular r:id="rId26"/>
      <p:bold r:id="rId27"/>
      <p:italic r:id="rId28"/>
      <p:boldItalic r:id="rId29"/>
    </p:embeddedFont>
    <p:embeddedFont>
      <p:font typeface="Urbanist SemiBold"/>
      <p:regular r:id="rId30"/>
      <p:bold r:id="rId31"/>
      <p:italic r:id="rId32"/>
      <p:boldItalic r:id="rId33"/>
    </p:embeddedFont>
    <p:embeddedFont>
      <p:font typeface="Urbanist"/>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UrbanistMedium-regular.fntdata"/><Relationship Id="rId25" Type="http://schemas.openxmlformats.org/officeDocument/2006/relationships/slide" Target="slides/slide20.xml"/><Relationship Id="rId28" Type="http://schemas.openxmlformats.org/officeDocument/2006/relationships/font" Target="fonts/UrbanistMedium-italic.fntdata"/><Relationship Id="rId27" Type="http://schemas.openxmlformats.org/officeDocument/2006/relationships/font" Target="fonts/UrbanistMedium-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UrbanistMedium-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UrbanistSemiBold-bold.fntdata"/><Relationship Id="rId30" Type="http://schemas.openxmlformats.org/officeDocument/2006/relationships/font" Target="fonts/UrbanistSemiBold-regular.fntdata"/><Relationship Id="rId11" Type="http://schemas.openxmlformats.org/officeDocument/2006/relationships/slide" Target="slides/slide6.xml"/><Relationship Id="rId33" Type="http://schemas.openxmlformats.org/officeDocument/2006/relationships/font" Target="fonts/UrbanistSemiBold-boldItalic.fntdata"/><Relationship Id="rId10" Type="http://schemas.openxmlformats.org/officeDocument/2006/relationships/slide" Target="slides/slide5.xml"/><Relationship Id="rId32" Type="http://schemas.openxmlformats.org/officeDocument/2006/relationships/font" Target="fonts/UrbanistSemiBold-italic.fntdata"/><Relationship Id="rId13" Type="http://schemas.openxmlformats.org/officeDocument/2006/relationships/slide" Target="slides/slide8.xml"/><Relationship Id="rId35" Type="http://schemas.openxmlformats.org/officeDocument/2006/relationships/font" Target="fonts/Urbanist-bold.fntdata"/><Relationship Id="rId12" Type="http://schemas.openxmlformats.org/officeDocument/2006/relationships/slide" Target="slides/slide7.xml"/><Relationship Id="rId34" Type="http://schemas.openxmlformats.org/officeDocument/2006/relationships/font" Target="fonts/Urbanist-regular.fntdata"/><Relationship Id="rId15" Type="http://schemas.openxmlformats.org/officeDocument/2006/relationships/slide" Target="slides/slide10.xml"/><Relationship Id="rId37" Type="http://schemas.openxmlformats.org/officeDocument/2006/relationships/font" Target="fonts/Urbanist-boldItalic.fntdata"/><Relationship Id="rId14" Type="http://schemas.openxmlformats.org/officeDocument/2006/relationships/slide" Target="slides/slide9.xml"/><Relationship Id="rId36" Type="http://schemas.openxmlformats.org/officeDocument/2006/relationships/font" Target="fonts/Urbanist-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ecce8db0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ecce8db05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f5637fbb44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f5637fbb44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f5637fbb44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f5637fbb44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ecce8db050_0_9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ecce8db050_0_9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ea19705a2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ea19705a2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Cant tell them apart just with things we measure from spectra</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ecce8db050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3ecce8db050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f82c13cdb2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3f82c13cdb2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f82c13cdb2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3f82c13cdb2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ecce8db050_0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ecce8db050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f5637fbb44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f5637fbb44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ecce8db050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3ecce8db050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f5637fbb4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f5637fbb4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f82c13cdb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f82c13cdb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f5637fbb44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f5637fbb44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ecce8db050_0_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3ecce8db050_0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f82c13cdb2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3f82c13cdb2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f82c13cdb2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3f82c13cdb2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f82c13cdb2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3f82c13cdb2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eebc699d6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2" name="Google Shape;612;g3eebc699d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f82c13cdb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f82c13cdb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mt="50000"/>
          </a:blip>
          <a:srcRect b="8145" l="3134" r="7835" t="16786"/>
          <a:stretch/>
        </p:blipFill>
        <p:spPr>
          <a:xfrm flipH="1" rot="10800000">
            <a:off x="0" y="-3474"/>
            <a:ext cx="9161550" cy="5154499"/>
          </a:xfrm>
          <a:prstGeom prst="rect">
            <a:avLst/>
          </a:prstGeom>
          <a:noFill/>
          <a:ln>
            <a:noFill/>
          </a:ln>
        </p:spPr>
      </p:pic>
      <p:sp>
        <p:nvSpPr>
          <p:cNvPr id="11" name="Google Shape;11;p2"/>
          <p:cNvSpPr/>
          <p:nvPr/>
        </p:nvSpPr>
        <p:spPr>
          <a:xfrm flipH="1" rot="10800000">
            <a:off x="0" y="4676700"/>
            <a:ext cx="9149700" cy="46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 name="Google Shape;12;p2"/>
          <p:cNvSpPr txBox="1"/>
          <p:nvPr>
            <p:ph idx="1" type="subTitle"/>
          </p:nvPr>
        </p:nvSpPr>
        <p:spPr>
          <a:xfrm>
            <a:off x="228600" y="1738950"/>
            <a:ext cx="4402800" cy="2520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13" name="Google Shape;13;p2"/>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 name="Google Shape;14;p2"/>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5" name="Google Shape;15;p2"/>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 name="Google Shape;16;p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 name="Google Shape;17;p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 name="Google Shape;18;p2"/>
          <p:cNvSpPr txBox="1"/>
          <p:nvPr>
            <p:ph type="title"/>
          </p:nvPr>
        </p:nvSpPr>
        <p:spPr>
          <a:xfrm>
            <a:off x="228600" y="228600"/>
            <a:ext cx="6658800" cy="14190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19" name="Google Shape;19;p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 name="Google Shape;20;p2"/>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1" name="Google Shape;21;p2"/>
          <p:cNvSpPr txBox="1"/>
          <p:nvPr>
            <p:ph idx="6" type="subTitle"/>
          </p:nvPr>
        </p:nvSpPr>
        <p:spPr>
          <a:xfrm>
            <a:off x="17863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2" name="Google Shape;22;p2"/>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
        <p:nvSpPr>
          <p:cNvPr id="23" name="Google Shape;23;p2"/>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1">
  <p:cSld name="BLANK_1_1_2">
    <p:spTree>
      <p:nvGrpSpPr>
        <p:cNvPr id="24" name="Shape 24"/>
        <p:cNvGrpSpPr/>
        <p:nvPr/>
      </p:nvGrpSpPr>
      <p:grpSpPr>
        <a:xfrm>
          <a:off x="0" y="0"/>
          <a:ext cx="0" cy="0"/>
          <a:chOff x="0" y="0"/>
          <a:chExt cx="0" cy="0"/>
        </a:xfrm>
      </p:grpSpPr>
      <p:sp>
        <p:nvSpPr>
          <p:cNvPr id="25" name="Google Shape;25;p3"/>
          <p:cNvSpPr txBox="1"/>
          <p:nvPr>
            <p:ph type="title"/>
          </p:nvPr>
        </p:nvSpPr>
        <p:spPr>
          <a:xfrm>
            <a:off x="228600" y="395043"/>
            <a:ext cx="6480300" cy="587700"/>
          </a:xfrm>
          <a:prstGeom prst="rect">
            <a:avLst/>
          </a:prstGeom>
        </p:spPr>
        <p:txBody>
          <a:bodyPr anchorCtr="0" anchor="t" bIns="91425" lIns="0" spcFirstLastPara="1" rIns="91425" wrap="square" tIns="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6" name="Google Shape;26;p3"/>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27" name="Google Shape;27;p3"/>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8" name="Google Shape;28;p3"/>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 name="Google Shape;29;p3"/>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 name="Google Shape;30;p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31" name="Google Shape;31;p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cxnSp>
        <p:nvCxnSpPr>
          <p:cNvPr id="32" name="Google Shape;32;p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values">
  <p:cSld name="BLANK_1_1_1_1">
    <p:spTree>
      <p:nvGrpSpPr>
        <p:cNvPr id="33" name="Shape 33"/>
        <p:cNvGrpSpPr/>
        <p:nvPr/>
      </p:nvGrpSpPr>
      <p:grpSpPr>
        <a:xfrm>
          <a:off x="0" y="0"/>
          <a:ext cx="0" cy="0"/>
          <a:chOff x="0" y="0"/>
          <a:chExt cx="0" cy="0"/>
        </a:xfrm>
      </p:grpSpPr>
      <p:sp>
        <p:nvSpPr>
          <p:cNvPr id="34" name="Google Shape;34;p4"/>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35" name="Google Shape;35;p4"/>
          <p:cNvSpPr txBox="1"/>
          <p:nvPr>
            <p:ph type="title"/>
          </p:nvPr>
        </p:nvSpPr>
        <p:spPr>
          <a:xfrm>
            <a:off x="228600" y="613525"/>
            <a:ext cx="7223400" cy="4221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p:txBody>
      </p:sp>
      <p:sp>
        <p:nvSpPr>
          <p:cNvPr id="36" name="Google Shape;36;p4"/>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7" name="Google Shape;37;p4"/>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8" name="Google Shape;38;p4"/>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9" name="Google Shape;39;p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0" name="Google Shape;40;p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41" name="Google Shape;41;p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42" name="Google Shape;42;p4"/>
          <p:cNvSpPr txBox="1"/>
          <p:nvPr>
            <p:ph idx="5" type="subTitle"/>
          </p:nvPr>
        </p:nvSpPr>
        <p:spPr>
          <a:xfrm>
            <a:off x="254625"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3" name="Google Shape;43;p4"/>
          <p:cNvSpPr txBox="1"/>
          <p:nvPr>
            <p:ph idx="6" type="subTitle"/>
          </p:nvPr>
        </p:nvSpPr>
        <p:spPr>
          <a:xfrm>
            <a:off x="3275850"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4" name="Google Shape;44;p4"/>
          <p:cNvSpPr txBox="1"/>
          <p:nvPr>
            <p:ph idx="7" type="subTitle"/>
          </p:nvPr>
        </p:nvSpPr>
        <p:spPr>
          <a:xfrm>
            <a:off x="6215463"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5" name="Google Shape;45;p4"/>
          <p:cNvSpPr txBox="1"/>
          <p:nvPr>
            <p:ph idx="8" type="body"/>
          </p:nvPr>
        </p:nvSpPr>
        <p:spPr>
          <a:xfrm>
            <a:off x="288575"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46" name="Google Shape;46;p4"/>
          <p:cNvSpPr txBox="1"/>
          <p:nvPr>
            <p:ph idx="9" type="body"/>
          </p:nvPr>
        </p:nvSpPr>
        <p:spPr>
          <a:xfrm>
            <a:off x="6121413"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47" name="Google Shape;47;p4"/>
          <p:cNvSpPr txBox="1"/>
          <p:nvPr>
            <p:ph idx="13" type="body"/>
          </p:nvPr>
        </p:nvSpPr>
        <p:spPr>
          <a:xfrm>
            <a:off x="3192450"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nd image ALT 2">
  <p:cSld name="CUSTOM_3">
    <p:spTree>
      <p:nvGrpSpPr>
        <p:cNvPr id="48" name="Shape 48"/>
        <p:cNvGrpSpPr/>
        <p:nvPr/>
      </p:nvGrpSpPr>
      <p:grpSpPr>
        <a:xfrm>
          <a:off x="0" y="0"/>
          <a:ext cx="0" cy="0"/>
          <a:chOff x="0" y="0"/>
          <a:chExt cx="0" cy="0"/>
        </a:xfrm>
      </p:grpSpPr>
      <p:sp>
        <p:nvSpPr>
          <p:cNvPr id="49" name="Google Shape;49;p5"/>
          <p:cNvSpPr/>
          <p:nvPr>
            <p:ph idx="2" type="pic"/>
          </p:nvPr>
        </p:nvSpPr>
        <p:spPr>
          <a:xfrm>
            <a:off x="246150" y="237650"/>
            <a:ext cx="4196400" cy="4438200"/>
          </a:xfrm>
          <a:prstGeom prst="rect">
            <a:avLst/>
          </a:prstGeom>
          <a:noFill/>
          <a:ln>
            <a:noFill/>
          </a:ln>
        </p:spPr>
      </p:sp>
      <p:sp>
        <p:nvSpPr>
          <p:cNvPr id="50" name="Google Shape;50;p5"/>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51" name="Google Shape;51;p5"/>
          <p:cNvSpPr txBox="1"/>
          <p:nvPr>
            <p:ph idx="3" type="title"/>
          </p:nvPr>
        </p:nvSpPr>
        <p:spPr>
          <a:xfrm>
            <a:off x="4591800" y="738425"/>
            <a:ext cx="4290000" cy="2051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52" name="Google Shape;52;p5"/>
          <p:cNvSpPr txBox="1"/>
          <p:nvPr>
            <p:ph idx="1" type="body"/>
          </p:nvPr>
        </p:nvSpPr>
        <p:spPr>
          <a:xfrm>
            <a:off x="4618950" y="2205375"/>
            <a:ext cx="4290000" cy="16296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53" name="Google Shape;53;p5"/>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4" name="Google Shape;54;p5"/>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5" name="Google Shape;55;p5"/>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6" name="Google Shape;56;p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 name="Google Shape;57;p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58" name="Google Shape;58;p5"/>
          <p:cNvCxnSpPr/>
          <p:nvPr/>
        </p:nvCxnSpPr>
        <p:spPr>
          <a:xfrm>
            <a:off x="228600" y="226100"/>
            <a:ext cx="8687100" cy="0"/>
          </a:xfrm>
          <a:prstGeom prst="straightConnector1">
            <a:avLst/>
          </a:prstGeom>
          <a:noFill/>
          <a:ln cap="flat" cmpd="sng" w="9525">
            <a:solidFill>
              <a:schemeClr val="lt2"/>
            </a:solidFill>
            <a:prstDash val="solid"/>
            <a:round/>
            <a:headEnd len="med" w="med" type="none"/>
            <a:tailEnd len="med" w="med" type="none"/>
          </a:ln>
        </p:spPr>
      </p:cxnSp>
      <p:cxnSp>
        <p:nvCxnSpPr>
          <p:cNvPr id="59" name="Google Shape;59;p5"/>
          <p:cNvCxnSpPr/>
          <p:nvPr/>
        </p:nvCxnSpPr>
        <p:spPr>
          <a:xfrm>
            <a:off x="4444600" y="570000"/>
            <a:ext cx="4470900" cy="0"/>
          </a:xfrm>
          <a:prstGeom prst="straightConnector1">
            <a:avLst/>
          </a:prstGeom>
          <a:noFill/>
          <a:ln cap="flat" cmpd="sng" w="9525">
            <a:solidFill>
              <a:schemeClr val="lt2"/>
            </a:solidFill>
            <a:prstDash val="solid"/>
            <a:round/>
            <a:headEnd len="med" w="med" type="none"/>
            <a:tailEnd len="med" w="med" type="none"/>
          </a:ln>
        </p:spPr>
      </p:cxnSp>
      <p:cxnSp>
        <p:nvCxnSpPr>
          <p:cNvPr id="60" name="Google Shape;60;p5"/>
          <p:cNvCxnSpPr/>
          <p:nvPr/>
        </p:nvCxnSpPr>
        <p:spPr>
          <a:xfrm>
            <a:off x="4442500" y="226100"/>
            <a:ext cx="0" cy="4457700"/>
          </a:xfrm>
          <a:prstGeom prst="straightConnector1">
            <a:avLst/>
          </a:prstGeom>
          <a:noFill/>
          <a:ln cap="flat" cmpd="sng" w="9525">
            <a:solidFill>
              <a:schemeClr val="lt2"/>
            </a:solidFill>
            <a:prstDash val="solid"/>
            <a:round/>
            <a:headEnd len="med" w="med" type="none"/>
            <a:tailEnd len="med" w="med" type="none"/>
          </a:ln>
        </p:spPr>
      </p:cxnSp>
      <p:cxnSp>
        <p:nvCxnSpPr>
          <p:cNvPr id="61" name="Google Shape;61;p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1_3">
    <p:spTree>
      <p:nvGrpSpPr>
        <p:cNvPr id="62" name="Shape 62"/>
        <p:cNvGrpSpPr/>
        <p:nvPr/>
      </p:nvGrpSpPr>
      <p:grpSpPr>
        <a:xfrm>
          <a:off x="0" y="0"/>
          <a:ext cx="0" cy="0"/>
          <a:chOff x="0" y="0"/>
          <a:chExt cx="0" cy="0"/>
        </a:xfrm>
      </p:grpSpPr>
      <p:sp>
        <p:nvSpPr>
          <p:cNvPr id="63" name="Google Shape;63;p6"/>
          <p:cNvSpPr txBox="1"/>
          <p:nvPr>
            <p:ph type="title"/>
          </p:nvPr>
        </p:nvSpPr>
        <p:spPr>
          <a:xfrm>
            <a:off x="228600" y="613525"/>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64" name="Google Shape;64;p6"/>
          <p:cNvSpPr/>
          <p:nvPr>
            <p:ph idx="2" type="pic"/>
          </p:nvPr>
        </p:nvSpPr>
        <p:spPr>
          <a:xfrm>
            <a:off x="4523050" y="7379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65" name="Google Shape;65;p6"/>
          <p:cNvSpPr/>
          <p:nvPr>
            <p:ph idx="3" type="pic"/>
          </p:nvPr>
        </p:nvSpPr>
        <p:spPr>
          <a:xfrm>
            <a:off x="6752100" y="7377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66" name="Google Shape;66;p6"/>
          <p:cNvSpPr/>
          <p:nvPr>
            <p:ph idx="4" type="pic"/>
          </p:nvPr>
        </p:nvSpPr>
        <p:spPr>
          <a:xfrm>
            <a:off x="4523050" y="2158000"/>
            <a:ext cx="4394100" cy="2282700"/>
          </a:xfrm>
          <a:prstGeom prst="roundRect">
            <a:avLst>
              <a:gd fmla="val 6108" name="adj"/>
            </a:avLst>
          </a:prstGeom>
          <a:noFill/>
          <a:ln cap="flat" cmpd="sng" w="9525">
            <a:solidFill>
              <a:schemeClr val="accent1"/>
            </a:solidFill>
            <a:prstDash val="solid"/>
            <a:round/>
            <a:headEnd len="sm" w="sm" type="none"/>
            <a:tailEnd len="sm" w="sm" type="none"/>
          </a:ln>
        </p:spPr>
      </p:sp>
      <p:sp>
        <p:nvSpPr>
          <p:cNvPr id="67" name="Google Shape;67;p6"/>
          <p:cNvSpPr txBox="1"/>
          <p:nvPr>
            <p:ph idx="1" type="body"/>
          </p:nvPr>
        </p:nvSpPr>
        <p:spPr>
          <a:xfrm>
            <a:off x="233850" y="3127075"/>
            <a:ext cx="2920800" cy="1313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68" name="Google Shape;68;p6"/>
          <p:cNvSpPr txBox="1"/>
          <p:nvPr>
            <p:ph idx="5"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9" name="Google Shape;69;p6"/>
          <p:cNvSpPr txBox="1"/>
          <p:nvPr>
            <p:ph idx="6"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0" name="Google Shape;70;p6"/>
          <p:cNvSpPr txBox="1"/>
          <p:nvPr>
            <p:ph idx="7"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1" name="Google Shape;71;p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2" name="Google Shape;72;p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3" name="Google Shape;73;p6"/>
          <p:cNvSpPr txBox="1"/>
          <p:nvPr>
            <p:ph idx="8"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cxnSp>
        <p:nvCxnSpPr>
          <p:cNvPr id="74" name="Google Shape;74;p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pic>
        <p:nvPicPr>
          <p:cNvPr descr="The edges of black plates against a black background. " id="75" name="Google Shape;75;p6"/>
          <p:cNvPicPr preferRelativeResize="0"/>
          <p:nvPr/>
        </p:nvPicPr>
        <p:blipFill rotWithShape="1">
          <a:blip r:embed="rId2">
            <a:alphaModFix/>
          </a:blip>
          <a:srcRect b="2361" l="19958" r="17042" t="24539"/>
          <a:stretch/>
        </p:blipFill>
        <p:spPr>
          <a:xfrm>
            <a:off x="4618950" y="737775"/>
            <a:ext cx="2068800" cy="1350300"/>
          </a:xfrm>
          <a:prstGeom prst="roundRect">
            <a:avLst>
              <a:gd fmla="val 8809" name="adj"/>
            </a:avLst>
          </a:prstGeom>
          <a:noFill/>
          <a:ln cap="flat" cmpd="sng" w="9525">
            <a:solidFill>
              <a:schemeClr val="accent1"/>
            </a:solidFill>
            <a:prstDash val="solid"/>
            <a:round/>
            <a:headEnd len="sm" w="sm" type="none"/>
            <a:tailEnd len="sm" w="sm" type="none"/>
          </a:ln>
        </p:spPr>
      </p:pic>
    </p:spTree>
  </p:cSld>
  <p:clrMapOvr>
    <a:masterClrMapping/>
  </p:clrMapOvr>
  <p:extLst>
    <p:ext uri="{DCECCB84-F9BA-43D5-87BE-67443E8EF086}">
      <p15:sldGuideLst>
        <p15:guide id="1" orient="horz" pos="2805">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BLANK_1_1_1_1_2">
    <p:spTree>
      <p:nvGrpSpPr>
        <p:cNvPr id="76" name="Shape 76"/>
        <p:cNvGrpSpPr/>
        <p:nvPr/>
      </p:nvGrpSpPr>
      <p:grpSpPr>
        <a:xfrm>
          <a:off x="0" y="0"/>
          <a:ext cx="0" cy="0"/>
          <a:chOff x="0" y="0"/>
          <a:chExt cx="0" cy="0"/>
        </a:xfrm>
      </p:grpSpPr>
      <p:pic>
        <p:nvPicPr>
          <p:cNvPr id="77" name="Google Shape;77;p7"/>
          <p:cNvPicPr preferRelativeResize="0"/>
          <p:nvPr/>
        </p:nvPicPr>
        <p:blipFill rotWithShape="1">
          <a:blip r:embed="rId2">
            <a:alphaModFix amt="60000"/>
          </a:blip>
          <a:srcRect b="14588" l="0" r="15469" t="0"/>
          <a:stretch/>
        </p:blipFill>
        <p:spPr>
          <a:xfrm>
            <a:off x="25" y="1172500"/>
            <a:ext cx="5181349" cy="3493250"/>
          </a:xfrm>
          <a:prstGeom prst="rect">
            <a:avLst/>
          </a:prstGeom>
          <a:noFill/>
          <a:ln>
            <a:noFill/>
          </a:ln>
        </p:spPr>
      </p:pic>
      <p:sp>
        <p:nvSpPr>
          <p:cNvPr id="78" name="Google Shape;78;p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9" name="Google Shape;79;p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0" name="Google Shape;80;p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1" name="Google Shape;81;p7"/>
          <p:cNvSpPr txBox="1"/>
          <p:nvPr>
            <p:ph type="title"/>
          </p:nvPr>
        </p:nvSpPr>
        <p:spPr>
          <a:xfrm>
            <a:off x="277500" y="22860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cxnSp>
        <p:nvCxnSpPr>
          <p:cNvPr id="82" name="Google Shape;82;p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83" name="Google Shape;83;p7"/>
          <p:cNvSpPr txBox="1"/>
          <p:nvPr>
            <p:ph idx="4" type="subTitle"/>
          </p:nvPr>
        </p:nvSpPr>
        <p:spPr>
          <a:xfrm>
            <a:off x="4744575" y="38715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4" name="Google Shape;84;p7"/>
          <p:cNvSpPr txBox="1"/>
          <p:nvPr>
            <p:ph idx="5" type="subTitle"/>
          </p:nvPr>
        </p:nvSpPr>
        <p:spPr>
          <a:xfrm>
            <a:off x="4744575" y="1066588"/>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5" name="Google Shape;85;p7"/>
          <p:cNvSpPr txBox="1"/>
          <p:nvPr>
            <p:ph idx="6" type="subTitle"/>
          </p:nvPr>
        </p:nvSpPr>
        <p:spPr>
          <a:xfrm>
            <a:off x="4744575" y="174270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6" name="Google Shape;86;p7"/>
          <p:cNvSpPr txBox="1"/>
          <p:nvPr>
            <p:ph idx="7" type="subTitle"/>
          </p:nvPr>
        </p:nvSpPr>
        <p:spPr>
          <a:xfrm>
            <a:off x="4744575" y="2420513"/>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7" name="Google Shape;87;p7"/>
          <p:cNvSpPr txBox="1"/>
          <p:nvPr>
            <p:ph idx="8" type="subTitle"/>
          </p:nvPr>
        </p:nvSpPr>
        <p:spPr>
          <a:xfrm>
            <a:off x="4744575" y="30982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8" name="Google Shape;88;p7"/>
          <p:cNvSpPr txBox="1"/>
          <p:nvPr>
            <p:ph idx="9" type="subTitle"/>
          </p:nvPr>
        </p:nvSpPr>
        <p:spPr>
          <a:xfrm>
            <a:off x="4744575" y="37760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9" name="Google Shape;89;p7"/>
          <p:cNvSpPr txBox="1"/>
          <p:nvPr>
            <p:ph idx="13" type="subTitle"/>
          </p:nvPr>
        </p:nvSpPr>
        <p:spPr>
          <a:xfrm>
            <a:off x="5067075" y="3871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0" name="Google Shape;90;p7"/>
          <p:cNvSpPr txBox="1"/>
          <p:nvPr>
            <p:ph idx="14" type="subTitle"/>
          </p:nvPr>
        </p:nvSpPr>
        <p:spPr>
          <a:xfrm>
            <a:off x="5067075" y="10615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1" name="Google Shape;91;p7"/>
          <p:cNvSpPr txBox="1"/>
          <p:nvPr>
            <p:ph idx="15" type="subTitle"/>
          </p:nvPr>
        </p:nvSpPr>
        <p:spPr>
          <a:xfrm>
            <a:off x="5067075" y="17393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2" name="Google Shape;92;p7"/>
          <p:cNvSpPr txBox="1"/>
          <p:nvPr>
            <p:ph idx="16" type="subTitle"/>
          </p:nvPr>
        </p:nvSpPr>
        <p:spPr>
          <a:xfrm>
            <a:off x="5067075" y="242410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3" name="Google Shape;93;p7"/>
          <p:cNvSpPr txBox="1"/>
          <p:nvPr>
            <p:ph idx="17" type="subTitle"/>
          </p:nvPr>
        </p:nvSpPr>
        <p:spPr>
          <a:xfrm>
            <a:off x="5067075" y="309493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4" name="Google Shape;94;p7"/>
          <p:cNvSpPr txBox="1"/>
          <p:nvPr>
            <p:ph idx="18" type="subTitle"/>
          </p:nvPr>
        </p:nvSpPr>
        <p:spPr>
          <a:xfrm>
            <a:off x="5067075" y="37657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5" name="Google Shape;95;p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6" name="Google Shape;96;p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s">
  <p:cSld name="BLANK_1_1_1_1_2_1">
    <p:spTree>
      <p:nvGrpSpPr>
        <p:cNvPr id="97" name="Shape 97"/>
        <p:cNvGrpSpPr/>
        <p:nvPr/>
      </p:nvGrpSpPr>
      <p:grpSpPr>
        <a:xfrm>
          <a:off x="0" y="0"/>
          <a:ext cx="0" cy="0"/>
          <a:chOff x="0" y="0"/>
          <a:chExt cx="0" cy="0"/>
        </a:xfrm>
      </p:grpSpPr>
      <p:sp>
        <p:nvSpPr>
          <p:cNvPr id="98" name="Google Shape;98;p8"/>
          <p:cNvSpPr/>
          <p:nvPr>
            <p:ph idx="2" type="pic"/>
          </p:nvPr>
        </p:nvSpPr>
        <p:spPr>
          <a:xfrm>
            <a:off x="4618950" y="228600"/>
            <a:ext cx="1370400" cy="1357500"/>
          </a:xfrm>
          <a:prstGeom prst="roundRect">
            <a:avLst>
              <a:gd fmla="val 16935" name="adj"/>
            </a:avLst>
          </a:prstGeom>
          <a:noFill/>
          <a:ln>
            <a:noFill/>
          </a:ln>
        </p:spPr>
      </p:sp>
      <p:sp>
        <p:nvSpPr>
          <p:cNvPr id="99" name="Google Shape;99;p8"/>
          <p:cNvSpPr txBox="1"/>
          <p:nvPr>
            <p:ph idx="1" type="subTitle"/>
          </p:nvPr>
        </p:nvSpPr>
        <p:spPr>
          <a:xfrm>
            <a:off x="4619000" y="1702322"/>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00" name="Google Shape;100;p8"/>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1" name="Google Shape;101;p8"/>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2" name="Google Shape;102;p8"/>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3" name="Google Shape;103;p8"/>
          <p:cNvSpPr txBox="1"/>
          <p:nvPr>
            <p:ph type="title"/>
          </p:nvPr>
        </p:nvSpPr>
        <p:spPr>
          <a:xfrm>
            <a:off x="228600" y="23475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04" name="Google Shape;104;p8"/>
          <p:cNvSpPr txBox="1"/>
          <p:nvPr>
            <p:ph idx="6" type="subTitle"/>
          </p:nvPr>
        </p:nvSpPr>
        <p:spPr>
          <a:xfrm>
            <a:off x="46190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05" name="Google Shape;105;p8"/>
          <p:cNvSpPr/>
          <p:nvPr>
            <p:ph idx="7" type="pic"/>
          </p:nvPr>
        </p:nvSpPr>
        <p:spPr>
          <a:xfrm>
            <a:off x="6080700" y="228600"/>
            <a:ext cx="1370400" cy="1357500"/>
          </a:xfrm>
          <a:prstGeom prst="roundRect">
            <a:avLst>
              <a:gd fmla="val 16935" name="adj"/>
            </a:avLst>
          </a:prstGeom>
          <a:noFill/>
          <a:ln>
            <a:noFill/>
          </a:ln>
        </p:spPr>
      </p:sp>
      <p:sp>
        <p:nvSpPr>
          <p:cNvPr id="106" name="Google Shape;106;p8"/>
          <p:cNvSpPr txBox="1"/>
          <p:nvPr>
            <p:ph idx="8" type="subTitle"/>
          </p:nvPr>
        </p:nvSpPr>
        <p:spPr>
          <a:xfrm>
            <a:off x="608075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07" name="Google Shape;107;p8"/>
          <p:cNvSpPr txBox="1"/>
          <p:nvPr>
            <p:ph idx="9" type="subTitle"/>
          </p:nvPr>
        </p:nvSpPr>
        <p:spPr>
          <a:xfrm>
            <a:off x="608075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08" name="Google Shape;108;p8"/>
          <p:cNvSpPr/>
          <p:nvPr>
            <p:ph idx="13" type="pic"/>
          </p:nvPr>
        </p:nvSpPr>
        <p:spPr>
          <a:xfrm>
            <a:off x="7542450" y="228600"/>
            <a:ext cx="1370400" cy="1357500"/>
          </a:xfrm>
          <a:prstGeom prst="roundRect">
            <a:avLst>
              <a:gd fmla="val 16935" name="adj"/>
            </a:avLst>
          </a:prstGeom>
          <a:noFill/>
          <a:ln>
            <a:noFill/>
          </a:ln>
        </p:spPr>
      </p:sp>
      <p:sp>
        <p:nvSpPr>
          <p:cNvPr id="109" name="Google Shape;109;p8"/>
          <p:cNvSpPr txBox="1"/>
          <p:nvPr>
            <p:ph idx="14" type="subTitle"/>
          </p:nvPr>
        </p:nvSpPr>
        <p:spPr>
          <a:xfrm>
            <a:off x="754250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0" name="Google Shape;110;p8"/>
          <p:cNvSpPr txBox="1"/>
          <p:nvPr>
            <p:ph idx="15" type="subTitle"/>
          </p:nvPr>
        </p:nvSpPr>
        <p:spPr>
          <a:xfrm>
            <a:off x="75425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1" name="Google Shape;111;p8"/>
          <p:cNvSpPr/>
          <p:nvPr>
            <p:ph idx="16" type="pic"/>
          </p:nvPr>
        </p:nvSpPr>
        <p:spPr>
          <a:xfrm>
            <a:off x="4618950" y="2295725"/>
            <a:ext cx="1370400" cy="1357500"/>
          </a:xfrm>
          <a:prstGeom prst="roundRect">
            <a:avLst>
              <a:gd fmla="val 16935" name="adj"/>
            </a:avLst>
          </a:prstGeom>
          <a:noFill/>
          <a:ln>
            <a:noFill/>
          </a:ln>
        </p:spPr>
      </p:sp>
      <p:sp>
        <p:nvSpPr>
          <p:cNvPr id="112" name="Google Shape;112;p8"/>
          <p:cNvSpPr txBox="1"/>
          <p:nvPr>
            <p:ph idx="17" type="subTitle"/>
          </p:nvPr>
        </p:nvSpPr>
        <p:spPr>
          <a:xfrm>
            <a:off x="46190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3" name="Google Shape;113;p8"/>
          <p:cNvSpPr txBox="1"/>
          <p:nvPr>
            <p:ph idx="18" type="subTitle"/>
          </p:nvPr>
        </p:nvSpPr>
        <p:spPr>
          <a:xfrm>
            <a:off x="46190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4" name="Google Shape;114;p8"/>
          <p:cNvSpPr/>
          <p:nvPr>
            <p:ph idx="19" type="pic"/>
          </p:nvPr>
        </p:nvSpPr>
        <p:spPr>
          <a:xfrm>
            <a:off x="6080700" y="2295725"/>
            <a:ext cx="1370400" cy="1357500"/>
          </a:xfrm>
          <a:prstGeom prst="roundRect">
            <a:avLst>
              <a:gd fmla="val 16935" name="adj"/>
            </a:avLst>
          </a:prstGeom>
          <a:noFill/>
          <a:ln>
            <a:noFill/>
          </a:ln>
        </p:spPr>
      </p:sp>
      <p:sp>
        <p:nvSpPr>
          <p:cNvPr id="115" name="Google Shape;115;p8"/>
          <p:cNvSpPr txBox="1"/>
          <p:nvPr>
            <p:ph idx="20" type="subTitle"/>
          </p:nvPr>
        </p:nvSpPr>
        <p:spPr>
          <a:xfrm>
            <a:off x="6080750" y="3769447"/>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6" name="Google Shape;116;p8"/>
          <p:cNvSpPr txBox="1"/>
          <p:nvPr>
            <p:ph idx="21" type="subTitle"/>
          </p:nvPr>
        </p:nvSpPr>
        <p:spPr>
          <a:xfrm>
            <a:off x="608075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7" name="Google Shape;117;p8"/>
          <p:cNvSpPr/>
          <p:nvPr>
            <p:ph idx="22" type="pic"/>
          </p:nvPr>
        </p:nvSpPr>
        <p:spPr>
          <a:xfrm>
            <a:off x="7542450" y="2295725"/>
            <a:ext cx="1370400" cy="1357500"/>
          </a:xfrm>
          <a:prstGeom prst="roundRect">
            <a:avLst>
              <a:gd fmla="val 16935" name="adj"/>
            </a:avLst>
          </a:prstGeom>
          <a:noFill/>
          <a:ln>
            <a:noFill/>
          </a:ln>
        </p:spPr>
      </p:sp>
      <p:sp>
        <p:nvSpPr>
          <p:cNvPr id="118" name="Google Shape;118;p8"/>
          <p:cNvSpPr txBox="1"/>
          <p:nvPr>
            <p:ph idx="23" type="subTitle"/>
          </p:nvPr>
        </p:nvSpPr>
        <p:spPr>
          <a:xfrm>
            <a:off x="75425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9" name="Google Shape;119;p8"/>
          <p:cNvSpPr txBox="1"/>
          <p:nvPr>
            <p:ph idx="24" type="subTitle"/>
          </p:nvPr>
        </p:nvSpPr>
        <p:spPr>
          <a:xfrm>
            <a:off x="75425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cxnSp>
        <p:nvCxnSpPr>
          <p:cNvPr id="120" name="Google Shape;120;p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21" name="Google Shape;121;p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2" name="Google Shape;122;p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LT 2">
  <p:cSld name="BLANK_1_1_1_1_1_1">
    <p:spTree>
      <p:nvGrpSpPr>
        <p:cNvPr id="123" name="Shape 123"/>
        <p:cNvGrpSpPr/>
        <p:nvPr/>
      </p:nvGrpSpPr>
      <p:grpSpPr>
        <a:xfrm>
          <a:off x="0" y="0"/>
          <a:ext cx="0" cy="0"/>
          <a:chOff x="0" y="0"/>
          <a:chExt cx="0" cy="0"/>
        </a:xfrm>
      </p:grpSpPr>
      <p:sp>
        <p:nvSpPr>
          <p:cNvPr id="124" name="Google Shape;124;p9"/>
          <p:cNvSpPr/>
          <p:nvPr>
            <p:ph idx="2" type="pic"/>
          </p:nvPr>
        </p:nvSpPr>
        <p:spPr>
          <a:xfrm>
            <a:off x="9425" y="-3075"/>
            <a:ext cx="9144000" cy="4641000"/>
          </a:xfrm>
          <a:prstGeom prst="rect">
            <a:avLst/>
          </a:prstGeom>
          <a:noFill/>
          <a:ln>
            <a:noFill/>
          </a:ln>
        </p:spPr>
      </p:sp>
      <p:sp>
        <p:nvSpPr>
          <p:cNvPr id="125" name="Google Shape;125;p9"/>
          <p:cNvSpPr txBox="1"/>
          <p:nvPr>
            <p:ph type="title"/>
          </p:nvPr>
        </p:nvSpPr>
        <p:spPr>
          <a:xfrm>
            <a:off x="234125" y="3337800"/>
            <a:ext cx="8574600" cy="1114800"/>
          </a:xfrm>
          <a:prstGeom prst="rect">
            <a:avLst/>
          </a:prstGeom>
        </p:spPr>
        <p:txBody>
          <a:bodyPr anchorCtr="0" anchor="b" bIns="0" lIns="0" spcFirstLastPara="1" rIns="0" wrap="square" tIns="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126" name="Google Shape;126;p9"/>
          <p:cNvSpPr txBox="1"/>
          <p:nvPr>
            <p:ph idx="1" type="subTitle"/>
          </p:nvPr>
        </p:nvSpPr>
        <p:spPr>
          <a:xfrm>
            <a:off x="228600" y="228600"/>
            <a:ext cx="28701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27" name="Google Shape;127;p9"/>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8" name="Google Shape;128;p9"/>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9" name="Google Shape;129;p9"/>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30" name="Google Shape;130;p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31" name="Google Shape;131;p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2" name="Google Shape;132;p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w/ images">
  <p:cSld name="BLANK_1_1_1_1_1_1_1_1_1_1_3">
    <p:spTree>
      <p:nvGrpSpPr>
        <p:cNvPr id="133" name="Shape 133"/>
        <p:cNvGrpSpPr/>
        <p:nvPr/>
      </p:nvGrpSpPr>
      <p:grpSpPr>
        <a:xfrm>
          <a:off x="0" y="0"/>
          <a:ext cx="0" cy="0"/>
          <a:chOff x="0" y="0"/>
          <a:chExt cx="0" cy="0"/>
        </a:xfrm>
      </p:grpSpPr>
      <p:sp>
        <p:nvSpPr>
          <p:cNvPr id="134" name="Google Shape;134;p10"/>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5" name="Google Shape;135;p10"/>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6" name="Google Shape;136;p10"/>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grpSp>
        <p:nvGrpSpPr>
          <p:cNvPr id="137" name="Google Shape;137;p10"/>
          <p:cNvGrpSpPr/>
          <p:nvPr/>
        </p:nvGrpSpPr>
        <p:grpSpPr>
          <a:xfrm rot="5400000">
            <a:off x="8691475" y="228504"/>
            <a:ext cx="228589" cy="228623"/>
            <a:chOff x="1688332" y="4135245"/>
            <a:chExt cx="338700" cy="338700"/>
          </a:xfrm>
        </p:grpSpPr>
        <p:sp>
          <p:nvSpPr>
            <p:cNvPr id="138" name="Google Shape;138;p10"/>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139" name="Google Shape;139;p10"/>
            <p:cNvGrpSpPr/>
            <p:nvPr/>
          </p:nvGrpSpPr>
          <p:grpSpPr>
            <a:xfrm rot="-5400000">
              <a:off x="1787014" y="4262191"/>
              <a:ext cx="169598" cy="84809"/>
              <a:chOff x="498725" y="2069800"/>
              <a:chExt cx="205200" cy="102600"/>
            </a:xfrm>
          </p:grpSpPr>
          <p:cxnSp>
            <p:nvCxnSpPr>
              <p:cNvPr id="140" name="Google Shape;140;p10"/>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141" name="Google Shape;141;p10"/>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142" name="Google Shape;142;p10"/>
          <p:cNvSpPr/>
          <p:nvPr>
            <p:ph idx="4" type="pic"/>
          </p:nvPr>
        </p:nvSpPr>
        <p:spPr>
          <a:xfrm>
            <a:off x="426700" y="1896600"/>
            <a:ext cx="665400" cy="685500"/>
          </a:xfrm>
          <a:prstGeom prst="roundRect">
            <a:avLst>
              <a:gd fmla="val 17601" name="adj"/>
            </a:avLst>
          </a:prstGeom>
          <a:noFill/>
          <a:ln>
            <a:noFill/>
          </a:ln>
        </p:spPr>
      </p:sp>
      <p:sp>
        <p:nvSpPr>
          <p:cNvPr id="143" name="Google Shape;143;p10"/>
          <p:cNvSpPr txBox="1"/>
          <p:nvPr>
            <p:ph idx="5" type="subTitle"/>
          </p:nvPr>
        </p:nvSpPr>
        <p:spPr>
          <a:xfrm>
            <a:off x="426700" y="2708802"/>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44" name="Google Shape;144;p10"/>
          <p:cNvSpPr txBox="1"/>
          <p:nvPr>
            <p:ph idx="6" type="subTitle"/>
          </p:nvPr>
        </p:nvSpPr>
        <p:spPr>
          <a:xfrm>
            <a:off x="4267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45" name="Google Shape;145;p10"/>
          <p:cNvSpPr txBox="1"/>
          <p:nvPr>
            <p:ph idx="7" type="body"/>
          </p:nvPr>
        </p:nvSpPr>
        <p:spPr>
          <a:xfrm>
            <a:off x="4267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46" name="Google Shape;146;p10"/>
          <p:cNvSpPr/>
          <p:nvPr>
            <p:ph idx="8" type="pic"/>
          </p:nvPr>
        </p:nvSpPr>
        <p:spPr>
          <a:xfrm>
            <a:off x="2621800" y="1896600"/>
            <a:ext cx="665400" cy="685500"/>
          </a:xfrm>
          <a:prstGeom prst="roundRect">
            <a:avLst>
              <a:gd fmla="val 17601" name="adj"/>
            </a:avLst>
          </a:prstGeom>
          <a:noFill/>
          <a:ln>
            <a:noFill/>
          </a:ln>
        </p:spPr>
      </p:sp>
      <p:sp>
        <p:nvSpPr>
          <p:cNvPr id="147" name="Google Shape;147;p10"/>
          <p:cNvSpPr txBox="1"/>
          <p:nvPr>
            <p:ph idx="9" type="subTitle"/>
          </p:nvPr>
        </p:nvSpPr>
        <p:spPr>
          <a:xfrm>
            <a:off x="26218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48" name="Google Shape;148;p10"/>
          <p:cNvSpPr txBox="1"/>
          <p:nvPr>
            <p:ph idx="13" type="subTitle"/>
          </p:nvPr>
        </p:nvSpPr>
        <p:spPr>
          <a:xfrm>
            <a:off x="2621800" y="2936075"/>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49" name="Google Shape;149;p10"/>
          <p:cNvSpPr txBox="1"/>
          <p:nvPr>
            <p:ph idx="14" type="body"/>
          </p:nvPr>
        </p:nvSpPr>
        <p:spPr>
          <a:xfrm>
            <a:off x="2621800" y="3251425"/>
            <a:ext cx="17058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50" name="Google Shape;150;p10"/>
          <p:cNvSpPr/>
          <p:nvPr>
            <p:ph idx="15" type="pic"/>
          </p:nvPr>
        </p:nvSpPr>
        <p:spPr>
          <a:xfrm>
            <a:off x="4816900" y="1896600"/>
            <a:ext cx="665400" cy="685500"/>
          </a:xfrm>
          <a:prstGeom prst="roundRect">
            <a:avLst>
              <a:gd fmla="val 17601" name="adj"/>
            </a:avLst>
          </a:prstGeom>
          <a:noFill/>
          <a:ln>
            <a:noFill/>
          </a:ln>
        </p:spPr>
      </p:sp>
      <p:sp>
        <p:nvSpPr>
          <p:cNvPr id="151" name="Google Shape;151;p10"/>
          <p:cNvSpPr txBox="1"/>
          <p:nvPr>
            <p:ph idx="16" type="subTitle"/>
          </p:nvPr>
        </p:nvSpPr>
        <p:spPr>
          <a:xfrm>
            <a:off x="4816900" y="2708808"/>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2" name="Google Shape;152;p10"/>
          <p:cNvSpPr txBox="1"/>
          <p:nvPr>
            <p:ph idx="17" type="subTitle"/>
          </p:nvPr>
        </p:nvSpPr>
        <p:spPr>
          <a:xfrm>
            <a:off x="48169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53" name="Google Shape;153;p10"/>
          <p:cNvSpPr txBox="1"/>
          <p:nvPr>
            <p:ph idx="18" type="body"/>
          </p:nvPr>
        </p:nvSpPr>
        <p:spPr>
          <a:xfrm>
            <a:off x="4817025"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54" name="Google Shape;154;p10"/>
          <p:cNvSpPr/>
          <p:nvPr>
            <p:ph idx="19" type="pic"/>
          </p:nvPr>
        </p:nvSpPr>
        <p:spPr>
          <a:xfrm>
            <a:off x="7012000" y="1896600"/>
            <a:ext cx="665400" cy="685500"/>
          </a:xfrm>
          <a:prstGeom prst="roundRect">
            <a:avLst>
              <a:gd fmla="val 17601" name="adj"/>
            </a:avLst>
          </a:prstGeom>
          <a:noFill/>
          <a:ln>
            <a:noFill/>
          </a:ln>
        </p:spPr>
      </p:sp>
      <p:sp>
        <p:nvSpPr>
          <p:cNvPr id="155" name="Google Shape;155;p10"/>
          <p:cNvSpPr txBox="1"/>
          <p:nvPr>
            <p:ph idx="20" type="subTitle"/>
          </p:nvPr>
        </p:nvSpPr>
        <p:spPr>
          <a:xfrm>
            <a:off x="70120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6" name="Google Shape;156;p10"/>
          <p:cNvSpPr txBox="1"/>
          <p:nvPr>
            <p:ph idx="21" type="subTitle"/>
          </p:nvPr>
        </p:nvSpPr>
        <p:spPr>
          <a:xfrm>
            <a:off x="70120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57" name="Google Shape;157;p10"/>
          <p:cNvSpPr txBox="1"/>
          <p:nvPr>
            <p:ph idx="22" type="body"/>
          </p:nvPr>
        </p:nvSpPr>
        <p:spPr>
          <a:xfrm>
            <a:off x="70120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cxnSp>
        <p:nvCxnSpPr>
          <p:cNvPr id="158" name="Google Shape;158;p1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59" name="Google Shape;159;p1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60" name="Google Shape;160;p1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rt big title and body">
  <p:cSld name="BLANK_1_1_1_1_1_1_1_1_1_1_2">
    <p:spTree>
      <p:nvGrpSpPr>
        <p:cNvPr id="161" name="Shape 161"/>
        <p:cNvGrpSpPr/>
        <p:nvPr/>
      </p:nvGrpSpPr>
      <p:grpSpPr>
        <a:xfrm>
          <a:off x="0" y="0"/>
          <a:ext cx="0" cy="0"/>
          <a:chOff x="0" y="0"/>
          <a:chExt cx="0" cy="0"/>
        </a:xfrm>
      </p:grpSpPr>
      <p:pic>
        <p:nvPicPr>
          <p:cNvPr descr="Oval black shapes against a shadowy background. " id="162" name="Google Shape;162;p11"/>
          <p:cNvPicPr preferRelativeResize="0"/>
          <p:nvPr/>
        </p:nvPicPr>
        <p:blipFill rotWithShape="1">
          <a:blip r:embed="rId2">
            <a:alphaModFix/>
          </a:blip>
          <a:srcRect b="42245" l="17241" r="25039" t="35"/>
          <a:stretch/>
        </p:blipFill>
        <p:spPr>
          <a:xfrm>
            <a:off x="0" y="-289"/>
            <a:ext cx="9144000" cy="5144100"/>
          </a:xfrm>
          <a:prstGeom prst="roundRect">
            <a:avLst>
              <a:gd fmla="val 0" name="adj"/>
            </a:avLst>
          </a:prstGeom>
          <a:noFill/>
          <a:ln cap="flat" cmpd="sng" w="9525">
            <a:solidFill>
              <a:schemeClr val="accent1"/>
            </a:solidFill>
            <a:prstDash val="solid"/>
            <a:round/>
            <a:headEnd len="sm" w="sm" type="none"/>
            <a:tailEnd len="sm" w="sm" type="none"/>
          </a:ln>
        </p:spPr>
      </p:pic>
      <p:sp>
        <p:nvSpPr>
          <p:cNvPr id="163" name="Google Shape;163;p11"/>
          <p:cNvSpPr txBox="1"/>
          <p:nvPr>
            <p:ph idx="1" type="subTitle"/>
          </p:nvPr>
        </p:nvSpPr>
        <p:spPr>
          <a:xfrm>
            <a:off x="4314775" y="3818375"/>
            <a:ext cx="42306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64" name="Google Shape;164;p11"/>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5" name="Google Shape;165;p11"/>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6" name="Google Shape;166;p11"/>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7" name="Google Shape;167;p11"/>
          <p:cNvSpPr txBox="1"/>
          <p:nvPr>
            <p:ph type="title"/>
          </p:nvPr>
        </p:nvSpPr>
        <p:spPr>
          <a:xfrm>
            <a:off x="228600" y="290448"/>
            <a:ext cx="3655800" cy="24075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168" name="Google Shape;168;p1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169" name="Google Shape;169;p11"/>
          <p:cNvCxnSpPr/>
          <p:nvPr/>
        </p:nvCxnSpPr>
        <p:spPr>
          <a:xfrm>
            <a:off x="4159025" y="226100"/>
            <a:ext cx="0" cy="4457700"/>
          </a:xfrm>
          <a:prstGeom prst="straightConnector1">
            <a:avLst/>
          </a:prstGeom>
          <a:noFill/>
          <a:ln cap="flat" cmpd="sng" w="9525">
            <a:solidFill>
              <a:schemeClr val="accent1"/>
            </a:solidFill>
            <a:prstDash val="solid"/>
            <a:round/>
            <a:headEnd len="med" w="med" type="none"/>
            <a:tailEnd len="med" w="med" type="none"/>
          </a:ln>
        </p:spPr>
      </p:cxnSp>
      <p:cxnSp>
        <p:nvCxnSpPr>
          <p:cNvPr id="170" name="Google Shape;170;p11"/>
          <p:cNvCxnSpPr/>
          <p:nvPr/>
        </p:nvCxnSpPr>
        <p:spPr>
          <a:xfrm>
            <a:off x="228600" y="226100"/>
            <a:ext cx="8687100" cy="0"/>
          </a:xfrm>
          <a:prstGeom prst="straightConnector1">
            <a:avLst/>
          </a:prstGeom>
          <a:noFill/>
          <a:ln cap="flat" cmpd="sng" w="9525">
            <a:solidFill>
              <a:schemeClr val="accent1"/>
            </a:solidFill>
            <a:prstDash val="solid"/>
            <a:round/>
            <a:headEnd len="med" w="med" type="none"/>
            <a:tailEnd len="med" w="med" type="none"/>
          </a:ln>
        </p:spPr>
      </p:cxnSp>
      <p:sp>
        <p:nvSpPr>
          <p:cNvPr id="171" name="Google Shape;171;p1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2" name="Google Shape;172;p1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1_1_1_1_1_1_1_1_1_2">
    <p:spTree>
      <p:nvGrpSpPr>
        <p:cNvPr id="173" name="Shape 173"/>
        <p:cNvGrpSpPr/>
        <p:nvPr/>
      </p:nvGrpSpPr>
      <p:grpSpPr>
        <a:xfrm>
          <a:off x="0" y="0"/>
          <a:ext cx="0" cy="0"/>
          <a:chOff x="0" y="0"/>
          <a:chExt cx="0" cy="0"/>
        </a:xfrm>
      </p:grpSpPr>
      <p:sp>
        <p:nvSpPr>
          <p:cNvPr id="174" name="Google Shape;174;p12"/>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800"/>
              </a:spcBef>
              <a:spcAft>
                <a:spcPts val="0"/>
              </a:spcAft>
              <a:buSzPts val="1400"/>
              <a:buChar char="○"/>
              <a:defRPr sz="1400"/>
            </a:lvl2pPr>
            <a:lvl3pPr indent="-317500" lvl="2" marL="1371600">
              <a:spcBef>
                <a:spcPts val="800"/>
              </a:spcBef>
              <a:spcAft>
                <a:spcPts val="0"/>
              </a:spcAft>
              <a:buSzPts val="1400"/>
              <a:buChar char="■"/>
              <a:defRPr sz="1400"/>
            </a:lvl3pPr>
            <a:lvl4pPr indent="-317500" lvl="3" marL="1828800">
              <a:spcBef>
                <a:spcPts val="800"/>
              </a:spcBef>
              <a:spcAft>
                <a:spcPts val="0"/>
              </a:spcAft>
              <a:buSzPts val="1400"/>
              <a:buChar char="●"/>
              <a:defRPr sz="1400"/>
            </a:lvl4pPr>
            <a:lvl5pPr indent="-317500" lvl="4" marL="2286000">
              <a:spcBef>
                <a:spcPts val="800"/>
              </a:spcBef>
              <a:spcAft>
                <a:spcPts val="0"/>
              </a:spcAft>
              <a:buSzPts val="1400"/>
              <a:buChar char="○"/>
              <a:defRPr sz="1400"/>
            </a:lvl5pPr>
            <a:lvl6pPr indent="-317500" lvl="5" marL="2743200">
              <a:spcBef>
                <a:spcPts val="800"/>
              </a:spcBef>
              <a:spcAft>
                <a:spcPts val="0"/>
              </a:spcAft>
              <a:buSzPts val="1400"/>
              <a:buChar char="■"/>
              <a:defRPr sz="1400"/>
            </a:lvl6pPr>
            <a:lvl7pPr indent="-317500" lvl="6" marL="3200400">
              <a:spcBef>
                <a:spcPts val="800"/>
              </a:spcBef>
              <a:spcAft>
                <a:spcPts val="0"/>
              </a:spcAft>
              <a:buSzPts val="1400"/>
              <a:buChar char="●"/>
              <a:defRPr sz="1400"/>
            </a:lvl7pPr>
            <a:lvl8pPr indent="-317500" lvl="7" marL="3657600">
              <a:spcBef>
                <a:spcPts val="800"/>
              </a:spcBef>
              <a:spcAft>
                <a:spcPts val="0"/>
              </a:spcAft>
              <a:buSzPts val="1400"/>
              <a:buChar char="○"/>
              <a:defRPr sz="1400"/>
            </a:lvl8pPr>
            <a:lvl9pPr indent="-317500" lvl="8" marL="4114800">
              <a:spcBef>
                <a:spcPts val="800"/>
              </a:spcBef>
              <a:spcAft>
                <a:spcPts val="800"/>
              </a:spcAft>
              <a:buSzPts val="1400"/>
              <a:buChar char="■"/>
              <a:defRPr sz="1400"/>
            </a:lvl9pPr>
          </a:lstStyle>
          <a:p/>
        </p:txBody>
      </p:sp>
      <p:sp>
        <p:nvSpPr>
          <p:cNvPr id="175" name="Google Shape;175;p12"/>
          <p:cNvSpPr/>
          <p:nvPr>
            <p:ph idx="2" type="pic"/>
          </p:nvPr>
        </p:nvSpPr>
        <p:spPr>
          <a:xfrm>
            <a:off x="5342000" y="457200"/>
            <a:ext cx="3573300" cy="3995400"/>
          </a:xfrm>
          <a:prstGeom prst="roundRect">
            <a:avLst>
              <a:gd fmla="val 6865" name="adj"/>
            </a:avLst>
          </a:prstGeom>
          <a:noFill/>
          <a:ln>
            <a:noFill/>
          </a:ln>
        </p:spPr>
      </p:sp>
      <p:sp>
        <p:nvSpPr>
          <p:cNvPr id="176" name="Google Shape;176;p12"/>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7" name="Google Shape;177;p12"/>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8" name="Google Shape;178;p12"/>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9" name="Google Shape;179;p12"/>
          <p:cNvSpPr txBox="1"/>
          <p:nvPr>
            <p:ph idx="6"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sp>
        <p:nvSpPr>
          <p:cNvPr id="180" name="Google Shape;180;p12"/>
          <p:cNvSpPr txBox="1"/>
          <p:nvPr>
            <p:ph type="title"/>
          </p:nvPr>
        </p:nvSpPr>
        <p:spPr>
          <a:xfrm>
            <a:off x="228600" y="613525"/>
            <a:ext cx="42966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cxnSp>
        <p:nvCxnSpPr>
          <p:cNvPr id="181" name="Google Shape;181;p1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82" name="Google Shape;182;p1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3" name="Google Shape;183;p1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cards">
  <p:cSld name="CUSTOM_1">
    <p:spTree>
      <p:nvGrpSpPr>
        <p:cNvPr id="184" name="Shape 184"/>
        <p:cNvGrpSpPr/>
        <p:nvPr/>
      </p:nvGrpSpPr>
      <p:grpSpPr>
        <a:xfrm>
          <a:off x="0" y="0"/>
          <a:ext cx="0" cy="0"/>
          <a:chOff x="0" y="0"/>
          <a:chExt cx="0" cy="0"/>
        </a:xfrm>
      </p:grpSpPr>
      <p:sp>
        <p:nvSpPr>
          <p:cNvPr id="185" name="Google Shape;185;p13"/>
          <p:cNvSpPr txBox="1"/>
          <p:nvPr>
            <p:ph type="title"/>
          </p:nvPr>
        </p:nvSpPr>
        <p:spPr>
          <a:xfrm>
            <a:off x="3386700" y="489887"/>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p:txBody>
      </p:sp>
      <p:sp>
        <p:nvSpPr>
          <p:cNvPr id="186" name="Google Shape;186;p13"/>
          <p:cNvSpPr txBox="1"/>
          <p:nvPr>
            <p:ph idx="1" type="subTitle"/>
          </p:nvPr>
        </p:nvSpPr>
        <p:spPr>
          <a:xfrm>
            <a:off x="338670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87" name="Google Shape;187;p13"/>
          <p:cNvSpPr txBox="1"/>
          <p:nvPr>
            <p:ph idx="2" type="subTitle"/>
          </p:nvPr>
        </p:nvSpPr>
        <p:spPr>
          <a:xfrm>
            <a:off x="338670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88" name="Google Shape;188;p13"/>
          <p:cNvSpPr txBox="1"/>
          <p:nvPr>
            <p:ph idx="3" type="title"/>
          </p:nvPr>
        </p:nvSpPr>
        <p:spPr>
          <a:xfrm>
            <a:off x="6307650" y="482616"/>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189" name="Google Shape;189;p13"/>
          <p:cNvSpPr txBox="1"/>
          <p:nvPr>
            <p:ph idx="4" type="subTitle"/>
          </p:nvPr>
        </p:nvSpPr>
        <p:spPr>
          <a:xfrm>
            <a:off x="630765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90" name="Google Shape;190;p13"/>
          <p:cNvSpPr txBox="1"/>
          <p:nvPr>
            <p:ph idx="5" type="subTitle"/>
          </p:nvPr>
        </p:nvSpPr>
        <p:spPr>
          <a:xfrm>
            <a:off x="630765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91" name="Google Shape;191;p13"/>
          <p:cNvSpPr txBox="1"/>
          <p:nvPr>
            <p:ph idx="6"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p:txBody>
      </p:sp>
      <p:sp>
        <p:nvSpPr>
          <p:cNvPr id="192" name="Google Shape;192;p13"/>
          <p:cNvSpPr txBox="1"/>
          <p:nvPr>
            <p:ph idx="7" type="subTitle"/>
          </p:nvPr>
        </p:nvSpPr>
        <p:spPr>
          <a:xfrm>
            <a:off x="3482800" y="4057204"/>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193" name="Google Shape;193;p13"/>
          <p:cNvSpPr txBox="1"/>
          <p:nvPr>
            <p:ph idx="8" type="subTitle"/>
          </p:nvPr>
        </p:nvSpPr>
        <p:spPr>
          <a:xfrm>
            <a:off x="6405300" y="4057079"/>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194" name="Google Shape;194;p13"/>
          <p:cNvSpPr txBox="1"/>
          <p:nvPr>
            <p:ph idx="9"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95" name="Google Shape;195;p13"/>
          <p:cNvSpPr txBox="1"/>
          <p:nvPr>
            <p:ph idx="1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96" name="Google Shape;196;p13"/>
          <p:cNvSpPr txBox="1"/>
          <p:nvPr>
            <p:ph idx="1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97" name="Google Shape;197;p1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grpSp>
        <p:nvGrpSpPr>
          <p:cNvPr id="198" name="Google Shape;198;p13"/>
          <p:cNvGrpSpPr/>
          <p:nvPr/>
        </p:nvGrpSpPr>
        <p:grpSpPr>
          <a:xfrm rot="-5400000">
            <a:off x="4794488" y="4206993"/>
            <a:ext cx="141588" cy="73485"/>
            <a:chOff x="498725" y="2069800"/>
            <a:chExt cx="205200" cy="106500"/>
          </a:xfrm>
        </p:grpSpPr>
        <p:cxnSp>
          <p:nvCxnSpPr>
            <p:cNvPr id="199" name="Google Shape;199;p13"/>
            <p:cNvCxnSpPr/>
            <p:nvPr/>
          </p:nvCxnSpPr>
          <p:spPr>
            <a:xfrm flipH="1" rot="-5400000">
              <a:off x="498725" y="2069800"/>
              <a:ext cx="103500" cy="103500"/>
            </a:xfrm>
            <a:prstGeom prst="straightConnector1">
              <a:avLst/>
            </a:prstGeom>
            <a:noFill/>
            <a:ln cap="flat" cmpd="sng" w="9525">
              <a:solidFill>
                <a:schemeClr val="lt2"/>
              </a:solidFill>
              <a:prstDash val="solid"/>
              <a:round/>
              <a:headEnd len="med" w="med" type="none"/>
              <a:tailEnd len="med" w="med" type="none"/>
            </a:ln>
          </p:spPr>
        </p:cxnSp>
        <p:cxnSp>
          <p:nvCxnSpPr>
            <p:cNvPr id="200" name="Google Shape;200;p13"/>
            <p:cNvCxnSpPr/>
            <p:nvPr/>
          </p:nvCxnSpPr>
          <p:spPr>
            <a:xfrm rot="5400000">
              <a:off x="596825" y="2069200"/>
              <a:ext cx="106500" cy="107700"/>
            </a:xfrm>
            <a:prstGeom prst="straightConnector1">
              <a:avLst/>
            </a:prstGeom>
            <a:noFill/>
            <a:ln cap="flat" cmpd="sng" w="9525">
              <a:solidFill>
                <a:schemeClr val="lt2"/>
              </a:solidFill>
              <a:prstDash val="solid"/>
              <a:round/>
              <a:headEnd len="med" w="med" type="none"/>
              <a:tailEnd len="med" w="med" type="none"/>
            </a:ln>
          </p:spPr>
        </p:cxnSp>
      </p:grpSp>
      <p:sp>
        <p:nvSpPr>
          <p:cNvPr id="201" name="Google Shape;201;p1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2" name="Google Shape;202;p1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cards">
  <p:cSld name="CUSTOM_1_1">
    <p:spTree>
      <p:nvGrpSpPr>
        <p:cNvPr id="203" name="Shape 203"/>
        <p:cNvGrpSpPr/>
        <p:nvPr/>
      </p:nvGrpSpPr>
      <p:grpSpPr>
        <a:xfrm>
          <a:off x="0" y="0"/>
          <a:ext cx="0" cy="0"/>
          <a:chOff x="0" y="0"/>
          <a:chExt cx="0" cy="0"/>
        </a:xfrm>
      </p:grpSpPr>
      <p:sp>
        <p:nvSpPr>
          <p:cNvPr id="204" name="Google Shape;204;p14"/>
          <p:cNvSpPr txBox="1"/>
          <p:nvPr>
            <p:ph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a:buNone/>
              <a:defRPr sz="1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205" name="Google Shape;205;p14"/>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6" name="Google Shape;206;p14"/>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7" name="Google Shape;207;p14"/>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08" name="Google Shape;208;p1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9" name="Google Shape;209;p14"/>
          <p:cNvSpPr txBox="1"/>
          <p:nvPr>
            <p:ph idx="4" type="title"/>
          </p:nvPr>
        </p:nvSpPr>
        <p:spPr>
          <a:xfrm>
            <a:off x="3379125"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0" name="Google Shape;210;p14"/>
          <p:cNvSpPr txBox="1"/>
          <p:nvPr>
            <p:ph idx="5" type="subTitle"/>
          </p:nvPr>
        </p:nvSpPr>
        <p:spPr>
          <a:xfrm>
            <a:off x="3379125"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1" name="Google Shape;211;p14"/>
          <p:cNvSpPr txBox="1"/>
          <p:nvPr>
            <p:ph idx="6" type="subTitle"/>
          </p:nvPr>
        </p:nvSpPr>
        <p:spPr>
          <a:xfrm>
            <a:off x="3379123"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2" name="Google Shape;212;p14"/>
          <p:cNvSpPr txBox="1"/>
          <p:nvPr>
            <p:ph idx="7" type="title"/>
          </p:nvPr>
        </p:nvSpPr>
        <p:spPr>
          <a:xfrm>
            <a:off x="6318039"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3" name="Google Shape;213;p14"/>
          <p:cNvSpPr txBox="1"/>
          <p:nvPr>
            <p:ph idx="8" type="subTitle"/>
          </p:nvPr>
        </p:nvSpPr>
        <p:spPr>
          <a:xfrm>
            <a:off x="6318039"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4" name="Google Shape;214;p14"/>
          <p:cNvSpPr txBox="1"/>
          <p:nvPr>
            <p:ph idx="9" type="subTitle"/>
          </p:nvPr>
        </p:nvSpPr>
        <p:spPr>
          <a:xfrm>
            <a:off x="6318036"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5" name="Google Shape;215;p14"/>
          <p:cNvSpPr txBox="1"/>
          <p:nvPr>
            <p:ph idx="13" type="title"/>
          </p:nvPr>
        </p:nvSpPr>
        <p:spPr>
          <a:xfrm>
            <a:off x="6318039"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6" name="Google Shape;216;p14"/>
          <p:cNvSpPr txBox="1"/>
          <p:nvPr>
            <p:ph idx="14" type="subTitle"/>
          </p:nvPr>
        </p:nvSpPr>
        <p:spPr>
          <a:xfrm>
            <a:off x="6318039"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7" name="Google Shape;217;p14"/>
          <p:cNvSpPr txBox="1"/>
          <p:nvPr>
            <p:ph idx="15" type="subTitle"/>
          </p:nvPr>
        </p:nvSpPr>
        <p:spPr>
          <a:xfrm>
            <a:off x="6318036"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8" name="Google Shape;218;p14"/>
          <p:cNvSpPr txBox="1"/>
          <p:nvPr>
            <p:ph idx="16" type="title"/>
          </p:nvPr>
        </p:nvSpPr>
        <p:spPr>
          <a:xfrm>
            <a:off x="3379125"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9" name="Google Shape;219;p14"/>
          <p:cNvSpPr txBox="1"/>
          <p:nvPr>
            <p:ph idx="17" type="subTitle"/>
          </p:nvPr>
        </p:nvSpPr>
        <p:spPr>
          <a:xfrm>
            <a:off x="3379125"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20" name="Google Shape;220;p14"/>
          <p:cNvSpPr txBox="1"/>
          <p:nvPr>
            <p:ph idx="18" type="subTitle"/>
          </p:nvPr>
        </p:nvSpPr>
        <p:spPr>
          <a:xfrm>
            <a:off x="3379123"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21" name="Google Shape;221;p1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2" name="Google Shape;222;p1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7_1_1_1_1_1_1_1_1_1_1_1_1_1_1_1_1_1">
    <p:spTree>
      <p:nvGrpSpPr>
        <p:cNvPr id="223" name="Shape 223"/>
        <p:cNvGrpSpPr/>
        <p:nvPr/>
      </p:nvGrpSpPr>
      <p:grpSpPr>
        <a:xfrm>
          <a:off x="0" y="0"/>
          <a:ext cx="0" cy="0"/>
          <a:chOff x="0" y="0"/>
          <a:chExt cx="0" cy="0"/>
        </a:xfrm>
      </p:grpSpPr>
      <p:pic>
        <p:nvPicPr>
          <p:cNvPr id="224" name="Google Shape;224;p15"/>
          <p:cNvPicPr preferRelativeResize="0"/>
          <p:nvPr/>
        </p:nvPicPr>
        <p:blipFill rotWithShape="1">
          <a:blip r:embed="rId2">
            <a:alphaModFix/>
          </a:blip>
          <a:srcRect b="14588" l="0" r="15469" t="0"/>
          <a:stretch/>
        </p:blipFill>
        <p:spPr>
          <a:xfrm flipH="1">
            <a:off x="4571999" y="2061075"/>
            <a:ext cx="4572001" cy="3082424"/>
          </a:xfrm>
          <a:prstGeom prst="rect">
            <a:avLst/>
          </a:prstGeom>
          <a:noFill/>
          <a:ln>
            <a:noFill/>
          </a:ln>
        </p:spPr>
      </p:pic>
      <p:cxnSp>
        <p:nvCxnSpPr>
          <p:cNvPr id="225" name="Google Shape;225;p1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26" name="Google Shape;226;p15"/>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7" name="Google Shape;227;p15"/>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8" name="Google Shape;228;p15"/>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9" name="Google Shape;229;p15"/>
          <p:cNvSpPr txBox="1"/>
          <p:nvPr>
            <p:ph idx="4"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30" name="Google Shape;230;p15"/>
          <p:cNvSpPr txBox="1"/>
          <p:nvPr>
            <p:ph type="title"/>
          </p:nvPr>
        </p:nvSpPr>
        <p:spPr>
          <a:xfrm>
            <a:off x="355225" y="1775475"/>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1" name="Google Shape;231;p15"/>
          <p:cNvSpPr txBox="1"/>
          <p:nvPr>
            <p:ph idx="5" type="subTitle"/>
          </p:nvPr>
        </p:nvSpPr>
        <p:spPr>
          <a:xfrm>
            <a:off x="35522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2" name="Google Shape;232;p15"/>
          <p:cNvSpPr txBox="1"/>
          <p:nvPr>
            <p:ph idx="6" type="body"/>
          </p:nvPr>
        </p:nvSpPr>
        <p:spPr>
          <a:xfrm>
            <a:off x="35522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3" name="Google Shape;233;p15"/>
          <p:cNvSpPr txBox="1"/>
          <p:nvPr>
            <p:ph idx="7" type="title"/>
          </p:nvPr>
        </p:nvSpPr>
        <p:spPr>
          <a:xfrm>
            <a:off x="2543875"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4" name="Google Shape;234;p15"/>
          <p:cNvSpPr txBox="1"/>
          <p:nvPr>
            <p:ph idx="8" type="subTitle"/>
          </p:nvPr>
        </p:nvSpPr>
        <p:spPr>
          <a:xfrm>
            <a:off x="254387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5" name="Google Shape;235;p15"/>
          <p:cNvSpPr txBox="1"/>
          <p:nvPr>
            <p:ph idx="9" type="body"/>
          </p:nvPr>
        </p:nvSpPr>
        <p:spPr>
          <a:xfrm>
            <a:off x="254387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6" name="Google Shape;236;p15"/>
          <p:cNvSpPr txBox="1"/>
          <p:nvPr>
            <p:ph idx="13" type="title"/>
          </p:nvPr>
        </p:nvSpPr>
        <p:spPr>
          <a:xfrm>
            <a:off x="47455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7" name="Google Shape;237;p15"/>
          <p:cNvSpPr txBox="1"/>
          <p:nvPr>
            <p:ph idx="14" type="subTitle"/>
          </p:nvPr>
        </p:nvSpPr>
        <p:spPr>
          <a:xfrm>
            <a:off x="47455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8" name="Google Shape;238;p15"/>
          <p:cNvSpPr txBox="1"/>
          <p:nvPr>
            <p:ph idx="15" type="body"/>
          </p:nvPr>
        </p:nvSpPr>
        <p:spPr>
          <a:xfrm>
            <a:off x="4745400"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9" name="Google Shape;239;p15"/>
          <p:cNvSpPr txBox="1"/>
          <p:nvPr>
            <p:ph idx="16" type="title"/>
          </p:nvPr>
        </p:nvSpPr>
        <p:spPr>
          <a:xfrm>
            <a:off x="69423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40" name="Google Shape;240;p15"/>
          <p:cNvSpPr txBox="1"/>
          <p:nvPr>
            <p:ph idx="17" type="subTitle"/>
          </p:nvPr>
        </p:nvSpPr>
        <p:spPr>
          <a:xfrm>
            <a:off x="69423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41" name="Google Shape;241;p15"/>
          <p:cNvSpPr txBox="1"/>
          <p:nvPr>
            <p:ph idx="18" type="body"/>
          </p:nvPr>
        </p:nvSpPr>
        <p:spPr>
          <a:xfrm>
            <a:off x="6942300" y="2465025"/>
            <a:ext cx="17916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42" name="Google Shape;242;p15"/>
          <p:cNvSpPr txBox="1"/>
          <p:nvPr>
            <p:ph idx="19" type="title"/>
          </p:nvPr>
        </p:nvSpPr>
        <p:spPr>
          <a:xfrm>
            <a:off x="228600" y="613525"/>
            <a:ext cx="3904500" cy="8649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243" name="Google Shape;243;p1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4" name="Google Shape;244;p1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s">
  <p:cSld name="CUSTOM">
    <p:spTree>
      <p:nvGrpSpPr>
        <p:cNvPr id="245" name="Shape 245"/>
        <p:cNvGrpSpPr/>
        <p:nvPr/>
      </p:nvGrpSpPr>
      <p:grpSpPr>
        <a:xfrm>
          <a:off x="0" y="0"/>
          <a:ext cx="0" cy="0"/>
          <a:chOff x="0" y="0"/>
          <a:chExt cx="0" cy="0"/>
        </a:xfrm>
      </p:grpSpPr>
      <p:sp>
        <p:nvSpPr>
          <p:cNvPr id="246" name="Google Shape;246;p16"/>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cxnSp>
        <p:nvCxnSpPr>
          <p:cNvPr id="247" name="Google Shape;247;p16"/>
          <p:cNvCxnSpPr/>
          <p:nvPr/>
        </p:nvCxnSpPr>
        <p:spPr>
          <a:xfrm>
            <a:off x="228450" y="2061025"/>
            <a:ext cx="8687100" cy="0"/>
          </a:xfrm>
          <a:prstGeom prst="straightConnector1">
            <a:avLst/>
          </a:prstGeom>
          <a:noFill/>
          <a:ln cap="flat" cmpd="sng" w="9525">
            <a:solidFill>
              <a:schemeClr val="lt2"/>
            </a:solidFill>
            <a:prstDash val="solid"/>
            <a:round/>
            <a:headEnd len="med" w="med" type="none"/>
            <a:tailEnd len="med" w="med" type="none"/>
          </a:ln>
        </p:spPr>
      </p:cxnSp>
      <p:sp>
        <p:nvSpPr>
          <p:cNvPr id="248" name="Google Shape;248;p16"/>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9" name="Google Shape;249;p16"/>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50" name="Google Shape;250;p16"/>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51" name="Google Shape;251;p1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52" name="Google Shape;252;p16"/>
          <p:cNvSpPr txBox="1"/>
          <p:nvPr>
            <p:ph type="title"/>
          </p:nvPr>
        </p:nvSpPr>
        <p:spPr>
          <a:xfrm>
            <a:off x="228600" y="369300"/>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53" name="Google Shape;253;p16"/>
          <p:cNvSpPr/>
          <p:nvPr>
            <p:ph idx="5" type="pic"/>
          </p:nvPr>
        </p:nvSpPr>
        <p:spPr>
          <a:xfrm>
            <a:off x="3795900" y="2682425"/>
            <a:ext cx="1458300" cy="1458300"/>
          </a:xfrm>
          <a:prstGeom prst="ellipse">
            <a:avLst/>
          </a:prstGeom>
          <a:noFill/>
          <a:ln cap="flat" cmpd="sng" w="9525">
            <a:solidFill>
              <a:schemeClr val="accent3"/>
            </a:solidFill>
            <a:prstDash val="solid"/>
            <a:round/>
            <a:headEnd len="sm" w="sm" type="none"/>
            <a:tailEnd len="sm" w="sm" type="none"/>
          </a:ln>
        </p:spPr>
      </p:sp>
      <p:sp>
        <p:nvSpPr>
          <p:cNvPr id="254" name="Google Shape;254;p16"/>
          <p:cNvSpPr txBox="1"/>
          <p:nvPr>
            <p:ph idx="6" type="body"/>
          </p:nvPr>
        </p:nvSpPr>
        <p:spPr>
          <a:xfrm>
            <a:off x="5871500" y="2468775"/>
            <a:ext cx="2864700" cy="6765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dk2"/>
              </a:buClr>
              <a:buSzPts val="1000"/>
              <a:buFont typeface="Urbanist"/>
              <a:buChar char="●"/>
              <a:defRPr sz="1000">
                <a:solidFill>
                  <a:schemeClr val="dk2"/>
                </a:solidFill>
              </a:defRPr>
            </a:lvl1pPr>
            <a:lvl2pPr indent="-292100" lvl="1" marL="914400">
              <a:spcBef>
                <a:spcPts val="0"/>
              </a:spcBef>
              <a:spcAft>
                <a:spcPts val="0"/>
              </a:spcAft>
              <a:buClr>
                <a:schemeClr val="dk2"/>
              </a:buClr>
              <a:buSzPts val="1000"/>
              <a:buFont typeface="Urbanist"/>
              <a:buChar char="○"/>
              <a:defRPr sz="1000">
                <a:solidFill>
                  <a:schemeClr val="dk2"/>
                </a:solidFill>
              </a:defRPr>
            </a:lvl2pPr>
            <a:lvl3pPr indent="-292100" lvl="2" marL="1371600">
              <a:spcBef>
                <a:spcPts val="0"/>
              </a:spcBef>
              <a:spcAft>
                <a:spcPts val="0"/>
              </a:spcAft>
              <a:buClr>
                <a:schemeClr val="dk2"/>
              </a:buClr>
              <a:buSzPts val="1000"/>
              <a:buFont typeface="Urbanist"/>
              <a:buChar char="■"/>
              <a:defRPr sz="1000">
                <a:solidFill>
                  <a:schemeClr val="dk2"/>
                </a:solidFill>
              </a:defRPr>
            </a:lvl3pPr>
            <a:lvl4pPr indent="-292100" lvl="3" marL="1828800">
              <a:spcBef>
                <a:spcPts val="0"/>
              </a:spcBef>
              <a:spcAft>
                <a:spcPts val="0"/>
              </a:spcAft>
              <a:buClr>
                <a:schemeClr val="dk2"/>
              </a:buClr>
              <a:buSzPts val="1000"/>
              <a:buFont typeface="Urbanist"/>
              <a:buChar char="●"/>
              <a:defRPr sz="1000">
                <a:solidFill>
                  <a:schemeClr val="dk2"/>
                </a:solidFill>
              </a:defRPr>
            </a:lvl4pPr>
            <a:lvl5pPr indent="-292100" lvl="4" marL="2286000">
              <a:spcBef>
                <a:spcPts val="0"/>
              </a:spcBef>
              <a:spcAft>
                <a:spcPts val="0"/>
              </a:spcAft>
              <a:buClr>
                <a:schemeClr val="dk2"/>
              </a:buClr>
              <a:buSzPts val="1000"/>
              <a:buFont typeface="Urbanist"/>
              <a:buChar char="○"/>
              <a:defRPr sz="1000">
                <a:solidFill>
                  <a:schemeClr val="dk2"/>
                </a:solidFill>
              </a:defRPr>
            </a:lvl5pPr>
            <a:lvl6pPr indent="-292100" lvl="5" marL="2743200">
              <a:spcBef>
                <a:spcPts val="0"/>
              </a:spcBef>
              <a:spcAft>
                <a:spcPts val="0"/>
              </a:spcAft>
              <a:buClr>
                <a:schemeClr val="dk2"/>
              </a:buClr>
              <a:buSzPts val="1000"/>
              <a:buFont typeface="Urbanist"/>
              <a:buChar char="■"/>
              <a:defRPr sz="1000">
                <a:solidFill>
                  <a:schemeClr val="dk2"/>
                </a:solidFill>
              </a:defRPr>
            </a:lvl6pPr>
            <a:lvl7pPr indent="-292100" lvl="6" marL="3200400">
              <a:spcBef>
                <a:spcPts val="0"/>
              </a:spcBef>
              <a:spcAft>
                <a:spcPts val="0"/>
              </a:spcAft>
              <a:buClr>
                <a:schemeClr val="dk2"/>
              </a:buClr>
              <a:buSzPts val="1000"/>
              <a:buFont typeface="Urbanist"/>
              <a:buChar char="●"/>
              <a:defRPr sz="1000">
                <a:solidFill>
                  <a:schemeClr val="dk2"/>
                </a:solidFill>
              </a:defRPr>
            </a:lvl7pPr>
            <a:lvl8pPr indent="-292100" lvl="7" marL="3657600">
              <a:spcBef>
                <a:spcPts val="0"/>
              </a:spcBef>
              <a:spcAft>
                <a:spcPts val="0"/>
              </a:spcAft>
              <a:buClr>
                <a:schemeClr val="dk2"/>
              </a:buClr>
              <a:buSzPts val="1000"/>
              <a:buFont typeface="Urbanist"/>
              <a:buChar char="○"/>
              <a:defRPr sz="1000">
                <a:solidFill>
                  <a:schemeClr val="dk2"/>
                </a:solidFill>
              </a:defRPr>
            </a:lvl8pPr>
            <a:lvl9pPr indent="-292100" lvl="8" marL="4114800">
              <a:spcBef>
                <a:spcPts val="0"/>
              </a:spcBef>
              <a:spcAft>
                <a:spcPts val="0"/>
              </a:spcAft>
              <a:buClr>
                <a:schemeClr val="dk2"/>
              </a:buClr>
              <a:buSzPts val="1000"/>
              <a:buFont typeface="Urbanist"/>
              <a:buChar char="■"/>
              <a:defRPr sz="1000">
                <a:solidFill>
                  <a:schemeClr val="dk2"/>
                </a:solidFill>
              </a:defRPr>
            </a:lvl9pPr>
          </a:lstStyle>
          <a:p/>
        </p:txBody>
      </p:sp>
      <p:sp>
        <p:nvSpPr>
          <p:cNvPr id="255" name="Google Shape;255;p16"/>
          <p:cNvSpPr txBox="1"/>
          <p:nvPr>
            <p:ph idx="7" type="body"/>
          </p:nvPr>
        </p:nvSpPr>
        <p:spPr>
          <a:xfrm>
            <a:off x="5871500" y="3553025"/>
            <a:ext cx="2864700" cy="696000"/>
          </a:xfrm>
          <a:prstGeom prst="rect">
            <a:avLst/>
          </a:prstGeom>
        </p:spPr>
        <p:txBody>
          <a:bodyPr anchorCtr="0" anchor="t" bIns="91425" lIns="0" spcFirstLastPara="1" rIns="91425" wrap="square" tIns="0">
            <a:spAutoFit/>
          </a:bodyPr>
          <a:lstStyle>
            <a:lvl1pPr indent="-304800" lvl="0" marL="4572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indent="-304800" lvl="1" marL="914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indent="-304800" lvl="2" marL="1371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indent="-304800" lvl="3" marL="1828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indent="-304800" lvl="4" marL="22860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indent="-304800" lvl="5" marL="27432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indent="-304800" lvl="6" marL="3200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indent="-304800" lvl="7" marL="3657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indent="-304800" lvl="8" marL="411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p:txBody>
      </p:sp>
      <p:sp>
        <p:nvSpPr>
          <p:cNvPr id="256" name="Google Shape;256;p16"/>
          <p:cNvSpPr txBox="1"/>
          <p:nvPr>
            <p:ph idx="8" type="subTitle"/>
          </p:nvPr>
        </p:nvSpPr>
        <p:spPr>
          <a:xfrm>
            <a:off x="238800" y="2720113"/>
            <a:ext cx="2824500" cy="145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p:txBody>
      </p:sp>
      <p:sp>
        <p:nvSpPr>
          <p:cNvPr id="257" name="Google Shape;257;p1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58" name="Google Shape;258;p1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p:cSld name="CUSTOM_2">
    <p:spTree>
      <p:nvGrpSpPr>
        <p:cNvPr id="259" name="Shape 259"/>
        <p:cNvGrpSpPr/>
        <p:nvPr/>
      </p:nvGrpSpPr>
      <p:grpSpPr>
        <a:xfrm>
          <a:off x="0" y="0"/>
          <a:ext cx="0" cy="0"/>
          <a:chOff x="0" y="0"/>
          <a:chExt cx="0" cy="0"/>
        </a:xfrm>
      </p:grpSpPr>
      <p:sp>
        <p:nvSpPr>
          <p:cNvPr id="260" name="Google Shape;260;p1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61" name="Google Shape;261;p1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62" name="Google Shape;262;p1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63" name="Google Shape;263;p1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64" name="Google Shape;264;p17"/>
          <p:cNvSpPr/>
          <p:nvPr/>
        </p:nvSpPr>
        <p:spPr>
          <a:xfrm>
            <a:off x="228600" y="1395962"/>
            <a:ext cx="2101200" cy="3054000"/>
          </a:xfrm>
          <a:prstGeom prst="roundRect">
            <a:avLst>
              <a:gd fmla="val 963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5" name="Google Shape;265;p17"/>
          <p:cNvSpPr/>
          <p:nvPr/>
        </p:nvSpPr>
        <p:spPr>
          <a:xfrm>
            <a:off x="2423700" y="1395962"/>
            <a:ext cx="3198600" cy="3054000"/>
          </a:xfrm>
          <a:prstGeom prst="roundRect">
            <a:avLst>
              <a:gd fmla="val 67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6" name="Google Shape;266;p17"/>
          <p:cNvSpPr/>
          <p:nvPr/>
        </p:nvSpPr>
        <p:spPr>
          <a:xfrm>
            <a:off x="5716850" y="1395962"/>
            <a:ext cx="3198600" cy="17583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7" name="Google Shape;267;p17"/>
          <p:cNvSpPr/>
          <p:nvPr/>
        </p:nvSpPr>
        <p:spPr>
          <a:xfrm>
            <a:off x="5716200" y="3231390"/>
            <a:ext cx="3198600" cy="1217400"/>
          </a:xfrm>
          <a:prstGeom prst="roundRect">
            <a:avLst>
              <a:gd fmla="val 1360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8" name="Google Shape;268;p17"/>
          <p:cNvSpPr/>
          <p:nvPr>
            <p:ph idx="4" type="pic"/>
          </p:nvPr>
        </p:nvSpPr>
        <p:spPr>
          <a:xfrm>
            <a:off x="381950" y="993050"/>
            <a:ext cx="850500" cy="850500"/>
          </a:xfrm>
          <a:prstGeom prst="ellipse">
            <a:avLst/>
          </a:prstGeom>
          <a:noFill/>
          <a:ln cap="flat" cmpd="sng" w="9525">
            <a:solidFill>
              <a:schemeClr val="accent3"/>
            </a:solidFill>
            <a:prstDash val="solid"/>
            <a:round/>
            <a:headEnd len="sm" w="sm" type="none"/>
            <a:tailEnd len="sm" w="sm" type="none"/>
          </a:ln>
        </p:spPr>
      </p:sp>
      <p:sp>
        <p:nvSpPr>
          <p:cNvPr id="269" name="Google Shape;269;p17"/>
          <p:cNvSpPr txBox="1"/>
          <p:nvPr>
            <p:ph idx="5" type="subTitle"/>
          </p:nvPr>
        </p:nvSpPr>
        <p:spPr>
          <a:xfrm>
            <a:off x="381950" y="2062875"/>
            <a:ext cx="1786500" cy="236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Urbanist"/>
              <a:buNone/>
              <a:defRPr b="1" sz="1200">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p:txBody>
      </p:sp>
      <p:sp>
        <p:nvSpPr>
          <p:cNvPr id="270" name="Google Shape;270;p17"/>
          <p:cNvSpPr txBox="1"/>
          <p:nvPr>
            <p:ph idx="6" type="body"/>
          </p:nvPr>
        </p:nvSpPr>
        <p:spPr>
          <a:xfrm>
            <a:off x="381950" y="2453500"/>
            <a:ext cx="1786500" cy="1536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Urbanist"/>
              <a:buChar char="●"/>
              <a:defRPr sz="1000">
                <a:solidFill>
                  <a:schemeClr val="dk1"/>
                </a:solidFill>
              </a:defRPr>
            </a:lvl1pPr>
            <a:lvl2pPr indent="-292100" lvl="1" marL="914400">
              <a:spcBef>
                <a:spcPts val="0"/>
              </a:spcBef>
              <a:spcAft>
                <a:spcPts val="0"/>
              </a:spcAft>
              <a:buClr>
                <a:schemeClr val="dk1"/>
              </a:buClr>
              <a:buSzPts val="1000"/>
              <a:buFont typeface="Urbanist"/>
              <a:buChar char="○"/>
              <a:defRPr sz="1000">
                <a:solidFill>
                  <a:schemeClr val="dk1"/>
                </a:solidFill>
              </a:defRPr>
            </a:lvl2pPr>
            <a:lvl3pPr indent="-292100" lvl="2" marL="1371600">
              <a:spcBef>
                <a:spcPts val="0"/>
              </a:spcBef>
              <a:spcAft>
                <a:spcPts val="0"/>
              </a:spcAft>
              <a:buClr>
                <a:schemeClr val="dk1"/>
              </a:buClr>
              <a:buSzPts val="1000"/>
              <a:buFont typeface="Urbanist"/>
              <a:buChar char="■"/>
              <a:defRPr sz="1000">
                <a:solidFill>
                  <a:schemeClr val="dk1"/>
                </a:solidFill>
              </a:defRPr>
            </a:lvl3pPr>
            <a:lvl4pPr indent="-292100" lvl="3" marL="1828800">
              <a:spcBef>
                <a:spcPts val="0"/>
              </a:spcBef>
              <a:spcAft>
                <a:spcPts val="0"/>
              </a:spcAft>
              <a:buClr>
                <a:schemeClr val="dk1"/>
              </a:buClr>
              <a:buSzPts val="1000"/>
              <a:buFont typeface="Urbanist"/>
              <a:buChar char="●"/>
              <a:defRPr sz="1000">
                <a:solidFill>
                  <a:schemeClr val="dk1"/>
                </a:solidFill>
              </a:defRPr>
            </a:lvl4pPr>
            <a:lvl5pPr indent="-292100" lvl="4" marL="2286000">
              <a:spcBef>
                <a:spcPts val="0"/>
              </a:spcBef>
              <a:spcAft>
                <a:spcPts val="0"/>
              </a:spcAft>
              <a:buClr>
                <a:schemeClr val="dk1"/>
              </a:buClr>
              <a:buSzPts val="1000"/>
              <a:buFont typeface="Urbanist"/>
              <a:buChar char="○"/>
              <a:defRPr sz="1000">
                <a:solidFill>
                  <a:schemeClr val="dk1"/>
                </a:solidFill>
              </a:defRPr>
            </a:lvl5pPr>
            <a:lvl6pPr indent="-292100" lvl="5" marL="2743200">
              <a:spcBef>
                <a:spcPts val="0"/>
              </a:spcBef>
              <a:spcAft>
                <a:spcPts val="0"/>
              </a:spcAft>
              <a:buClr>
                <a:schemeClr val="dk1"/>
              </a:buClr>
              <a:buSzPts val="1000"/>
              <a:buFont typeface="Urbanist"/>
              <a:buChar char="■"/>
              <a:defRPr sz="1000">
                <a:solidFill>
                  <a:schemeClr val="dk1"/>
                </a:solidFill>
              </a:defRPr>
            </a:lvl6pPr>
            <a:lvl7pPr indent="-292100" lvl="6" marL="3200400">
              <a:spcBef>
                <a:spcPts val="0"/>
              </a:spcBef>
              <a:spcAft>
                <a:spcPts val="0"/>
              </a:spcAft>
              <a:buClr>
                <a:schemeClr val="dk1"/>
              </a:buClr>
              <a:buSzPts val="1000"/>
              <a:buFont typeface="Urbanist"/>
              <a:buChar char="●"/>
              <a:defRPr sz="1000">
                <a:solidFill>
                  <a:schemeClr val="dk1"/>
                </a:solidFill>
              </a:defRPr>
            </a:lvl7pPr>
            <a:lvl8pPr indent="-292100" lvl="7" marL="3657600">
              <a:spcBef>
                <a:spcPts val="0"/>
              </a:spcBef>
              <a:spcAft>
                <a:spcPts val="0"/>
              </a:spcAft>
              <a:buClr>
                <a:schemeClr val="dk1"/>
              </a:buClr>
              <a:buSzPts val="1000"/>
              <a:buFont typeface="Urbanist"/>
              <a:buChar char="○"/>
              <a:defRPr sz="1000">
                <a:solidFill>
                  <a:schemeClr val="dk1"/>
                </a:solidFill>
              </a:defRPr>
            </a:lvl8pPr>
            <a:lvl9pPr indent="-292100" lvl="8" marL="4114800">
              <a:spcBef>
                <a:spcPts val="0"/>
              </a:spcBef>
              <a:spcAft>
                <a:spcPts val="0"/>
              </a:spcAft>
              <a:buClr>
                <a:schemeClr val="dk1"/>
              </a:buClr>
              <a:buSzPts val="1000"/>
              <a:buFont typeface="Urbanist"/>
              <a:buChar char="■"/>
              <a:defRPr sz="1000">
                <a:solidFill>
                  <a:schemeClr val="dk1"/>
                </a:solidFill>
              </a:defRPr>
            </a:lvl9pPr>
          </a:lstStyle>
          <a:p/>
        </p:txBody>
      </p:sp>
      <p:sp>
        <p:nvSpPr>
          <p:cNvPr id="271" name="Google Shape;271;p17"/>
          <p:cNvSpPr txBox="1"/>
          <p:nvPr>
            <p:ph idx="7" type="subTitle"/>
          </p:nvPr>
        </p:nvSpPr>
        <p:spPr>
          <a:xfrm>
            <a:off x="2580250" y="1528150"/>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72" name="Google Shape;272;p17"/>
          <p:cNvSpPr txBox="1"/>
          <p:nvPr>
            <p:ph idx="8" type="body"/>
          </p:nvPr>
        </p:nvSpPr>
        <p:spPr>
          <a:xfrm>
            <a:off x="2580250" y="1791652"/>
            <a:ext cx="2911500" cy="6105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cxnSp>
        <p:nvCxnSpPr>
          <p:cNvPr id="273" name="Google Shape;273;p17"/>
          <p:cNvCxnSpPr/>
          <p:nvPr/>
        </p:nvCxnSpPr>
        <p:spPr>
          <a:xfrm>
            <a:off x="2423700" y="2531312"/>
            <a:ext cx="3194400" cy="0"/>
          </a:xfrm>
          <a:prstGeom prst="straightConnector1">
            <a:avLst/>
          </a:prstGeom>
          <a:noFill/>
          <a:ln cap="flat" cmpd="sng" w="9525">
            <a:solidFill>
              <a:schemeClr val="dk1"/>
            </a:solidFill>
            <a:prstDash val="solid"/>
            <a:round/>
            <a:headEnd len="med" w="med" type="none"/>
            <a:tailEnd len="med" w="med" type="none"/>
          </a:ln>
        </p:spPr>
      </p:cxnSp>
      <p:cxnSp>
        <p:nvCxnSpPr>
          <p:cNvPr id="274" name="Google Shape;274;p17"/>
          <p:cNvCxnSpPr/>
          <p:nvPr/>
        </p:nvCxnSpPr>
        <p:spPr>
          <a:xfrm>
            <a:off x="2423700" y="3583537"/>
            <a:ext cx="3194400" cy="0"/>
          </a:xfrm>
          <a:prstGeom prst="straightConnector1">
            <a:avLst/>
          </a:prstGeom>
          <a:noFill/>
          <a:ln cap="flat" cmpd="sng" w="9525">
            <a:solidFill>
              <a:schemeClr val="dk1"/>
            </a:solidFill>
            <a:prstDash val="solid"/>
            <a:round/>
            <a:headEnd len="med" w="med" type="none"/>
            <a:tailEnd len="med" w="med" type="none"/>
          </a:ln>
        </p:spPr>
      </p:cxnSp>
      <p:sp>
        <p:nvSpPr>
          <p:cNvPr id="275" name="Google Shape;275;p17"/>
          <p:cNvSpPr txBox="1"/>
          <p:nvPr>
            <p:ph idx="9" type="subTitle"/>
          </p:nvPr>
        </p:nvSpPr>
        <p:spPr>
          <a:xfrm>
            <a:off x="2580250" y="26604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76" name="Google Shape;276;p17"/>
          <p:cNvSpPr txBox="1"/>
          <p:nvPr>
            <p:ph idx="13" type="body"/>
          </p:nvPr>
        </p:nvSpPr>
        <p:spPr>
          <a:xfrm>
            <a:off x="2580250" y="2931046"/>
            <a:ext cx="2911500" cy="610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77" name="Google Shape;277;p17"/>
          <p:cNvSpPr/>
          <p:nvPr/>
        </p:nvSpPr>
        <p:spPr>
          <a:xfrm flipH="1">
            <a:off x="2600988"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8" name="Google Shape;278;p17"/>
          <p:cNvSpPr/>
          <p:nvPr/>
        </p:nvSpPr>
        <p:spPr>
          <a:xfrm flipH="1">
            <a:off x="3654625"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9" name="Google Shape;279;p17"/>
          <p:cNvSpPr/>
          <p:nvPr/>
        </p:nvSpPr>
        <p:spPr>
          <a:xfrm flipH="1">
            <a:off x="4602650"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80" name="Google Shape;280;p17"/>
          <p:cNvSpPr txBox="1"/>
          <p:nvPr>
            <p:ph idx="14" type="subTitle"/>
          </p:nvPr>
        </p:nvSpPr>
        <p:spPr>
          <a:xfrm>
            <a:off x="2567250" y="36718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81" name="Google Shape;281;p17"/>
          <p:cNvSpPr txBox="1"/>
          <p:nvPr>
            <p:ph idx="15" type="subTitle"/>
          </p:nvPr>
        </p:nvSpPr>
        <p:spPr>
          <a:xfrm>
            <a:off x="5877425" y="15281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282" name="Google Shape;282;p17"/>
          <p:cNvSpPr txBox="1"/>
          <p:nvPr>
            <p:ph idx="16" type="subTitle"/>
          </p:nvPr>
        </p:nvSpPr>
        <p:spPr>
          <a:xfrm>
            <a:off x="5877425" y="178110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3" name="Google Shape;283;p17"/>
          <p:cNvSpPr txBox="1"/>
          <p:nvPr>
            <p:ph idx="17" type="subTitle"/>
          </p:nvPr>
        </p:nvSpPr>
        <p:spPr>
          <a:xfrm>
            <a:off x="5877425" y="22191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4" name="Google Shape;284;p17"/>
          <p:cNvSpPr txBox="1"/>
          <p:nvPr>
            <p:ph idx="18" type="subTitle"/>
          </p:nvPr>
        </p:nvSpPr>
        <p:spPr>
          <a:xfrm>
            <a:off x="5877425" y="26572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5" name="Google Shape;285;p17"/>
          <p:cNvSpPr txBox="1"/>
          <p:nvPr>
            <p:ph idx="19" type="subTitle"/>
          </p:nvPr>
        </p:nvSpPr>
        <p:spPr>
          <a:xfrm>
            <a:off x="5877425" y="335493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286" name="Google Shape;286;p17"/>
          <p:cNvSpPr txBox="1"/>
          <p:nvPr>
            <p:ph idx="20"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87" name="Google Shape;287;p1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88" name="Google Shape;288;p1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4">
    <p:spTree>
      <p:nvGrpSpPr>
        <p:cNvPr id="289" name="Shape 289"/>
        <p:cNvGrpSpPr/>
        <p:nvPr/>
      </p:nvGrpSpPr>
      <p:grpSpPr>
        <a:xfrm>
          <a:off x="0" y="0"/>
          <a:ext cx="0" cy="0"/>
          <a:chOff x="0" y="0"/>
          <a:chExt cx="0" cy="0"/>
        </a:xfrm>
      </p:grpSpPr>
      <p:sp>
        <p:nvSpPr>
          <p:cNvPr id="290" name="Google Shape;290;p18"/>
          <p:cNvSpPr txBox="1"/>
          <p:nvPr>
            <p:ph idx="1" type="body"/>
          </p:nvPr>
        </p:nvSpPr>
        <p:spPr>
          <a:xfrm>
            <a:off x="2054000" y="2952175"/>
            <a:ext cx="1377600" cy="9378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291" name="Google Shape;291;p18"/>
          <p:cNvSpPr txBox="1"/>
          <p:nvPr>
            <p:ph idx="2" type="body"/>
          </p:nvPr>
        </p:nvSpPr>
        <p:spPr>
          <a:xfrm>
            <a:off x="2461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2" name="Google Shape;292;p18"/>
          <p:cNvSpPr txBox="1"/>
          <p:nvPr>
            <p:ph idx="3" type="subTitle"/>
          </p:nvPr>
        </p:nvSpPr>
        <p:spPr>
          <a:xfrm>
            <a:off x="382995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293" name="Google Shape;293;p18"/>
          <p:cNvSpPr txBox="1"/>
          <p:nvPr>
            <p:ph idx="4" type="body"/>
          </p:nvPr>
        </p:nvSpPr>
        <p:spPr>
          <a:xfrm>
            <a:off x="3848250" y="2952163"/>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4" name="Google Shape;294;p18"/>
          <p:cNvSpPr txBox="1"/>
          <p:nvPr>
            <p:ph idx="5" type="subTitle"/>
          </p:nvPr>
        </p:nvSpPr>
        <p:spPr>
          <a:xfrm>
            <a:off x="20774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295" name="Google Shape;295;p18"/>
          <p:cNvSpPr txBox="1"/>
          <p:nvPr>
            <p:ph idx="6" type="body"/>
          </p:nvPr>
        </p:nvSpPr>
        <p:spPr>
          <a:xfrm>
            <a:off x="5634175"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6" name="Google Shape;296;p18"/>
          <p:cNvSpPr txBox="1"/>
          <p:nvPr>
            <p:ph idx="7"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7" name="Google Shape;297;p18"/>
          <p:cNvSpPr txBox="1"/>
          <p:nvPr>
            <p:ph idx="8"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8" name="Google Shape;298;p18"/>
          <p:cNvSpPr txBox="1"/>
          <p:nvPr>
            <p:ph idx="9"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99" name="Google Shape;299;p1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00" name="Google Shape;300;p18"/>
          <p:cNvSpPr txBox="1"/>
          <p:nvPr>
            <p:ph type="title"/>
          </p:nvPr>
        </p:nvSpPr>
        <p:spPr>
          <a:xfrm>
            <a:off x="228600" y="613525"/>
            <a:ext cx="6841500" cy="7530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301" name="Google Shape;301;p18"/>
          <p:cNvSpPr txBox="1"/>
          <p:nvPr>
            <p:ph idx="13" type="subTitle"/>
          </p:nvPr>
        </p:nvSpPr>
        <p:spPr>
          <a:xfrm>
            <a:off x="2775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000"/>
              <a:buFont typeface="Urbanist"/>
              <a:buNone/>
              <a:defRPr sz="1000">
                <a:solidFill>
                  <a:schemeClr val="dk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2" name="Google Shape;302;p18"/>
          <p:cNvSpPr txBox="1"/>
          <p:nvPr>
            <p:ph idx="14" type="subTitle"/>
          </p:nvPr>
        </p:nvSpPr>
        <p:spPr>
          <a:xfrm>
            <a:off x="38773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03" name="Google Shape;303;p18"/>
          <p:cNvSpPr txBox="1"/>
          <p:nvPr>
            <p:ph idx="15" type="subTitle"/>
          </p:nvPr>
        </p:nvSpPr>
        <p:spPr>
          <a:xfrm>
            <a:off x="56772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4" name="Google Shape;304;p18"/>
          <p:cNvSpPr txBox="1"/>
          <p:nvPr>
            <p:ph idx="16" type="subTitle"/>
          </p:nvPr>
        </p:nvSpPr>
        <p:spPr>
          <a:xfrm>
            <a:off x="74771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5" name="Google Shape;305;p18"/>
          <p:cNvSpPr txBox="1"/>
          <p:nvPr>
            <p:ph idx="17" type="subTitle"/>
          </p:nvPr>
        </p:nvSpPr>
        <p:spPr>
          <a:xfrm>
            <a:off x="23880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200"/>
              <a:buFont typeface="Urbanist"/>
              <a:buNone/>
              <a:defRPr b="1" sz="1200">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6" name="Google Shape;306;p18"/>
          <p:cNvSpPr txBox="1"/>
          <p:nvPr>
            <p:ph idx="18" type="subTitle"/>
          </p:nvPr>
        </p:nvSpPr>
        <p:spPr>
          <a:xfrm>
            <a:off x="2034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7" name="Google Shape;307;p18"/>
          <p:cNvSpPr txBox="1"/>
          <p:nvPr>
            <p:ph idx="19" type="subTitle"/>
          </p:nvPr>
        </p:nvSpPr>
        <p:spPr>
          <a:xfrm>
            <a:off x="5645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8" name="Google Shape;308;p18"/>
          <p:cNvSpPr txBox="1"/>
          <p:nvPr>
            <p:ph idx="20" type="subTitle"/>
          </p:nvPr>
        </p:nvSpPr>
        <p:spPr>
          <a:xfrm>
            <a:off x="7460789"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9" name="Google Shape;309;p18"/>
          <p:cNvSpPr txBox="1"/>
          <p:nvPr>
            <p:ph idx="21" type="subTitle"/>
          </p:nvPr>
        </p:nvSpPr>
        <p:spPr>
          <a:xfrm>
            <a:off x="372900" y="202945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310" name="Google Shape;310;p18"/>
          <p:cNvSpPr txBox="1"/>
          <p:nvPr>
            <p:ph idx="22" type="subTitle"/>
          </p:nvPr>
        </p:nvSpPr>
        <p:spPr>
          <a:xfrm>
            <a:off x="2178663"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1" name="Google Shape;311;p18"/>
          <p:cNvSpPr txBox="1"/>
          <p:nvPr>
            <p:ph idx="23" type="subTitle"/>
          </p:nvPr>
        </p:nvSpPr>
        <p:spPr>
          <a:xfrm>
            <a:off x="3974250"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2" name="Google Shape;312;p18"/>
          <p:cNvSpPr txBox="1"/>
          <p:nvPr>
            <p:ph idx="24" type="subTitle"/>
          </p:nvPr>
        </p:nvSpPr>
        <p:spPr>
          <a:xfrm>
            <a:off x="5789675"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3" name="Google Shape;313;p18"/>
          <p:cNvSpPr txBox="1"/>
          <p:nvPr>
            <p:ph idx="25" type="subTitle"/>
          </p:nvPr>
        </p:nvSpPr>
        <p:spPr>
          <a:xfrm>
            <a:off x="7605089"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4" name="Google Shape;314;p18"/>
          <p:cNvSpPr txBox="1"/>
          <p:nvPr>
            <p:ph idx="26" type="body"/>
          </p:nvPr>
        </p:nvSpPr>
        <p:spPr>
          <a:xfrm>
            <a:off x="74503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15" name="Google Shape;315;p1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6" name="Google Shape;316;p1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
  <p:cSld name="CUSTOM_5">
    <p:spTree>
      <p:nvGrpSpPr>
        <p:cNvPr id="317" name="Shape 317"/>
        <p:cNvGrpSpPr/>
        <p:nvPr/>
      </p:nvGrpSpPr>
      <p:grpSpPr>
        <a:xfrm>
          <a:off x="0" y="0"/>
          <a:ext cx="0" cy="0"/>
          <a:chOff x="0" y="0"/>
          <a:chExt cx="0" cy="0"/>
        </a:xfrm>
      </p:grpSpPr>
      <p:sp>
        <p:nvSpPr>
          <p:cNvPr id="318" name="Google Shape;318;p1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19" name="Google Shape;319;p1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20" name="Google Shape;320;p1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21" name="Google Shape;321;p1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22" name="Google Shape;322;p1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23" name="Google Shape;323;p1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24" name="Google Shape;324;p19"/>
          <p:cNvSpPr txBox="1"/>
          <p:nvPr>
            <p:ph idx="4" type="subTitle"/>
          </p:nvPr>
        </p:nvSpPr>
        <p:spPr>
          <a:xfrm>
            <a:off x="6314800" y="458325"/>
            <a:ext cx="229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5" name="Google Shape;325;p19"/>
          <p:cNvSpPr txBox="1"/>
          <p:nvPr>
            <p:ph type="title"/>
          </p:nvPr>
        </p:nvSpPr>
        <p:spPr>
          <a:xfrm>
            <a:off x="237650" y="746900"/>
            <a:ext cx="2834700" cy="25908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26" name="Google Shape;326;p19"/>
          <p:cNvSpPr txBox="1"/>
          <p:nvPr>
            <p:ph idx="5" type="subTitle"/>
          </p:nvPr>
        </p:nvSpPr>
        <p:spPr>
          <a:xfrm>
            <a:off x="229175" y="229175"/>
            <a:ext cx="283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27" name="Google Shape;327;p19"/>
          <p:cNvSpPr txBox="1"/>
          <p:nvPr>
            <p:ph idx="6" type="subTitle"/>
          </p:nvPr>
        </p:nvSpPr>
        <p:spPr>
          <a:xfrm>
            <a:off x="3437500" y="882725"/>
            <a:ext cx="22947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28" name="Google Shape;328;p19"/>
          <p:cNvSpPr txBox="1"/>
          <p:nvPr>
            <p:ph idx="7" type="title"/>
          </p:nvPr>
        </p:nvSpPr>
        <p:spPr>
          <a:xfrm>
            <a:off x="3611850" y="1848195"/>
            <a:ext cx="1924200" cy="594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p:txBody>
      </p:sp>
      <p:sp>
        <p:nvSpPr>
          <p:cNvPr id="329" name="Google Shape;329;p19"/>
          <p:cNvSpPr txBox="1"/>
          <p:nvPr>
            <p:ph idx="8" type="title"/>
          </p:nvPr>
        </p:nvSpPr>
        <p:spPr>
          <a:xfrm>
            <a:off x="3611850" y="3250202"/>
            <a:ext cx="1920300" cy="59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30" name="Google Shape;330;p19"/>
          <p:cNvSpPr txBox="1"/>
          <p:nvPr>
            <p:ph idx="9" type="subTitle"/>
          </p:nvPr>
        </p:nvSpPr>
        <p:spPr>
          <a:xfrm>
            <a:off x="3611850" y="2707575"/>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1" name="Google Shape;331;p19"/>
          <p:cNvSpPr txBox="1"/>
          <p:nvPr>
            <p:ph idx="13" type="subTitle"/>
          </p:nvPr>
        </p:nvSpPr>
        <p:spPr>
          <a:xfrm>
            <a:off x="3611850" y="4076800"/>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2" name="Google Shape;332;p19"/>
          <p:cNvSpPr txBox="1"/>
          <p:nvPr>
            <p:ph idx="14" type="subTitle"/>
          </p:nvPr>
        </p:nvSpPr>
        <p:spPr>
          <a:xfrm>
            <a:off x="6258900" y="3267725"/>
            <a:ext cx="24783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3" name="Google Shape;333;p19"/>
          <p:cNvSpPr txBox="1"/>
          <p:nvPr>
            <p:ph idx="15" type="subTitle"/>
          </p:nvPr>
        </p:nvSpPr>
        <p:spPr>
          <a:xfrm>
            <a:off x="6258900" y="3955225"/>
            <a:ext cx="2478300" cy="3300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34" name="Shape 334"/>
        <p:cNvGrpSpPr/>
        <p:nvPr/>
      </p:nvGrpSpPr>
      <p:grpSpPr>
        <a:xfrm>
          <a:off x="0" y="0"/>
          <a:ext cx="0" cy="0"/>
          <a:chOff x="0" y="0"/>
          <a:chExt cx="0" cy="0"/>
        </a:xfrm>
      </p:grpSpPr>
      <p:sp>
        <p:nvSpPr>
          <p:cNvPr id="335" name="Google Shape;335;p2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36" name="Google Shape;336;p2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7" name="Shape 337"/>
        <p:cNvGrpSpPr/>
        <p:nvPr/>
      </p:nvGrpSpPr>
      <p:grpSpPr>
        <a:xfrm>
          <a:off x="0" y="0"/>
          <a:ext cx="0" cy="0"/>
          <a:chOff x="0" y="0"/>
          <a:chExt cx="0" cy="0"/>
        </a:xfrm>
      </p:grpSpPr>
      <p:sp>
        <p:nvSpPr>
          <p:cNvPr id="338" name="Google Shape;338;p2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9" name="Shape 339"/>
        <p:cNvGrpSpPr/>
        <p:nvPr/>
      </p:nvGrpSpPr>
      <p:grpSpPr>
        <a:xfrm>
          <a:off x="0" y="0"/>
          <a:ext cx="0" cy="0"/>
          <a:chOff x="0" y="0"/>
          <a:chExt cx="0" cy="0"/>
        </a:xfrm>
      </p:grpSpPr>
      <p:sp>
        <p:nvSpPr>
          <p:cNvPr id="340" name="Google Shape;340;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1" name="Google Shape;341;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42" name="Shape 342"/>
        <p:cNvGrpSpPr/>
        <p:nvPr/>
      </p:nvGrpSpPr>
      <p:grpSpPr>
        <a:xfrm>
          <a:off x="0" y="0"/>
          <a:ext cx="0" cy="0"/>
          <a:chOff x="0" y="0"/>
          <a:chExt cx="0" cy="0"/>
        </a:xfrm>
      </p:grpSpPr>
      <p:sp>
        <p:nvSpPr>
          <p:cNvPr id="343" name="Google Shape;343;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4" name="Google Shape;344;p23"/>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5" name="Google Shape;345;p23"/>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6" name="Shape 346"/>
        <p:cNvGrpSpPr/>
        <p:nvPr/>
      </p:nvGrpSpPr>
      <p:grpSpPr>
        <a:xfrm>
          <a:off x="0" y="0"/>
          <a:ext cx="0" cy="0"/>
          <a:chOff x="0" y="0"/>
          <a:chExt cx="0" cy="0"/>
        </a:xfrm>
      </p:grpSpPr>
      <p:sp>
        <p:nvSpPr>
          <p:cNvPr id="347" name="Google Shape;347;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8" name="Shape 348"/>
        <p:cNvGrpSpPr/>
        <p:nvPr/>
      </p:nvGrpSpPr>
      <p:grpSpPr>
        <a:xfrm>
          <a:off x="0" y="0"/>
          <a:ext cx="0" cy="0"/>
          <a:chOff x="0" y="0"/>
          <a:chExt cx="0" cy="0"/>
        </a:xfrm>
      </p:grpSpPr>
      <p:sp>
        <p:nvSpPr>
          <p:cNvPr id="349" name="Google Shape;349;p25"/>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50" name="Google Shape;350;p25"/>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51" name="Shape 351"/>
        <p:cNvGrpSpPr/>
        <p:nvPr/>
      </p:nvGrpSpPr>
      <p:grpSpPr>
        <a:xfrm>
          <a:off x="0" y="0"/>
          <a:ext cx="0" cy="0"/>
          <a:chOff x="0" y="0"/>
          <a:chExt cx="0" cy="0"/>
        </a:xfrm>
      </p:grpSpPr>
      <p:sp>
        <p:nvSpPr>
          <p:cNvPr id="352" name="Google Shape;352;p26"/>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53" name="Shape 353"/>
        <p:cNvGrpSpPr/>
        <p:nvPr/>
      </p:nvGrpSpPr>
      <p:grpSpPr>
        <a:xfrm>
          <a:off x="0" y="0"/>
          <a:ext cx="0" cy="0"/>
          <a:chOff x="0" y="0"/>
          <a:chExt cx="0" cy="0"/>
        </a:xfrm>
      </p:grpSpPr>
      <p:sp>
        <p:nvSpPr>
          <p:cNvPr id="354" name="Google Shape;354;p27"/>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55" name="Google Shape;355;p27"/>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56" name="Google Shape;356;p27"/>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7" name="Shape 357"/>
        <p:cNvGrpSpPr/>
        <p:nvPr/>
      </p:nvGrpSpPr>
      <p:grpSpPr>
        <a:xfrm>
          <a:off x="0" y="0"/>
          <a:ext cx="0" cy="0"/>
          <a:chOff x="0" y="0"/>
          <a:chExt cx="0" cy="0"/>
        </a:xfrm>
      </p:grpSpPr>
      <p:sp>
        <p:nvSpPr>
          <p:cNvPr id="358" name="Google Shape;358;p28"/>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9" name="Shape 359"/>
        <p:cNvGrpSpPr/>
        <p:nvPr/>
      </p:nvGrpSpPr>
      <p:grpSpPr>
        <a:xfrm>
          <a:off x="0" y="0"/>
          <a:ext cx="0" cy="0"/>
          <a:chOff x="0" y="0"/>
          <a:chExt cx="0" cy="0"/>
        </a:xfrm>
      </p:grpSpPr>
      <p:sp>
        <p:nvSpPr>
          <p:cNvPr id="360" name="Google Shape;360;p29"/>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1" name="Google Shape;361;p29"/>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2" name="Shape 362"/>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63" name="Shape 363"/>
        <p:cNvGrpSpPr/>
        <p:nvPr/>
      </p:nvGrpSpPr>
      <p:grpSpPr>
        <a:xfrm>
          <a:off x="0" y="0"/>
          <a:ext cx="0" cy="0"/>
          <a:chOff x="0" y="0"/>
          <a:chExt cx="0" cy="0"/>
        </a:xfrm>
      </p:grpSpPr>
      <p:sp>
        <p:nvSpPr>
          <p:cNvPr id="364" name="Google Shape;364;p3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5" name="Google Shape;365;p3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6" name="Google Shape;366;p3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7" name="Google Shape;367;p3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3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9" name="Google Shape;369;p3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0" name="Google Shape;370;p3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71" name="Shape 371"/>
        <p:cNvGrpSpPr/>
        <p:nvPr/>
      </p:nvGrpSpPr>
      <p:grpSpPr>
        <a:xfrm>
          <a:off x="0" y="0"/>
          <a:ext cx="0" cy="0"/>
          <a:chOff x="0" y="0"/>
          <a:chExt cx="0" cy="0"/>
        </a:xfrm>
      </p:grpSpPr>
      <p:sp>
        <p:nvSpPr>
          <p:cNvPr id="372" name="Google Shape;372;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3" name="Google Shape;373;p3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4" name="Google Shape;374;p3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75" name="Shape 375"/>
        <p:cNvGrpSpPr/>
        <p:nvPr/>
      </p:nvGrpSpPr>
      <p:grpSpPr>
        <a:xfrm>
          <a:off x="0" y="0"/>
          <a:ext cx="0" cy="0"/>
          <a:chOff x="0" y="0"/>
          <a:chExt cx="0" cy="0"/>
        </a:xfrm>
      </p:grpSpPr>
      <p:sp>
        <p:nvSpPr>
          <p:cNvPr id="376" name="Google Shape;376;p3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7" name="Google Shape;377;p3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8" name="Google Shape;378;p3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9" name="Google Shape;379;p3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0" name="Google Shape;380;p3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81" name="Shape 381"/>
        <p:cNvGrpSpPr/>
        <p:nvPr/>
      </p:nvGrpSpPr>
      <p:grpSpPr>
        <a:xfrm>
          <a:off x="0" y="0"/>
          <a:ext cx="0" cy="0"/>
          <a:chOff x="0" y="0"/>
          <a:chExt cx="0" cy="0"/>
        </a:xfrm>
      </p:grpSpPr>
      <p:sp>
        <p:nvSpPr>
          <p:cNvPr id="382" name="Google Shape;382;p3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83" name="Google Shape;383;p3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4" name="Google Shape;384;p3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5" name="Google Shape;385;p3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6" name="Google Shape;386;p3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7" name="Google Shape;387;p3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8" name="Google Shape;388;p3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9" name="Shape 389"/>
        <p:cNvGrpSpPr/>
        <p:nvPr/>
      </p:nvGrpSpPr>
      <p:grpSpPr>
        <a:xfrm>
          <a:off x="0" y="0"/>
          <a:ext cx="0" cy="0"/>
          <a:chOff x="0" y="0"/>
          <a:chExt cx="0" cy="0"/>
        </a:xfrm>
      </p:grpSpPr>
      <p:sp>
        <p:nvSpPr>
          <p:cNvPr id="390" name="Google Shape;390;p3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91" name="Google Shape;391;p3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2" name="Google Shape;392;p3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3" name="Google Shape;393;p3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4" name="Google Shape;394;p3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95" name="Google Shape;395;p3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6" name="Google Shape;396;p3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3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8" name="Google Shape;398;p3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9" name="Shape 399"/>
        <p:cNvGrpSpPr/>
        <p:nvPr/>
      </p:nvGrpSpPr>
      <p:grpSpPr>
        <a:xfrm>
          <a:off x="0" y="0"/>
          <a:ext cx="0" cy="0"/>
          <a:chOff x="0" y="0"/>
          <a:chExt cx="0" cy="0"/>
        </a:xfrm>
      </p:grpSpPr>
      <p:sp>
        <p:nvSpPr>
          <p:cNvPr id="400" name="Google Shape;400;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1" name="Google Shape;401;p3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02" name="Shape 402"/>
        <p:cNvGrpSpPr/>
        <p:nvPr/>
      </p:nvGrpSpPr>
      <p:grpSpPr>
        <a:xfrm>
          <a:off x="0" y="0"/>
          <a:ext cx="0" cy="0"/>
          <a:chOff x="0" y="0"/>
          <a:chExt cx="0" cy="0"/>
        </a:xfrm>
      </p:grpSpPr>
      <p:sp>
        <p:nvSpPr>
          <p:cNvPr id="403" name="Google Shape;403;p3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4" name="Google Shape;404;p37"/>
          <p:cNvSpPr/>
          <p:nvPr>
            <p:ph idx="2" type="pic"/>
          </p:nvPr>
        </p:nvSpPr>
        <p:spPr>
          <a:xfrm>
            <a:off x="4804825" y="1133300"/>
            <a:ext cx="4027500" cy="2392800"/>
          </a:xfrm>
          <a:prstGeom prst="rect">
            <a:avLst/>
          </a:prstGeom>
          <a:noFill/>
          <a:ln>
            <a:noFill/>
          </a:ln>
        </p:spPr>
      </p:sp>
      <p:sp>
        <p:nvSpPr>
          <p:cNvPr id="405" name="Google Shape;405;p37"/>
          <p:cNvSpPr/>
          <p:nvPr>
            <p:ph idx="3" type="pic"/>
          </p:nvPr>
        </p:nvSpPr>
        <p:spPr>
          <a:xfrm>
            <a:off x="311725" y="1133300"/>
            <a:ext cx="4027500" cy="2392800"/>
          </a:xfrm>
          <a:prstGeom prst="rect">
            <a:avLst/>
          </a:prstGeom>
          <a:noFill/>
          <a:ln>
            <a:noFill/>
          </a:ln>
        </p:spPr>
      </p:sp>
      <p:sp>
        <p:nvSpPr>
          <p:cNvPr id="406" name="Google Shape;406;p3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7" name="Google Shape;407;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8" name="Google Shape;408;p3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9" name="Google Shape;409;p3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10" name="Shape 410"/>
        <p:cNvGrpSpPr/>
        <p:nvPr/>
      </p:nvGrpSpPr>
      <p:grpSpPr>
        <a:xfrm>
          <a:off x="0" y="0"/>
          <a:ext cx="0" cy="0"/>
          <a:chOff x="0" y="0"/>
          <a:chExt cx="0" cy="0"/>
        </a:xfrm>
      </p:grpSpPr>
      <p:sp>
        <p:nvSpPr>
          <p:cNvPr id="411" name="Google Shape;411;p3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2" name="Google Shape;412;p38"/>
          <p:cNvSpPr/>
          <p:nvPr>
            <p:ph idx="2" type="pic"/>
          </p:nvPr>
        </p:nvSpPr>
        <p:spPr>
          <a:xfrm>
            <a:off x="6205225" y="1128325"/>
            <a:ext cx="2627100" cy="2273100"/>
          </a:xfrm>
          <a:prstGeom prst="rect">
            <a:avLst/>
          </a:prstGeom>
          <a:noFill/>
          <a:ln>
            <a:noFill/>
          </a:ln>
        </p:spPr>
      </p:sp>
      <p:sp>
        <p:nvSpPr>
          <p:cNvPr id="413" name="Google Shape;413;p38"/>
          <p:cNvSpPr/>
          <p:nvPr>
            <p:ph idx="3" type="pic"/>
          </p:nvPr>
        </p:nvSpPr>
        <p:spPr>
          <a:xfrm>
            <a:off x="311725" y="1128325"/>
            <a:ext cx="2627100" cy="2273100"/>
          </a:xfrm>
          <a:prstGeom prst="rect">
            <a:avLst/>
          </a:prstGeom>
          <a:noFill/>
          <a:ln>
            <a:noFill/>
          </a:ln>
        </p:spPr>
      </p:sp>
      <p:sp>
        <p:nvSpPr>
          <p:cNvPr id="414" name="Google Shape;414;p3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5" name="Google Shape;415;p38"/>
          <p:cNvSpPr/>
          <p:nvPr>
            <p:ph idx="5" type="pic"/>
          </p:nvPr>
        </p:nvSpPr>
        <p:spPr>
          <a:xfrm>
            <a:off x="3255250" y="1128325"/>
            <a:ext cx="2627100" cy="2273100"/>
          </a:xfrm>
          <a:prstGeom prst="rect">
            <a:avLst/>
          </a:prstGeom>
          <a:noFill/>
          <a:ln>
            <a:noFill/>
          </a:ln>
        </p:spPr>
      </p:sp>
      <p:sp>
        <p:nvSpPr>
          <p:cNvPr id="416" name="Google Shape;416;p3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7" name="Google Shape;417;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8" name="Google Shape;418;p3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9" name="Google Shape;419;p3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20" name="Google Shape;420;p3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21" name="Shape 421"/>
        <p:cNvGrpSpPr/>
        <p:nvPr/>
      </p:nvGrpSpPr>
      <p:grpSpPr>
        <a:xfrm>
          <a:off x="0" y="0"/>
          <a:ext cx="0" cy="0"/>
          <a:chOff x="0" y="0"/>
          <a:chExt cx="0" cy="0"/>
        </a:xfrm>
      </p:grpSpPr>
      <p:sp>
        <p:nvSpPr>
          <p:cNvPr id="422" name="Google Shape;422;p3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23" name="Shape 423"/>
        <p:cNvGrpSpPr/>
        <p:nvPr/>
      </p:nvGrpSpPr>
      <p:grpSpPr>
        <a:xfrm>
          <a:off x="0" y="0"/>
          <a:ext cx="0" cy="0"/>
          <a:chOff x="0" y="0"/>
          <a:chExt cx="0" cy="0"/>
        </a:xfrm>
      </p:grpSpPr>
      <p:sp>
        <p:nvSpPr>
          <p:cNvPr id="424" name="Google Shape;424;p40"/>
          <p:cNvSpPr/>
          <p:nvPr>
            <p:ph idx="2" type="pic"/>
          </p:nvPr>
        </p:nvSpPr>
        <p:spPr>
          <a:xfrm>
            <a:off x="3389600" y="118913"/>
            <a:ext cx="1643700" cy="1535100"/>
          </a:xfrm>
          <a:prstGeom prst="rect">
            <a:avLst/>
          </a:prstGeom>
          <a:noFill/>
          <a:ln>
            <a:noFill/>
          </a:ln>
        </p:spPr>
      </p:sp>
      <p:sp>
        <p:nvSpPr>
          <p:cNvPr id="425" name="Google Shape;425;p40"/>
          <p:cNvSpPr/>
          <p:nvPr>
            <p:ph idx="3" type="pic"/>
          </p:nvPr>
        </p:nvSpPr>
        <p:spPr>
          <a:xfrm>
            <a:off x="5195935" y="118913"/>
            <a:ext cx="1643700" cy="1535100"/>
          </a:xfrm>
          <a:prstGeom prst="rect">
            <a:avLst/>
          </a:prstGeom>
          <a:noFill/>
          <a:ln>
            <a:noFill/>
          </a:ln>
        </p:spPr>
      </p:sp>
      <p:sp>
        <p:nvSpPr>
          <p:cNvPr id="426" name="Google Shape;426;p40"/>
          <p:cNvSpPr/>
          <p:nvPr>
            <p:ph idx="4" type="pic"/>
          </p:nvPr>
        </p:nvSpPr>
        <p:spPr>
          <a:xfrm>
            <a:off x="7002270" y="118913"/>
            <a:ext cx="1643700" cy="1535100"/>
          </a:xfrm>
          <a:prstGeom prst="rect">
            <a:avLst/>
          </a:prstGeom>
          <a:noFill/>
          <a:ln>
            <a:noFill/>
          </a:ln>
        </p:spPr>
      </p:sp>
      <p:sp>
        <p:nvSpPr>
          <p:cNvPr id="427" name="Google Shape;427;p40"/>
          <p:cNvSpPr/>
          <p:nvPr>
            <p:ph idx="5" type="pic"/>
          </p:nvPr>
        </p:nvSpPr>
        <p:spPr>
          <a:xfrm>
            <a:off x="3389588" y="1804212"/>
            <a:ext cx="1643700" cy="1535100"/>
          </a:xfrm>
          <a:prstGeom prst="rect">
            <a:avLst/>
          </a:prstGeom>
          <a:noFill/>
          <a:ln>
            <a:noFill/>
          </a:ln>
        </p:spPr>
      </p:sp>
      <p:sp>
        <p:nvSpPr>
          <p:cNvPr id="428" name="Google Shape;428;p40"/>
          <p:cNvSpPr/>
          <p:nvPr>
            <p:ph idx="6" type="pic"/>
          </p:nvPr>
        </p:nvSpPr>
        <p:spPr>
          <a:xfrm>
            <a:off x="5195922" y="1804212"/>
            <a:ext cx="1643700" cy="1535100"/>
          </a:xfrm>
          <a:prstGeom prst="rect">
            <a:avLst/>
          </a:prstGeom>
          <a:noFill/>
          <a:ln>
            <a:noFill/>
          </a:ln>
        </p:spPr>
      </p:sp>
      <p:sp>
        <p:nvSpPr>
          <p:cNvPr id="429" name="Google Shape;429;p40"/>
          <p:cNvSpPr/>
          <p:nvPr>
            <p:ph idx="7" type="pic"/>
          </p:nvPr>
        </p:nvSpPr>
        <p:spPr>
          <a:xfrm>
            <a:off x="7002257" y="1804212"/>
            <a:ext cx="1643700" cy="1535100"/>
          </a:xfrm>
          <a:prstGeom prst="rect">
            <a:avLst/>
          </a:prstGeom>
          <a:noFill/>
          <a:ln>
            <a:noFill/>
          </a:ln>
        </p:spPr>
      </p:sp>
      <p:sp>
        <p:nvSpPr>
          <p:cNvPr id="430" name="Google Shape;430;p4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1" name="Google Shape;431;p40"/>
          <p:cNvSpPr/>
          <p:nvPr>
            <p:ph idx="8" type="pic"/>
          </p:nvPr>
        </p:nvSpPr>
        <p:spPr>
          <a:xfrm>
            <a:off x="3389588" y="3489487"/>
            <a:ext cx="1643700" cy="1535100"/>
          </a:xfrm>
          <a:prstGeom prst="rect">
            <a:avLst/>
          </a:prstGeom>
          <a:noFill/>
          <a:ln>
            <a:noFill/>
          </a:ln>
        </p:spPr>
      </p:sp>
      <p:sp>
        <p:nvSpPr>
          <p:cNvPr id="432" name="Google Shape;432;p40"/>
          <p:cNvSpPr/>
          <p:nvPr>
            <p:ph idx="9" type="pic"/>
          </p:nvPr>
        </p:nvSpPr>
        <p:spPr>
          <a:xfrm>
            <a:off x="5195922" y="3489487"/>
            <a:ext cx="1643700" cy="1535100"/>
          </a:xfrm>
          <a:prstGeom prst="rect">
            <a:avLst/>
          </a:prstGeom>
          <a:noFill/>
          <a:ln>
            <a:noFill/>
          </a:ln>
        </p:spPr>
      </p:sp>
      <p:sp>
        <p:nvSpPr>
          <p:cNvPr id="433" name="Google Shape;433;p4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theme" Target="../theme/theme1.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
        <p:nvSpPr>
          <p:cNvPr id="7" name="Google Shape;7;p1"/>
          <p:cNvSpPr txBox="1"/>
          <p:nvPr>
            <p:ph type="title"/>
          </p:nvPr>
        </p:nvSpPr>
        <p:spPr>
          <a:xfrm>
            <a:off x="228600" y="85200"/>
            <a:ext cx="5236500" cy="1099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p:txBody>
      </p:sp>
      <p:sp>
        <p:nvSpPr>
          <p:cNvPr id="8" name="Google Shape;8;p1"/>
          <p:cNvSpPr txBox="1"/>
          <p:nvPr>
            <p:ph idx="2" type="body"/>
          </p:nvPr>
        </p:nvSpPr>
        <p:spPr>
          <a:xfrm>
            <a:off x="4562525" y="1518250"/>
            <a:ext cx="3880800" cy="27654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5.jpg"/><Relationship Id="rId4" Type="http://schemas.openxmlformats.org/officeDocument/2006/relationships/hyperlink" Target="https://chandra.harvard.edu/edu/formal/variable_stars/HR_student.html" TargetMode="External"/><Relationship Id="rId5" Type="http://schemas.openxmlformats.org/officeDocument/2006/relationships/hyperlink" Target="https://en.wikipedia.org/wiki/Red_giant" TargetMode="External"/><Relationship Id="rId6" Type="http://schemas.openxmlformats.org/officeDocument/2006/relationships/hyperlink" Target="https://en.wikipedia.org/wiki/Red_gian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5.jpg"/><Relationship Id="rId4" Type="http://schemas.openxmlformats.org/officeDocument/2006/relationships/hyperlink" Target="https://chandra.harvard.edu/edu/formal/variable_stars/HR_student.html" TargetMode="External"/><Relationship Id="rId5" Type="http://schemas.openxmlformats.org/officeDocument/2006/relationships/hyperlink" Target="https://en.wikipedia.org/wiki/Red_giant" TargetMode="External"/><Relationship Id="rId6" Type="http://schemas.openxmlformats.org/officeDocument/2006/relationships/hyperlink" Target="https://en.wikipedia.org/wiki/Red_gian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hyperlink" Target="https://docs.google.com/presentation/d/1n4gnIVjk0QskgZYAVGrrYui_9yyZ9EoGr3Z9NKOY4KY/edit?slide=id.g2feb84dece6_0_122#slide=id.g2feb84dece6_0_122" TargetMode="External"/><Relationship Id="rId5" Type="http://schemas.openxmlformats.org/officeDocument/2006/relationships/hyperlink" Target="https://iopscience.iop.org/article/10.3847/0004-637X/823/2/114/pdf" TargetMode="External"/><Relationship Id="rId6" Type="http://schemas.openxmlformats.org/officeDocument/2006/relationships/image" Target="../media/image8.png"/><Relationship Id="rId7"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7.xml"/><Relationship Id="rId3" Type="http://schemas.openxmlformats.org/officeDocument/2006/relationships/image" Target="../media/image20.jpg"/><Relationship Id="rId4" Type="http://schemas.openxmlformats.org/officeDocument/2006/relationships/image" Target="../media/image10.jpg"/><Relationship Id="rId9" Type="http://schemas.openxmlformats.org/officeDocument/2006/relationships/hyperlink" Target="https://science.nasa.gov/mission/roman-space-telescope/asteroseismology-using-the-galactic-bulge-time-domain-survey/" TargetMode="External"/><Relationship Id="rId5" Type="http://schemas.openxmlformats.org/officeDocument/2006/relationships/hyperlink" Target="https://www.news.iastate.edu/news/nasas-tess-helps-astronomers-study-red-giant-stars-examine-too-close-planet" TargetMode="External"/><Relationship Id="rId6" Type="http://schemas.openxmlformats.org/officeDocument/2006/relationships/hyperlink" Target="https://www.news.iastate.edu/news/nasas-tess-helps-astronomers-study-red-giant-stars-examine-too-close-planet" TargetMode="External"/><Relationship Id="rId7" Type="http://schemas.openxmlformats.org/officeDocument/2006/relationships/hyperlink" Target="https://science.nasa.gov/mission/kepler/" TargetMode="External"/><Relationship Id="rId8" Type="http://schemas.openxmlformats.org/officeDocument/2006/relationships/hyperlink" Target="https://science.nasa.gov/mission/kepler/" TargetMode="External"/><Relationship Id="rId11" Type="http://schemas.openxmlformats.org/officeDocument/2006/relationships/hyperlink" Target="https://ui.adsabs.harvard.edu/abs/2013AAS...22130101H/abstract" TargetMode="External"/><Relationship Id="rId10" Type="http://schemas.openxmlformats.org/officeDocument/2006/relationships/hyperlink" Target="https://science.nasa.gov/mission/roman-space-telescope/asteroseismology-using-the-galactic-bulge-time-domain-survey/" TargetMode="External"/><Relationship Id="rId12" Type="http://schemas.openxmlformats.org/officeDocument/2006/relationships/hyperlink" Target="https://ui.adsabs.harvard.edu/abs/2013AAS...22130101H/abstract"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hyperlink" Target="https://www.sdss4.org/dr17/irspec/" TargetMode="External"/><Relationship Id="rId4" Type="http://schemas.openxmlformats.org/officeDocument/2006/relationships/hyperlink" Target="https://www.sdss4.org/dr17/irspec/" TargetMode="External"/><Relationship Id="rId5" Type="http://schemas.openxmlformats.org/officeDocument/2006/relationships/image" Target="../media/image11.png"/><Relationship Id="rId6" Type="http://schemas.openxmlformats.org/officeDocument/2006/relationships/image" Target="../media/image1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hyperlink" Target="https://iopscience.iop.org/article/10.1088/0004-637X/808/1/16/pdf" TargetMode="External"/><Relationship Id="rId4" Type="http://schemas.openxmlformats.org/officeDocument/2006/relationships/image" Target="../media/image1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2.xml"/><Relationship Id="rId3" Type="http://schemas.openxmlformats.org/officeDocument/2006/relationships/image" Target="../media/image29.png"/><Relationship Id="rId4" Type="http://schemas.openxmlformats.org/officeDocument/2006/relationships/image" Target="../media/image21.png"/><Relationship Id="rId5"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2.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science.nasa.gov/mission/kepler/" TargetMode="External"/><Relationship Id="rId4" Type="http://schemas.openxmlformats.org/officeDocument/2006/relationships/hyperlink" Target="https://science.nasa.gov/mission/kepler/" TargetMode="External"/><Relationship Id="rId5" Type="http://schemas.openxmlformats.org/officeDocument/2006/relationships/image" Target="../media/image1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8.xml"/><Relationship Id="rId3" Type="http://schemas.openxmlformats.org/officeDocument/2006/relationships/image" Target="../media/image28.png"/><Relationship Id="rId4" Type="http://schemas.openxmlformats.org/officeDocument/2006/relationships/image" Target="../media/image32.png"/><Relationship Id="rId5"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27.png"/><Relationship Id="rId5" Type="http://schemas.openxmlformats.org/officeDocument/2006/relationships/image" Target="../media/image26.png"/><Relationship Id="rId6"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41"/>
          <p:cNvSpPr txBox="1"/>
          <p:nvPr>
            <p:ph type="title"/>
          </p:nvPr>
        </p:nvSpPr>
        <p:spPr>
          <a:xfrm>
            <a:off x="228600" y="228600"/>
            <a:ext cx="7399500" cy="123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100"/>
              <a:buNone/>
            </a:pPr>
            <a:r>
              <a:rPr lang="en" sz="3900">
                <a:solidFill>
                  <a:schemeClr val="lt1"/>
                </a:solidFill>
                <a:latin typeface="Urbanist"/>
                <a:ea typeface="Urbanist"/>
                <a:cs typeface="Urbanist"/>
                <a:sym typeface="Urbanist"/>
              </a:rPr>
              <a:t>Stellar Label Estimates through use of Machine Learning</a:t>
            </a:r>
            <a:endParaRPr sz="4500">
              <a:solidFill>
                <a:schemeClr val="lt1"/>
              </a:solidFill>
              <a:latin typeface="Urbanist"/>
              <a:ea typeface="Urbanist"/>
              <a:cs typeface="Urbanist"/>
              <a:sym typeface="Urbanist"/>
            </a:endParaRPr>
          </a:p>
        </p:txBody>
      </p:sp>
      <p:sp>
        <p:nvSpPr>
          <p:cNvPr id="439" name="Google Shape;439;p41"/>
          <p:cNvSpPr txBox="1"/>
          <p:nvPr>
            <p:ph idx="1" type="subTitle"/>
          </p:nvPr>
        </p:nvSpPr>
        <p:spPr>
          <a:xfrm>
            <a:off x="222300" y="1467300"/>
            <a:ext cx="4402800" cy="252000"/>
          </a:xfrm>
          <a:prstGeom prst="rect">
            <a:avLst/>
          </a:prstGeom>
          <a:effectLst>
            <a:outerShdw blurRad="57150" rotWithShape="0" algn="bl" dir="5400000" dist="19050">
              <a:srgbClr val="000000">
                <a:alpha val="50000"/>
              </a:srgbClr>
            </a:outerShdw>
          </a:effectLst>
        </p:spPr>
        <p:txBody>
          <a:bodyPr anchorCtr="0" anchor="t" bIns="0" lIns="0" spcFirstLastPara="1" rIns="0" wrap="square" tIns="0">
            <a:noAutofit/>
          </a:bodyPr>
          <a:lstStyle/>
          <a:p>
            <a:pPr indent="0" lvl="0" marL="0" rtl="0" algn="l">
              <a:lnSpc>
                <a:spcPct val="85000"/>
              </a:lnSpc>
              <a:spcBef>
                <a:spcPts val="0"/>
              </a:spcBef>
              <a:spcAft>
                <a:spcPts val="0"/>
              </a:spcAft>
              <a:buNone/>
            </a:pPr>
            <a:r>
              <a:rPr lang="en">
                <a:solidFill>
                  <a:schemeClr val="lt1"/>
                </a:solidFill>
                <a:latin typeface="Urbanist Medium"/>
                <a:ea typeface="Urbanist Medium"/>
                <a:cs typeface="Urbanist Medium"/>
                <a:sym typeface="Urbanist Medium"/>
              </a:rPr>
              <a:t>G. Leigh Harwell</a:t>
            </a:r>
            <a:endParaRPr>
              <a:solidFill>
                <a:schemeClr val="lt1"/>
              </a:solidFill>
              <a:latin typeface="Urbanist Medium"/>
              <a:ea typeface="Urbanist Medium"/>
              <a:cs typeface="Urbanist Medium"/>
              <a:sym typeface="Urbanist Medium"/>
            </a:endParaRPr>
          </a:p>
        </p:txBody>
      </p:sp>
      <p:sp>
        <p:nvSpPr>
          <p:cNvPr id="440" name="Google Shape;440;p41"/>
          <p:cNvSpPr txBox="1"/>
          <p:nvPr>
            <p:ph idx="7" type="subTitle"/>
          </p:nvPr>
        </p:nvSpPr>
        <p:spPr>
          <a:xfrm>
            <a:off x="228591" y="4452725"/>
            <a:ext cx="4659600" cy="25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June 2026</a:t>
            </a:r>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42"/>
          <p:cNvSpPr txBox="1"/>
          <p:nvPr>
            <p:ph idx="4" type="subTitle"/>
          </p:nvPr>
        </p:nvSpPr>
        <p:spPr>
          <a:xfrm>
            <a:off x="228600" y="994500"/>
            <a:ext cx="4106100" cy="29415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1400"/>
              <a:t>Red giants are stars that exhaust the hydrogen in their core and have now started to burn it in its </a:t>
            </a:r>
            <a:r>
              <a:rPr lang="en" sz="1400"/>
              <a:t>outer layers</a:t>
            </a:r>
            <a:r>
              <a:rPr lang="en" sz="1400"/>
              <a:t>. Eventually these stars have a helium flash and burn helium in their core.</a:t>
            </a:r>
            <a:endParaRPr sz="1400"/>
          </a:p>
          <a:p>
            <a:pPr indent="0" lvl="0" marL="0" rtl="0" algn="l">
              <a:lnSpc>
                <a:spcPct val="115000"/>
              </a:lnSpc>
              <a:spcBef>
                <a:spcPts val="0"/>
              </a:spcBef>
              <a:spcAft>
                <a:spcPts val="0"/>
              </a:spcAft>
              <a:buNone/>
            </a:pPr>
            <a:r>
              <a:t/>
            </a:r>
            <a:endParaRPr sz="1400"/>
          </a:p>
          <a:p>
            <a:pPr indent="0" lvl="0" marL="0" rtl="0" algn="l">
              <a:lnSpc>
                <a:spcPct val="115000"/>
              </a:lnSpc>
              <a:spcBef>
                <a:spcPts val="0"/>
              </a:spcBef>
              <a:spcAft>
                <a:spcPts val="0"/>
              </a:spcAft>
              <a:buNone/>
            </a:pPr>
            <a:r>
              <a:rPr lang="en" sz="1400"/>
              <a:t>Red giants are significant to galactic archaeology.</a:t>
            </a:r>
            <a:endParaRPr sz="1400"/>
          </a:p>
          <a:p>
            <a:pPr indent="-317500" lvl="0" marL="457200" rtl="0" algn="l">
              <a:lnSpc>
                <a:spcPct val="115000"/>
              </a:lnSpc>
              <a:spcBef>
                <a:spcPts val="0"/>
              </a:spcBef>
              <a:spcAft>
                <a:spcPts val="0"/>
              </a:spcAft>
              <a:buSzPts val="1400"/>
              <a:buChar char="●"/>
            </a:pPr>
            <a:r>
              <a:rPr lang="en" sz="1400"/>
              <a:t>They are very bright, allowing us to see them from large distances</a:t>
            </a:r>
            <a:endParaRPr sz="1400"/>
          </a:p>
          <a:p>
            <a:pPr indent="-317500" lvl="0" marL="457200" rtl="0" algn="l">
              <a:lnSpc>
                <a:spcPct val="115000"/>
              </a:lnSpc>
              <a:spcBef>
                <a:spcPts val="0"/>
              </a:spcBef>
              <a:spcAft>
                <a:spcPts val="0"/>
              </a:spcAft>
              <a:buSzPts val="1400"/>
              <a:buChar char="●"/>
            </a:pPr>
            <a:r>
              <a:rPr lang="en" sz="1400"/>
              <a:t>Allow us to map out the structure of the Milky Way</a:t>
            </a:r>
            <a:endParaRPr sz="1400"/>
          </a:p>
          <a:p>
            <a:pPr indent="-317500" lvl="0" marL="457200" rtl="0" algn="l">
              <a:lnSpc>
                <a:spcPct val="115000"/>
              </a:lnSpc>
              <a:spcBef>
                <a:spcPts val="0"/>
              </a:spcBef>
              <a:spcAft>
                <a:spcPts val="0"/>
              </a:spcAft>
              <a:buSzPts val="1400"/>
              <a:buChar char="●"/>
            </a:pPr>
            <a:r>
              <a:rPr lang="en" sz="1400"/>
              <a:t>Key observables in understanding how our G</a:t>
            </a:r>
            <a:r>
              <a:rPr lang="en" sz="1400"/>
              <a:t>alaxy</a:t>
            </a:r>
            <a:r>
              <a:rPr lang="en" sz="1400"/>
              <a:t> has formed and evolved </a:t>
            </a:r>
            <a:endParaRPr sz="1400"/>
          </a:p>
        </p:txBody>
      </p:sp>
      <p:sp>
        <p:nvSpPr>
          <p:cNvPr id="446" name="Google Shape;446;p42"/>
          <p:cNvSpPr txBox="1"/>
          <p:nvPr>
            <p:ph idx="19" type="title"/>
          </p:nvPr>
        </p:nvSpPr>
        <p:spPr>
          <a:xfrm>
            <a:off x="228600" y="457200"/>
            <a:ext cx="39045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Red Giant Stars</a:t>
            </a:r>
            <a:endParaRPr/>
          </a:p>
        </p:txBody>
      </p:sp>
      <p:pic>
        <p:nvPicPr>
          <p:cNvPr descr="Chandra :: Educational Materials :: Pulsating Variable Stars and the Hertzsprung-Russell Diagram" id="447" name="Google Shape;447;p42"/>
          <p:cNvPicPr preferRelativeResize="0"/>
          <p:nvPr/>
        </p:nvPicPr>
        <p:blipFill>
          <a:blip r:embed="rId3">
            <a:alphaModFix/>
          </a:blip>
          <a:stretch>
            <a:fillRect/>
          </a:stretch>
        </p:blipFill>
        <p:spPr>
          <a:xfrm>
            <a:off x="4469425" y="426038"/>
            <a:ext cx="4257675" cy="4257675"/>
          </a:xfrm>
          <a:prstGeom prst="rect">
            <a:avLst/>
          </a:prstGeom>
          <a:noFill/>
          <a:ln>
            <a:noFill/>
          </a:ln>
        </p:spPr>
      </p:pic>
      <p:sp>
        <p:nvSpPr>
          <p:cNvPr id="448" name="Google Shape;448;p42"/>
          <p:cNvSpPr txBox="1"/>
          <p:nvPr/>
        </p:nvSpPr>
        <p:spPr>
          <a:xfrm>
            <a:off x="4618950" y="4681475"/>
            <a:ext cx="4257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latin typeface="Urbanist"/>
                <a:ea typeface="Urbanist"/>
                <a:cs typeface="Urbanist"/>
                <a:sym typeface="Urbanist"/>
              </a:rPr>
              <a:t>Image credit: </a:t>
            </a:r>
            <a:r>
              <a:rPr lang="en" sz="900" u="sng">
                <a:solidFill>
                  <a:schemeClr val="dk2"/>
                </a:solidFill>
                <a:latin typeface="Urbanist"/>
                <a:ea typeface="Urbanist"/>
                <a:cs typeface="Urbanist"/>
                <a:sym typeface="Urbanist"/>
                <a:hlinkClick r:id="rId4">
                  <a:extLst>
                    <a:ext uri="{A12FA001-AC4F-418D-AE19-62706E023703}">
                      <ahyp:hlinkClr val="tx"/>
                    </a:ext>
                  </a:extLst>
                </a:hlinkClick>
              </a:rPr>
              <a:t>Chandra :: Educational Materials :: Pulsating Variable Stars and the Hertzsprung-Russell Diagram</a:t>
            </a:r>
            <a:endParaRPr sz="1200">
              <a:solidFill>
                <a:schemeClr val="dk2"/>
              </a:solidFill>
              <a:latin typeface="Urbanist"/>
              <a:ea typeface="Urbanist"/>
              <a:cs typeface="Urbanist"/>
              <a:sym typeface="Urbanist"/>
            </a:endParaRPr>
          </a:p>
        </p:txBody>
      </p:sp>
      <p:sp>
        <p:nvSpPr>
          <p:cNvPr id="449" name="Google Shape;449;p42"/>
          <p:cNvSpPr txBox="1"/>
          <p:nvPr/>
        </p:nvSpPr>
        <p:spPr>
          <a:xfrm>
            <a:off x="228600" y="47122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accent1"/>
                </a:solidFill>
                <a:latin typeface="Urbanist"/>
                <a:ea typeface="Urbanist"/>
                <a:cs typeface="Urbanist"/>
                <a:sym typeface="Urbanist"/>
              </a:rPr>
              <a:t>Wikipedia contributors. (n.d.). </a:t>
            </a:r>
            <a:r>
              <a:rPr i="1" lang="en" sz="700">
                <a:solidFill>
                  <a:schemeClr val="accent1"/>
                </a:solidFill>
                <a:latin typeface="Urbanist"/>
                <a:ea typeface="Urbanist"/>
                <a:cs typeface="Urbanist"/>
                <a:sym typeface="Urbanist"/>
              </a:rPr>
              <a:t>Red giant</a:t>
            </a:r>
            <a:r>
              <a:rPr lang="en" sz="700">
                <a:solidFill>
                  <a:schemeClr val="accent1"/>
                </a:solidFill>
                <a:latin typeface="Urbanist"/>
                <a:ea typeface="Urbanist"/>
                <a:cs typeface="Urbanist"/>
                <a:sym typeface="Urbanist"/>
              </a:rPr>
              <a:t>. In </a:t>
            </a:r>
            <a:r>
              <a:rPr i="1" lang="en" sz="700">
                <a:solidFill>
                  <a:schemeClr val="accent1"/>
                </a:solidFill>
                <a:latin typeface="Urbanist"/>
                <a:ea typeface="Urbanist"/>
                <a:cs typeface="Urbanist"/>
                <a:sym typeface="Urbanist"/>
              </a:rPr>
              <a:t>Wikipedia</a:t>
            </a:r>
            <a:r>
              <a:rPr lang="en" sz="700">
                <a:solidFill>
                  <a:schemeClr val="accent1"/>
                </a:solidFill>
                <a:latin typeface="Urbanist"/>
                <a:ea typeface="Urbanist"/>
                <a:cs typeface="Urbanist"/>
                <a:sym typeface="Urbanist"/>
              </a:rPr>
              <a:t>. Retrieved July 20, 2026, from</a:t>
            </a:r>
            <a:r>
              <a:rPr lang="en" sz="700">
                <a:solidFill>
                  <a:schemeClr val="accent1"/>
                </a:solidFill>
                <a:uFill>
                  <a:noFill/>
                </a:uFill>
                <a:latin typeface="Urbanist"/>
                <a:ea typeface="Urbanist"/>
                <a:cs typeface="Urbanist"/>
                <a:sym typeface="Urbanist"/>
                <a:hlinkClick r:id="rId5">
                  <a:extLst>
                    <a:ext uri="{A12FA001-AC4F-418D-AE19-62706E023703}">
                      <ahyp:hlinkClr val="tx"/>
                    </a:ext>
                  </a:extLst>
                </a:hlinkClick>
              </a:rPr>
              <a:t> </a:t>
            </a:r>
            <a:r>
              <a:rPr lang="en" sz="700" u="sng">
                <a:solidFill>
                  <a:schemeClr val="accent1"/>
                </a:solidFill>
                <a:latin typeface="Urbanist"/>
                <a:ea typeface="Urbanist"/>
                <a:cs typeface="Urbanist"/>
                <a:sym typeface="Urbanist"/>
                <a:hlinkClick r:id="rId6">
                  <a:extLst>
                    <a:ext uri="{A12FA001-AC4F-418D-AE19-62706E023703}">
                      <ahyp:hlinkClr val="tx"/>
                    </a:ext>
                  </a:extLst>
                </a:hlinkClick>
              </a:rPr>
              <a:t>https://en.wikipedia.org/wiki/Red_giant</a:t>
            </a:r>
            <a:endParaRPr sz="700">
              <a:solidFill>
                <a:schemeClr val="accent1"/>
              </a:solidFill>
              <a:latin typeface="Urbanist"/>
              <a:ea typeface="Urbanist"/>
              <a:cs typeface="Urbanist"/>
              <a:sym typeface="Urbanis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3"/>
          <p:cNvSpPr txBox="1"/>
          <p:nvPr>
            <p:ph idx="4" type="subTitle"/>
          </p:nvPr>
        </p:nvSpPr>
        <p:spPr>
          <a:xfrm>
            <a:off x="228600" y="994500"/>
            <a:ext cx="4126800" cy="36849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1400"/>
              <a:t>Red giants are stars that exhaust the hydrogen in their core and have now started to burn it in its outer layers. Eventually these stars have a helium flash and burn helium in their core.</a:t>
            </a:r>
            <a:endParaRPr sz="1400"/>
          </a:p>
          <a:p>
            <a:pPr indent="0" lvl="0" marL="0" rtl="0" algn="l">
              <a:lnSpc>
                <a:spcPct val="115000"/>
              </a:lnSpc>
              <a:spcBef>
                <a:spcPts val="0"/>
              </a:spcBef>
              <a:spcAft>
                <a:spcPts val="0"/>
              </a:spcAft>
              <a:buNone/>
            </a:pPr>
            <a:r>
              <a:t/>
            </a:r>
            <a:endParaRPr sz="1400"/>
          </a:p>
          <a:p>
            <a:pPr indent="0" lvl="0" marL="0" rtl="0" algn="l">
              <a:lnSpc>
                <a:spcPct val="115000"/>
              </a:lnSpc>
              <a:spcBef>
                <a:spcPts val="0"/>
              </a:spcBef>
              <a:spcAft>
                <a:spcPts val="0"/>
              </a:spcAft>
              <a:buNone/>
            </a:pPr>
            <a:r>
              <a:rPr lang="en" sz="1400"/>
              <a:t>Red giants are significant to galactic archaeology.</a:t>
            </a:r>
            <a:endParaRPr sz="1400"/>
          </a:p>
          <a:p>
            <a:pPr indent="-317500" lvl="0" marL="457200" rtl="0" algn="l">
              <a:lnSpc>
                <a:spcPct val="115000"/>
              </a:lnSpc>
              <a:spcBef>
                <a:spcPts val="0"/>
              </a:spcBef>
              <a:spcAft>
                <a:spcPts val="0"/>
              </a:spcAft>
              <a:buSzPts val="1400"/>
              <a:buChar char="●"/>
            </a:pPr>
            <a:r>
              <a:rPr lang="en" sz="1400"/>
              <a:t>They are very bright, allowing us to see them from large distances</a:t>
            </a:r>
            <a:endParaRPr sz="1400"/>
          </a:p>
          <a:p>
            <a:pPr indent="-317500" lvl="0" marL="457200" rtl="0" algn="l">
              <a:lnSpc>
                <a:spcPct val="115000"/>
              </a:lnSpc>
              <a:spcBef>
                <a:spcPts val="0"/>
              </a:spcBef>
              <a:spcAft>
                <a:spcPts val="0"/>
              </a:spcAft>
              <a:buSzPts val="1400"/>
              <a:buChar char="●"/>
            </a:pPr>
            <a:r>
              <a:rPr lang="en" sz="1400"/>
              <a:t>Allow us to map out the structure of the Milky Way</a:t>
            </a:r>
            <a:endParaRPr sz="1400"/>
          </a:p>
          <a:p>
            <a:pPr indent="-317500" lvl="0" marL="457200" rtl="0" algn="l">
              <a:lnSpc>
                <a:spcPct val="115000"/>
              </a:lnSpc>
              <a:spcBef>
                <a:spcPts val="0"/>
              </a:spcBef>
              <a:spcAft>
                <a:spcPts val="0"/>
              </a:spcAft>
              <a:buSzPts val="1400"/>
              <a:buChar char="●"/>
            </a:pPr>
            <a:r>
              <a:rPr lang="en" sz="1400"/>
              <a:t>Key observables in understanding how our Galaxy has formed and evolved </a:t>
            </a:r>
            <a:endParaRPr sz="1400"/>
          </a:p>
          <a:p>
            <a:pPr indent="0" lvl="0" marL="0" rtl="0" algn="l">
              <a:lnSpc>
                <a:spcPct val="115000"/>
              </a:lnSpc>
              <a:spcBef>
                <a:spcPts val="0"/>
              </a:spcBef>
              <a:spcAft>
                <a:spcPts val="0"/>
              </a:spcAft>
              <a:buNone/>
            </a:pPr>
            <a:r>
              <a:t/>
            </a:r>
            <a:endParaRPr sz="1400"/>
          </a:p>
          <a:p>
            <a:pPr indent="0" lvl="0" marL="0" rtl="0" algn="l">
              <a:lnSpc>
                <a:spcPct val="115000"/>
              </a:lnSpc>
              <a:spcBef>
                <a:spcPts val="0"/>
              </a:spcBef>
              <a:spcAft>
                <a:spcPts val="0"/>
              </a:spcAft>
              <a:buNone/>
            </a:pPr>
            <a:r>
              <a:rPr lang="en" sz="1400"/>
              <a:t>However there are two different </a:t>
            </a:r>
            <a:r>
              <a:rPr lang="en" sz="1400"/>
              <a:t>types</a:t>
            </a:r>
            <a:r>
              <a:rPr lang="en" sz="1400"/>
              <a:t> of Red Giants.</a:t>
            </a:r>
            <a:endParaRPr sz="1400"/>
          </a:p>
        </p:txBody>
      </p:sp>
      <p:sp>
        <p:nvSpPr>
          <p:cNvPr id="455" name="Google Shape;455;p43"/>
          <p:cNvSpPr txBox="1"/>
          <p:nvPr>
            <p:ph idx="19" type="title"/>
          </p:nvPr>
        </p:nvSpPr>
        <p:spPr>
          <a:xfrm>
            <a:off x="228600" y="457200"/>
            <a:ext cx="39045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Red Giant Stars</a:t>
            </a:r>
            <a:endParaRPr/>
          </a:p>
        </p:txBody>
      </p:sp>
      <p:pic>
        <p:nvPicPr>
          <p:cNvPr descr="Chandra :: Educational Materials :: Pulsating Variable Stars and the Hertzsprung-Russell Diagram" id="456" name="Google Shape;456;p43"/>
          <p:cNvPicPr preferRelativeResize="0"/>
          <p:nvPr/>
        </p:nvPicPr>
        <p:blipFill>
          <a:blip r:embed="rId3">
            <a:alphaModFix/>
          </a:blip>
          <a:stretch>
            <a:fillRect/>
          </a:stretch>
        </p:blipFill>
        <p:spPr>
          <a:xfrm>
            <a:off x="4469425" y="426038"/>
            <a:ext cx="4257675" cy="4257675"/>
          </a:xfrm>
          <a:prstGeom prst="rect">
            <a:avLst/>
          </a:prstGeom>
          <a:noFill/>
          <a:ln>
            <a:noFill/>
          </a:ln>
        </p:spPr>
      </p:pic>
      <p:sp>
        <p:nvSpPr>
          <p:cNvPr id="457" name="Google Shape;457;p43"/>
          <p:cNvSpPr txBox="1"/>
          <p:nvPr/>
        </p:nvSpPr>
        <p:spPr>
          <a:xfrm>
            <a:off x="4618950" y="4681475"/>
            <a:ext cx="4257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2"/>
                </a:solidFill>
                <a:latin typeface="Urbanist"/>
                <a:ea typeface="Urbanist"/>
                <a:cs typeface="Urbanist"/>
                <a:sym typeface="Urbanist"/>
              </a:rPr>
              <a:t>Image credit: </a:t>
            </a:r>
            <a:r>
              <a:rPr lang="en" sz="900" u="sng">
                <a:solidFill>
                  <a:schemeClr val="dk2"/>
                </a:solidFill>
                <a:latin typeface="Urbanist"/>
                <a:ea typeface="Urbanist"/>
                <a:cs typeface="Urbanist"/>
                <a:sym typeface="Urbanist"/>
                <a:hlinkClick r:id="rId4">
                  <a:extLst>
                    <a:ext uri="{A12FA001-AC4F-418D-AE19-62706E023703}">
                      <ahyp:hlinkClr val="tx"/>
                    </a:ext>
                  </a:extLst>
                </a:hlinkClick>
              </a:rPr>
              <a:t>Chandra :: Educational Materials :: Pulsating Variable Stars and the Hertzsprung-Russell Diagram</a:t>
            </a:r>
            <a:endParaRPr sz="1200">
              <a:solidFill>
                <a:schemeClr val="dk2"/>
              </a:solidFill>
              <a:latin typeface="Urbanist"/>
              <a:ea typeface="Urbanist"/>
              <a:cs typeface="Urbanist"/>
              <a:sym typeface="Urbanist"/>
            </a:endParaRPr>
          </a:p>
        </p:txBody>
      </p:sp>
      <p:sp>
        <p:nvSpPr>
          <p:cNvPr id="458" name="Google Shape;458;p43"/>
          <p:cNvSpPr txBox="1"/>
          <p:nvPr/>
        </p:nvSpPr>
        <p:spPr>
          <a:xfrm>
            <a:off x="228600" y="47122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00">
                <a:solidFill>
                  <a:schemeClr val="accent1"/>
                </a:solidFill>
                <a:latin typeface="Urbanist"/>
                <a:ea typeface="Urbanist"/>
                <a:cs typeface="Urbanist"/>
                <a:sym typeface="Urbanist"/>
              </a:rPr>
              <a:t>Wikipedia contributors. (n.d.). </a:t>
            </a:r>
            <a:r>
              <a:rPr i="1" lang="en" sz="700">
                <a:solidFill>
                  <a:schemeClr val="accent1"/>
                </a:solidFill>
                <a:latin typeface="Urbanist"/>
                <a:ea typeface="Urbanist"/>
                <a:cs typeface="Urbanist"/>
                <a:sym typeface="Urbanist"/>
              </a:rPr>
              <a:t>Red giant</a:t>
            </a:r>
            <a:r>
              <a:rPr lang="en" sz="700">
                <a:solidFill>
                  <a:schemeClr val="accent1"/>
                </a:solidFill>
                <a:latin typeface="Urbanist"/>
                <a:ea typeface="Urbanist"/>
                <a:cs typeface="Urbanist"/>
                <a:sym typeface="Urbanist"/>
              </a:rPr>
              <a:t>. In </a:t>
            </a:r>
            <a:r>
              <a:rPr i="1" lang="en" sz="700">
                <a:solidFill>
                  <a:schemeClr val="accent1"/>
                </a:solidFill>
                <a:latin typeface="Urbanist"/>
                <a:ea typeface="Urbanist"/>
                <a:cs typeface="Urbanist"/>
                <a:sym typeface="Urbanist"/>
              </a:rPr>
              <a:t>Wikipedia</a:t>
            </a:r>
            <a:r>
              <a:rPr lang="en" sz="700">
                <a:solidFill>
                  <a:schemeClr val="accent1"/>
                </a:solidFill>
                <a:latin typeface="Urbanist"/>
                <a:ea typeface="Urbanist"/>
                <a:cs typeface="Urbanist"/>
                <a:sym typeface="Urbanist"/>
              </a:rPr>
              <a:t>. Retrieved July 20, 2026, from</a:t>
            </a:r>
            <a:r>
              <a:rPr lang="en" sz="700">
                <a:solidFill>
                  <a:schemeClr val="accent1"/>
                </a:solidFill>
                <a:uFill>
                  <a:noFill/>
                </a:uFill>
                <a:latin typeface="Urbanist"/>
                <a:ea typeface="Urbanist"/>
                <a:cs typeface="Urbanist"/>
                <a:sym typeface="Urbanist"/>
                <a:hlinkClick r:id="rId5">
                  <a:extLst>
                    <a:ext uri="{A12FA001-AC4F-418D-AE19-62706E023703}">
                      <ahyp:hlinkClr val="tx"/>
                    </a:ext>
                  </a:extLst>
                </a:hlinkClick>
              </a:rPr>
              <a:t> </a:t>
            </a:r>
            <a:r>
              <a:rPr lang="en" sz="700" u="sng">
                <a:solidFill>
                  <a:schemeClr val="accent1"/>
                </a:solidFill>
                <a:latin typeface="Urbanist"/>
                <a:ea typeface="Urbanist"/>
                <a:cs typeface="Urbanist"/>
                <a:sym typeface="Urbanist"/>
                <a:hlinkClick r:id="rId6">
                  <a:extLst>
                    <a:ext uri="{A12FA001-AC4F-418D-AE19-62706E023703}">
                      <ahyp:hlinkClr val="tx"/>
                    </a:ext>
                  </a:extLst>
                </a:hlinkClick>
              </a:rPr>
              <a:t>https://en.wikipedia.org/wiki/Red_giant</a:t>
            </a:r>
            <a:endParaRPr sz="700">
              <a:solidFill>
                <a:schemeClr val="accent1"/>
              </a:solidFill>
              <a:latin typeface="Urbanist"/>
              <a:ea typeface="Urbanist"/>
              <a:cs typeface="Urbanist"/>
              <a:sym typeface="Urbanis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2" name="Shape 462"/>
        <p:cNvGrpSpPr/>
        <p:nvPr/>
      </p:nvGrpSpPr>
      <p:grpSpPr>
        <a:xfrm>
          <a:off x="0" y="0"/>
          <a:ext cx="0" cy="0"/>
          <a:chOff x="0" y="0"/>
          <a:chExt cx="0" cy="0"/>
        </a:xfrm>
      </p:grpSpPr>
      <p:sp>
        <p:nvSpPr>
          <p:cNvPr id="463" name="Google Shape;463;p44"/>
          <p:cNvSpPr/>
          <p:nvPr/>
        </p:nvSpPr>
        <p:spPr>
          <a:xfrm>
            <a:off x="233850" y="2383725"/>
            <a:ext cx="3536700" cy="2202600"/>
          </a:xfrm>
          <a:prstGeom prst="roundRect">
            <a:avLst>
              <a:gd fmla="val 8765"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64" name="Google Shape;464;p44"/>
          <p:cNvSpPr txBox="1"/>
          <p:nvPr>
            <p:ph type="title"/>
          </p:nvPr>
        </p:nvSpPr>
        <p:spPr>
          <a:xfrm>
            <a:off x="438950" y="2541562"/>
            <a:ext cx="1862100" cy="293100"/>
          </a:xfrm>
          <a:prstGeom prst="rect">
            <a:avLst/>
          </a:prstGeom>
        </p:spPr>
        <p:txBody>
          <a:bodyPr anchorCtr="0" anchor="b" bIns="91425" lIns="0" spcFirstLastPara="1" rIns="91425" wrap="square" tIns="0">
            <a:noAutofit/>
          </a:bodyPr>
          <a:lstStyle/>
          <a:p>
            <a:pPr indent="0" lvl="0" marL="0" rtl="0" algn="l">
              <a:lnSpc>
                <a:spcPct val="85000"/>
              </a:lnSpc>
              <a:spcBef>
                <a:spcPts val="0"/>
              </a:spcBef>
              <a:spcAft>
                <a:spcPts val="0"/>
              </a:spcAft>
              <a:buNone/>
            </a:pPr>
            <a:r>
              <a:rPr lang="en">
                <a:solidFill>
                  <a:srgbClr val="EA9999"/>
                </a:solidFill>
                <a:latin typeface="Urbanist Medium"/>
                <a:ea typeface="Urbanist Medium"/>
                <a:cs typeface="Urbanist Medium"/>
                <a:sym typeface="Urbanist Medium"/>
              </a:rPr>
              <a:t>Red </a:t>
            </a:r>
            <a:r>
              <a:rPr lang="en">
                <a:solidFill>
                  <a:srgbClr val="EA9999"/>
                </a:solidFill>
                <a:latin typeface="Urbanist Medium"/>
                <a:ea typeface="Urbanist Medium"/>
                <a:cs typeface="Urbanist Medium"/>
                <a:sym typeface="Urbanist Medium"/>
              </a:rPr>
              <a:t>Giant</a:t>
            </a:r>
            <a:r>
              <a:rPr lang="en">
                <a:solidFill>
                  <a:srgbClr val="EA9999"/>
                </a:solidFill>
                <a:latin typeface="Urbanist Medium"/>
                <a:ea typeface="Urbanist Medium"/>
                <a:cs typeface="Urbanist Medium"/>
                <a:sym typeface="Urbanist Medium"/>
              </a:rPr>
              <a:t> Stars</a:t>
            </a:r>
            <a:endParaRPr>
              <a:solidFill>
                <a:srgbClr val="EA9999"/>
              </a:solidFill>
              <a:latin typeface="Urbanist Medium"/>
              <a:ea typeface="Urbanist Medium"/>
              <a:cs typeface="Urbanist Medium"/>
              <a:sym typeface="Urbanist Medium"/>
            </a:endParaRPr>
          </a:p>
        </p:txBody>
      </p:sp>
      <p:sp>
        <p:nvSpPr>
          <p:cNvPr id="465" name="Google Shape;465;p44"/>
          <p:cNvSpPr txBox="1"/>
          <p:nvPr>
            <p:ph idx="1" type="subTitle"/>
          </p:nvPr>
        </p:nvSpPr>
        <p:spPr>
          <a:xfrm>
            <a:off x="438950" y="2727544"/>
            <a:ext cx="1974600" cy="204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RGB</a:t>
            </a:r>
            <a:endParaRPr/>
          </a:p>
        </p:txBody>
      </p:sp>
      <p:sp>
        <p:nvSpPr>
          <p:cNvPr id="466" name="Google Shape;466;p44"/>
          <p:cNvSpPr txBox="1"/>
          <p:nvPr>
            <p:ph idx="2" type="subTitle"/>
          </p:nvPr>
        </p:nvSpPr>
        <p:spPr>
          <a:xfrm>
            <a:off x="438950" y="2972285"/>
            <a:ext cx="2444700" cy="228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100">
                <a:solidFill>
                  <a:schemeClr val="lt1"/>
                </a:solidFill>
              </a:rPr>
              <a:t>High mass Hydrogen burning shell</a:t>
            </a:r>
            <a:endParaRPr sz="1100">
              <a:solidFill>
                <a:schemeClr val="lt1"/>
              </a:solidFill>
            </a:endParaRPr>
          </a:p>
          <a:p>
            <a:pPr indent="0" lvl="0" marL="0" rtl="0" algn="l">
              <a:spcBef>
                <a:spcPts val="0"/>
              </a:spcBef>
              <a:spcAft>
                <a:spcPts val="0"/>
              </a:spcAft>
              <a:buNone/>
            </a:pPr>
            <a:r>
              <a:rPr lang="en" sz="1100">
                <a:solidFill>
                  <a:schemeClr val="lt1"/>
                </a:solidFill>
              </a:rPr>
              <a:t>Low period spacing</a:t>
            </a:r>
            <a:endParaRPr sz="1100">
              <a:solidFill>
                <a:schemeClr val="lt1"/>
              </a:solidFill>
            </a:endParaRPr>
          </a:p>
        </p:txBody>
      </p:sp>
      <p:sp>
        <p:nvSpPr>
          <p:cNvPr id="467" name="Google Shape;467;p44"/>
          <p:cNvSpPr txBox="1"/>
          <p:nvPr>
            <p:ph idx="3" type="title"/>
          </p:nvPr>
        </p:nvSpPr>
        <p:spPr>
          <a:xfrm>
            <a:off x="438950" y="3338479"/>
            <a:ext cx="1862100" cy="293100"/>
          </a:xfrm>
          <a:prstGeom prst="rect">
            <a:avLst/>
          </a:prstGeom>
        </p:spPr>
        <p:txBody>
          <a:bodyPr anchorCtr="0" anchor="b" bIns="91425" lIns="0" spcFirstLastPara="1" rIns="91425" wrap="square" tIns="0">
            <a:noAutofit/>
          </a:bodyPr>
          <a:lstStyle/>
          <a:p>
            <a:pPr indent="0" lvl="0" marL="0" rtl="0" algn="l">
              <a:lnSpc>
                <a:spcPct val="85000"/>
              </a:lnSpc>
              <a:spcBef>
                <a:spcPts val="0"/>
              </a:spcBef>
              <a:spcAft>
                <a:spcPts val="0"/>
              </a:spcAft>
              <a:buNone/>
            </a:pPr>
            <a:r>
              <a:rPr lang="en">
                <a:solidFill>
                  <a:srgbClr val="EA9999"/>
                </a:solidFill>
                <a:latin typeface="Urbanist Medium"/>
                <a:ea typeface="Urbanist Medium"/>
                <a:cs typeface="Urbanist Medium"/>
                <a:sym typeface="Urbanist Medium"/>
              </a:rPr>
              <a:t>Red Clump Stars</a:t>
            </a:r>
            <a:endParaRPr>
              <a:solidFill>
                <a:srgbClr val="EA9999"/>
              </a:solidFill>
              <a:latin typeface="Urbanist Medium"/>
              <a:ea typeface="Urbanist Medium"/>
              <a:cs typeface="Urbanist Medium"/>
              <a:sym typeface="Urbanist Medium"/>
            </a:endParaRPr>
          </a:p>
        </p:txBody>
      </p:sp>
      <p:sp>
        <p:nvSpPr>
          <p:cNvPr id="468" name="Google Shape;468;p44"/>
          <p:cNvSpPr txBox="1"/>
          <p:nvPr>
            <p:ph idx="4" type="subTitle"/>
          </p:nvPr>
        </p:nvSpPr>
        <p:spPr>
          <a:xfrm>
            <a:off x="438950" y="3546044"/>
            <a:ext cx="1974600" cy="204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RC</a:t>
            </a:r>
            <a:endParaRPr/>
          </a:p>
        </p:txBody>
      </p:sp>
      <p:sp>
        <p:nvSpPr>
          <p:cNvPr id="469" name="Google Shape;469;p44"/>
          <p:cNvSpPr txBox="1"/>
          <p:nvPr>
            <p:ph idx="5" type="subTitle"/>
          </p:nvPr>
        </p:nvSpPr>
        <p:spPr>
          <a:xfrm>
            <a:off x="429200" y="3750650"/>
            <a:ext cx="3227700" cy="3834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Clr>
                <a:schemeClr val="dk1"/>
              </a:buClr>
              <a:buSzPts val="1100"/>
              <a:buFont typeface="Arial"/>
              <a:buNone/>
            </a:pPr>
            <a:r>
              <a:rPr lang="en" sz="1100">
                <a:solidFill>
                  <a:schemeClr val="lt1"/>
                </a:solidFill>
                <a:latin typeface="Urbanist"/>
                <a:ea typeface="Urbanist"/>
                <a:cs typeface="Urbanist"/>
                <a:sym typeface="Urbanist"/>
              </a:rPr>
              <a:t>High-Mass star that ignites helium fusion in their cores resulting in a “helium flash”</a:t>
            </a:r>
            <a:endParaRPr sz="1100">
              <a:solidFill>
                <a:schemeClr val="lt1"/>
              </a:solidFill>
              <a:latin typeface="Urbanist"/>
              <a:ea typeface="Urbanist"/>
              <a:cs typeface="Urbanist"/>
              <a:sym typeface="Urbanist"/>
            </a:endParaRPr>
          </a:p>
          <a:p>
            <a:pPr indent="0" lvl="0" marL="0" rtl="0" algn="l">
              <a:lnSpc>
                <a:spcPct val="100000"/>
              </a:lnSpc>
              <a:spcBef>
                <a:spcPts val="0"/>
              </a:spcBef>
              <a:spcAft>
                <a:spcPts val="0"/>
              </a:spcAft>
              <a:buClr>
                <a:schemeClr val="dk1"/>
              </a:buClr>
              <a:buSzPts val="1100"/>
              <a:buFont typeface="Arial"/>
              <a:buNone/>
            </a:pPr>
            <a:r>
              <a:rPr lang="en" sz="1100">
                <a:latin typeface="Urbanist"/>
                <a:ea typeface="Urbanist"/>
                <a:cs typeface="Urbanist"/>
                <a:sym typeface="Urbanist"/>
              </a:rPr>
              <a:t>High period spacing</a:t>
            </a:r>
            <a:endParaRPr sz="1100">
              <a:solidFill>
                <a:schemeClr val="lt1"/>
              </a:solidFill>
              <a:latin typeface="Urbanist"/>
              <a:ea typeface="Urbanist"/>
              <a:cs typeface="Urbanist"/>
              <a:sym typeface="Urbanist"/>
            </a:endParaRPr>
          </a:p>
          <a:p>
            <a:pPr indent="0" lvl="0" marL="0" rtl="0" algn="l">
              <a:spcBef>
                <a:spcPts val="0"/>
              </a:spcBef>
              <a:spcAft>
                <a:spcPts val="0"/>
              </a:spcAft>
              <a:buNone/>
            </a:pPr>
            <a:r>
              <a:t/>
            </a:r>
            <a:endParaRPr sz="1100">
              <a:solidFill>
                <a:schemeClr val="lt1"/>
              </a:solidFill>
              <a:latin typeface="Urbanist"/>
              <a:ea typeface="Urbanist"/>
              <a:cs typeface="Urbanist"/>
              <a:sym typeface="Urbanist"/>
            </a:endParaRPr>
          </a:p>
        </p:txBody>
      </p:sp>
      <p:sp>
        <p:nvSpPr>
          <p:cNvPr id="470" name="Google Shape;470;p44"/>
          <p:cNvSpPr txBox="1"/>
          <p:nvPr>
            <p:ph idx="6" type="title"/>
          </p:nvPr>
        </p:nvSpPr>
        <p:spPr>
          <a:xfrm>
            <a:off x="233850" y="228600"/>
            <a:ext cx="2786700" cy="666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400">
                <a:latin typeface="Urbanist Medium"/>
                <a:ea typeface="Urbanist Medium"/>
                <a:cs typeface="Urbanist Medium"/>
                <a:sym typeface="Urbanist Medium"/>
              </a:rPr>
              <a:t>Red Giant Branch vs Red Clump Stars</a:t>
            </a:r>
            <a:endParaRPr sz="3400">
              <a:latin typeface="Urbanist Medium"/>
              <a:ea typeface="Urbanist Medium"/>
              <a:cs typeface="Urbanist Medium"/>
              <a:sym typeface="Urbanist Medium"/>
            </a:endParaRPr>
          </a:p>
        </p:txBody>
      </p:sp>
      <p:sp>
        <p:nvSpPr>
          <p:cNvPr id="471" name="Google Shape;471;p44"/>
          <p:cNvSpPr txBox="1"/>
          <p:nvPr>
            <p:ph idx="9" type="subTitle"/>
          </p:nvPr>
        </p:nvSpPr>
        <p:spPr>
          <a:xfrm>
            <a:off x="309775" y="4865125"/>
            <a:ext cx="8761800" cy="236400"/>
          </a:xfrm>
          <a:prstGeom prst="rect">
            <a:avLst/>
          </a:prstGeom>
        </p:spPr>
        <p:txBody>
          <a:bodyPr anchorCtr="0" anchor="b" bIns="0" lIns="0" spcFirstLastPara="1" rIns="0" wrap="square" tIns="0">
            <a:noAutofit/>
          </a:bodyPr>
          <a:lstStyle/>
          <a:p>
            <a:pPr indent="0" lvl="0" marL="0" rtl="0" algn="l">
              <a:lnSpc>
                <a:spcPct val="115000"/>
              </a:lnSpc>
              <a:spcBef>
                <a:spcPts val="0"/>
              </a:spcBef>
              <a:spcAft>
                <a:spcPts val="0"/>
              </a:spcAft>
              <a:buClr>
                <a:schemeClr val="dk1"/>
              </a:buClr>
              <a:buSzPts val="1100"/>
              <a:buNone/>
            </a:pPr>
            <a:r>
              <a:rPr lang="en">
                <a:solidFill>
                  <a:srgbClr val="FFFFFF"/>
                </a:solidFill>
                <a:latin typeface="Urbanist"/>
                <a:ea typeface="Urbanist"/>
                <a:cs typeface="Urbanist"/>
                <a:sym typeface="Urbanist"/>
              </a:rPr>
              <a:t>Hawkins, K., Ting, Y.-S., &amp; Rix, H.-W. (2017). Photospheric diagnostics of core helium burning in giantstars. arXiv e-prints, arXiv:1712.02405 (Accepted to The Astrophysical Journal). </a:t>
            </a:r>
            <a:endParaRPr/>
          </a:p>
        </p:txBody>
      </p:sp>
      <p:pic>
        <p:nvPicPr>
          <p:cNvPr id="472" name="Google Shape;472;p44"/>
          <p:cNvPicPr preferRelativeResize="0"/>
          <p:nvPr/>
        </p:nvPicPr>
        <p:blipFill>
          <a:blip r:embed="rId4">
            <a:alphaModFix/>
          </a:blip>
          <a:stretch>
            <a:fillRect/>
          </a:stretch>
        </p:blipFill>
        <p:spPr>
          <a:xfrm>
            <a:off x="4195088" y="1035300"/>
            <a:ext cx="4270500" cy="3072900"/>
          </a:xfrm>
          <a:prstGeom prst="roundRect">
            <a:avLst>
              <a:gd fmla="val 16667" name="adj"/>
            </a:avLst>
          </a:prstGeom>
          <a:noFill/>
          <a:ln>
            <a:noFill/>
          </a:ln>
        </p:spPr>
      </p:pic>
      <p:sp>
        <p:nvSpPr>
          <p:cNvPr id="473" name="Google Shape;473;p44"/>
          <p:cNvSpPr txBox="1"/>
          <p:nvPr/>
        </p:nvSpPr>
        <p:spPr>
          <a:xfrm>
            <a:off x="233850" y="1811825"/>
            <a:ext cx="3142200" cy="29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Best classification method through </a:t>
            </a:r>
            <a:r>
              <a:rPr lang="en" sz="1200">
                <a:solidFill>
                  <a:schemeClr val="lt1"/>
                </a:solidFill>
                <a:latin typeface="Urbanist"/>
                <a:ea typeface="Urbanist"/>
                <a:cs typeface="Urbanist"/>
                <a:sym typeface="Urbanist"/>
              </a:rPr>
              <a:t>Asteroseismology</a:t>
            </a:r>
            <a:endParaRPr sz="1200">
              <a:solidFill>
                <a:schemeClr val="lt1"/>
              </a:solidFill>
              <a:latin typeface="Urbanist"/>
              <a:ea typeface="Urbanist"/>
              <a:cs typeface="Urbanist"/>
              <a:sym typeface="Urbanis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7" name="Shape 477"/>
        <p:cNvGrpSpPr/>
        <p:nvPr/>
      </p:nvGrpSpPr>
      <p:grpSpPr>
        <a:xfrm>
          <a:off x="0" y="0"/>
          <a:ext cx="0" cy="0"/>
          <a:chOff x="0" y="0"/>
          <a:chExt cx="0" cy="0"/>
        </a:xfrm>
      </p:grpSpPr>
      <p:sp>
        <p:nvSpPr>
          <p:cNvPr id="478" name="Google Shape;478;p45"/>
          <p:cNvSpPr/>
          <p:nvPr/>
        </p:nvSpPr>
        <p:spPr>
          <a:xfrm>
            <a:off x="233850" y="2383725"/>
            <a:ext cx="3536700" cy="2202600"/>
          </a:xfrm>
          <a:prstGeom prst="roundRect">
            <a:avLst>
              <a:gd fmla="val 8765"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79" name="Google Shape;479;p45"/>
          <p:cNvSpPr txBox="1"/>
          <p:nvPr>
            <p:ph type="title"/>
          </p:nvPr>
        </p:nvSpPr>
        <p:spPr>
          <a:xfrm>
            <a:off x="438950" y="2541562"/>
            <a:ext cx="1862100" cy="293100"/>
          </a:xfrm>
          <a:prstGeom prst="rect">
            <a:avLst/>
          </a:prstGeom>
        </p:spPr>
        <p:txBody>
          <a:bodyPr anchorCtr="0" anchor="b" bIns="91425" lIns="0" spcFirstLastPara="1" rIns="91425" wrap="square" tIns="0">
            <a:noAutofit/>
          </a:bodyPr>
          <a:lstStyle/>
          <a:p>
            <a:pPr indent="0" lvl="0" marL="0" rtl="0" algn="l">
              <a:lnSpc>
                <a:spcPct val="85000"/>
              </a:lnSpc>
              <a:spcBef>
                <a:spcPts val="0"/>
              </a:spcBef>
              <a:spcAft>
                <a:spcPts val="0"/>
              </a:spcAft>
              <a:buNone/>
            </a:pPr>
            <a:r>
              <a:rPr lang="en">
                <a:solidFill>
                  <a:srgbClr val="EA9999"/>
                </a:solidFill>
                <a:latin typeface="Urbanist Medium"/>
                <a:ea typeface="Urbanist Medium"/>
                <a:cs typeface="Urbanist Medium"/>
                <a:sym typeface="Urbanist Medium"/>
              </a:rPr>
              <a:t>Red Giant Stars</a:t>
            </a:r>
            <a:endParaRPr>
              <a:solidFill>
                <a:srgbClr val="EA9999"/>
              </a:solidFill>
              <a:latin typeface="Urbanist Medium"/>
              <a:ea typeface="Urbanist Medium"/>
              <a:cs typeface="Urbanist Medium"/>
              <a:sym typeface="Urbanist Medium"/>
            </a:endParaRPr>
          </a:p>
        </p:txBody>
      </p:sp>
      <p:sp>
        <p:nvSpPr>
          <p:cNvPr id="480" name="Google Shape;480;p45"/>
          <p:cNvSpPr txBox="1"/>
          <p:nvPr>
            <p:ph idx="1" type="subTitle"/>
          </p:nvPr>
        </p:nvSpPr>
        <p:spPr>
          <a:xfrm>
            <a:off x="438950" y="2727544"/>
            <a:ext cx="1974600" cy="204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RGB</a:t>
            </a:r>
            <a:endParaRPr/>
          </a:p>
        </p:txBody>
      </p:sp>
      <p:sp>
        <p:nvSpPr>
          <p:cNvPr id="481" name="Google Shape;481;p45"/>
          <p:cNvSpPr txBox="1"/>
          <p:nvPr>
            <p:ph idx="2" type="subTitle"/>
          </p:nvPr>
        </p:nvSpPr>
        <p:spPr>
          <a:xfrm>
            <a:off x="438950" y="2972285"/>
            <a:ext cx="2444700" cy="228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100">
                <a:solidFill>
                  <a:schemeClr val="lt1"/>
                </a:solidFill>
              </a:rPr>
              <a:t>High mass Hydrogen burning shell</a:t>
            </a:r>
            <a:endParaRPr sz="1100">
              <a:solidFill>
                <a:schemeClr val="lt1"/>
              </a:solidFill>
            </a:endParaRPr>
          </a:p>
          <a:p>
            <a:pPr indent="0" lvl="0" marL="0" rtl="0" algn="l">
              <a:spcBef>
                <a:spcPts val="0"/>
              </a:spcBef>
              <a:spcAft>
                <a:spcPts val="0"/>
              </a:spcAft>
              <a:buNone/>
            </a:pPr>
            <a:r>
              <a:rPr lang="en" sz="1100">
                <a:solidFill>
                  <a:schemeClr val="lt1"/>
                </a:solidFill>
              </a:rPr>
              <a:t>Low period spacing</a:t>
            </a:r>
            <a:endParaRPr sz="1100">
              <a:solidFill>
                <a:schemeClr val="lt1"/>
              </a:solidFill>
            </a:endParaRPr>
          </a:p>
        </p:txBody>
      </p:sp>
      <p:sp>
        <p:nvSpPr>
          <p:cNvPr id="482" name="Google Shape;482;p45"/>
          <p:cNvSpPr txBox="1"/>
          <p:nvPr>
            <p:ph idx="3" type="title"/>
          </p:nvPr>
        </p:nvSpPr>
        <p:spPr>
          <a:xfrm>
            <a:off x="438950" y="3338479"/>
            <a:ext cx="1862100" cy="293100"/>
          </a:xfrm>
          <a:prstGeom prst="rect">
            <a:avLst/>
          </a:prstGeom>
        </p:spPr>
        <p:txBody>
          <a:bodyPr anchorCtr="0" anchor="b" bIns="91425" lIns="0" spcFirstLastPara="1" rIns="91425" wrap="square" tIns="0">
            <a:noAutofit/>
          </a:bodyPr>
          <a:lstStyle/>
          <a:p>
            <a:pPr indent="0" lvl="0" marL="0" rtl="0" algn="l">
              <a:lnSpc>
                <a:spcPct val="85000"/>
              </a:lnSpc>
              <a:spcBef>
                <a:spcPts val="0"/>
              </a:spcBef>
              <a:spcAft>
                <a:spcPts val="0"/>
              </a:spcAft>
              <a:buNone/>
            </a:pPr>
            <a:r>
              <a:rPr lang="en">
                <a:solidFill>
                  <a:srgbClr val="EA9999"/>
                </a:solidFill>
                <a:latin typeface="Urbanist Medium"/>
                <a:ea typeface="Urbanist Medium"/>
                <a:cs typeface="Urbanist Medium"/>
                <a:sym typeface="Urbanist Medium"/>
              </a:rPr>
              <a:t>Red Clump Stars</a:t>
            </a:r>
            <a:endParaRPr>
              <a:solidFill>
                <a:srgbClr val="EA9999"/>
              </a:solidFill>
              <a:latin typeface="Urbanist Medium"/>
              <a:ea typeface="Urbanist Medium"/>
              <a:cs typeface="Urbanist Medium"/>
              <a:sym typeface="Urbanist Medium"/>
            </a:endParaRPr>
          </a:p>
        </p:txBody>
      </p:sp>
      <p:sp>
        <p:nvSpPr>
          <p:cNvPr id="483" name="Google Shape;483;p45"/>
          <p:cNvSpPr txBox="1"/>
          <p:nvPr>
            <p:ph idx="4" type="subTitle"/>
          </p:nvPr>
        </p:nvSpPr>
        <p:spPr>
          <a:xfrm>
            <a:off x="438950" y="3546044"/>
            <a:ext cx="1974600" cy="2046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RC</a:t>
            </a:r>
            <a:endParaRPr/>
          </a:p>
        </p:txBody>
      </p:sp>
      <p:sp>
        <p:nvSpPr>
          <p:cNvPr id="484" name="Google Shape;484;p45"/>
          <p:cNvSpPr txBox="1"/>
          <p:nvPr>
            <p:ph idx="5" type="subTitle"/>
          </p:nvPr>
        </p:nvSpPr>
        <p:spPr>
          <a:xfrm>
            <a:off x="429200" y="3750650"/>
            <a:ext cx="3227700" cy="383400"/>
          </a:xfrm>
          <a:prstGeom prst="rect">
            <a:avLst/>
          </a:prstGeom>
        </p:spPr>
        <p:txBody>
          <a:bodyPr anchorCtr="0" anchor="t" bIns="91425" lIns="0" spcFirstLastPara="1" rIns="91425" wrap="square" tIns="0">
            <a:noAutofit/>
          </a:bodyPr>
          <a:lstStyle/>
          <a:p>
            <a:pPr indent="0" lvl="0" marL="0" rtl="0" algn="l">
              <a:lnSpc>
                <a:spcPct val="115000"/>
              </a:lnSpc>
              <a:spcBef>
                <a:spcPts val="0"/>
              </a:spcBef>
              <a:spcAft>
                <a:spcPts val="0"/>
              </a:spcAft>
              <a:buClr>
                <a:schemeClr val="dk1"/>
              </a:buClr>
              <a:buSzPts val="1100"/>
              <a:buFont typeface="Arial"/>
              <a:buNone/>
            </a:pPr>
            <a:r>
              <a:rPr lang="en" sz="1100">
                <a:solidFill>
                  <a:schemeClr val="lt1"/>
                </a:solidFill>
                <a:latin typeface="Urbanist"/>
                <a:ea typeface="Urbanist"/>
                <a:cs typeface="Urbanist"/>
                <a:sym typeface="Urbanist"/>
              </a:rPr>
              <a:t>High-Mass star that ignites helium fusion in their cores resulting in a “helium flash”</a:t>
            </a:r>
            <a:endParaRPr sz="1100">
              <a:solidFill>
                <a:schemeClr val="lt1"/>
              </a:solidFill>
              <a:latin typeface="Urbanist"/>
              <a:ea typeface="Urbanist"/>
              <a:cs typeface="Urbanist"/>
              <a:sym typeface="Urbanist"/>
            </a:endParaRPr>
          </a:p>
          <a:p>
            <a:pPr indent="0" lvl="0" marL="0" rtl="0" algn="l">
              <a:lnSpc>
                <a:spcPct val="100000"/>
              </a:lnSpc>
              <a:spcBef>
                <a:spcPts val="0"/>
              </a:spcBef>
              <a:spcAft>
                <a:spcPts val="0"/>
              </a:spcAft>
              <a:buClr>
                <a:schemeClr val="dk1"/>
              </a:buClr>
              <a:buSzPts val="1100"/>
              <a:buFont typeface="Arial"/>
              <a:buNone/>
            </a:pPr>
            <a:r>
              <a:rPr lang="en" sz="1100">
                <a:latin typeface="Urbanist"/>
                <a:ea typeface="Urbanist"/>
                <a:cs typeface="Urbanist"/>
                <a:sym typeface="Urbanist"/>
              </a:rPr>
              <a:t>High period spacing</a:t>
            </a:r>
            <a:endParaRPr sz="1100">
              <a:solidFill>
                <a:schemeClr val="lt1"/>
              </a:solidFill>
              <a:latin typeface="Urbanist"/>
              <a:ea typeface="Urbanist"/>
              <a:cs typeface="Urbanist"/>
              <a:sym typeface="Urbanist"/>
            </a:endParaRPr>
          </a:p>
          <a:p>
            <a:pPr indent="0" lvl="0" marL="0" rtl="0" algn="l">
              <a:spcBef>
                <a:spcPts val="0"/>
              </a:spcBef>
              <a:spcAft>
                <a:spcPts val="0"/>
              </a:spcAft>
              <a:buNone/>
            </a:pPr>
            <a:r>
              <a:t/>
            </a:r>
            <a:endParaRPr sz="1100">
              <a:solidFill>
                <a:schemeClr val="lt1"/>
              </a:solidFill>
              <a:latin typeface="Urbanist"/>
              <a:ea typeface="Urbanist"/>
              <a:cs typeface="Urbanist"/>
              <a:sym typeface="Urbanist"/>
            </a:endParaRPr>
          </a:p>
        </p:txBody>
      </p:sp>
      <p:sp>
        <p:nvSpPr>
          <p:cNvPr id="485" name="Google Shape;485;p45"/>
          <p:cNvSpPr txBox="1"/>
          <p:nvPr>
            <p:ph idx="6" type="title"/>
          </p:nvPr>
        </p:nvSpPr>
        <p:spPr>
          <a:xfrm>
            <a:off x="233850" y="228600"/>
            <a:ext cx="2786700" cy="666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400">
                <a:latin typeface="Urbanist Medium"/>
                <a:ea typeface="Urbanist Medium"/>
                <a:cs typeface="Urbanist Medium"/>
                <a:sym typeface="Urbanist Medium"/>
              </a:rPr>
              <a:t>Red Giant Branch vs Red Clump Stars</a:t>
            </a:r>
            <a:endParaRPr sz="3400">
              <a:latin typeface="Urbanist Medium"/>
              <a:ea typeface="Urbanist Medium"/>
              <a:cs typeface="Urbanist Medium"/>
              <a:sym typeface="Urbanist Medium"/>
            </a:endParaRPr>
          </a:p>
        </p:txBody>
      </p:sp>
      <p:sp>
        <p:nvSpPr>
          <p:cNvPr id="486" name="Google Shape;486;p45"/>
          <p:cNvSpPr txBox="1"/>
          <p:nvPr>
            <p:ph idx="9" type="subTitle"/>
          </p:nvPr>
        </p:nvSpPr>
        <p:spPr>
          <a:xfrm>
            <a:off x="309775" y="4865125"/>
            <a:ext cx="8761800" cy="236400"/>
          </a:xfrm>
          <a:prstGeom prst="rect">
            <a:avLst/>
          </a:prstGeom>
        </p:spPr>
        <p:txBody>
          <a:bodyPr anchorCtr="0" anchor="b" bIns="0" lIns="0" spcFirstLastPara="1" rIns="0" wrap="square" tIns="0">
            <a:noAutofit/>
          </a:bodyPr>
          <a:lstStyle/>
          <a:p>
            <a:pPr indent="0" lvl="0" marL="0" rtl="0" algn="l">
              <a:lnSpc>
                <a:spcPct val="115000"/>
              </a:lnSpc>
              <a:spcBef>
                <a:spcPts val="0"/>
              </a:spcBef>
              <a:spcAft>
                <a:spcPts val="0"/>
              </a:spcAft>
              <a:buClr>
                <a:schemeClr val="dk1"/>
              </a:buClr>
              <a:buSzPts val="1100"/>
              <a:buNone/>
            </a:pPr>
            <a:r>
              <a:rPr lang="en">
                <a:solidFill>
                  <a:srgbClr val="FFFFFF"/>
                </a:solidFill>
                <a:latin typeface="Urbanist"/>
                <a:ea typeface="Urbanist"/>
                <a:cs typeface="Urbanist"/>
                <a:sym typeface="Urbanist"/>
              </a:rPr>
              <a:t>Hawkins, K., Ting, Y.-S., &amp; Rix, H.-W. (2017). Photospheric diagnostics of core helium burning in giantstars. arXiv e-prints, arXiv:1712.02405 (Accepted to The Astrophysical Journal). </a:t>
            </a:r>
            <a:endParaRPr/>
          </a:p>
        </p:txBody>
      </p:sp>
      <p:sp>
        <p:nvSpPr>
          <p:cNvPr id="487" name="Google Shape;487;p45"/>
          <p:cNvSpPr txBox="1"/>
          <p:nvPr/>
        </p:nvSpPr>
        <p:spPr>
          <a:xfrm>
            <a:off x="233850" y="1811825"/>
            <a:ext cx="3142200" cy="29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Best classification method through Asteroseismology</a:t>
            </a:r>
            <a:endParaRPr sz="1200">
              <a:solidFill>
                <a:schemeClr val="lt1"/>
              </a:solidFill>
              <a:latin typeface="Urbanist"/>
              <a:ea typeface="Urbanist"/>
              <a:cs typeface="Urbanist"/>
              <a:sym typeface="Urbanist"/>
            </a:endParaRPr>
          </a:p>
        </p:txBody>
      </p:sp>
      <p:pic>
        <p:nvPicPr>
          <p:cNvPr id="488" name="Google Shape;488;p45" title="Screenshot 2026-06-09 at 11.00.20 AM.png"/>
          <p:cNvPicPr preferRelativeResize="0"/>
          <p:nvPr/>
        </p:nvPicPr>
        <p:blipFill>
          <a:blip r:embed="rId4">
            <a:alphaModFix/>
          </a:blip>
          <a:stretch>
            <a:fillRect/>
          </a:stretch>
        </p:blipFill>
        <p:spPr>
          <a:xfrm>
            <a:off x="4211257" y="733325"/>
            <a:ext cx="4526400" cy="3676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46"/>
          <p:cNvSpPr/>
          <p:nvPr/>
        </p:nvSpPr>
        <p:spPr>
          <a:xfrm>
            <a:off x="4367375" y="2765788"/>
            <a:ext cx="4376400" cy="1350300"/>
          </a:xfrm>
          <a:prstGeom prst="roundRect">
            <a:avLst>
              <a:gd fmla="val 8765"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pic>
        <p:nvPicPr>
          <p:cNvPr descr="Faint shadows in near total darkness. " id="494" name="Google Shape;494;p46"/>
          <p:cNvPicPr preferRelativeResize="0"/>
          <p:nvPr/>
        </p:nvPicPr>
        <p:blipFill rotWithShape="1">
          <a:blip r:embed="rId3">
            <a:alphaModFix/>
          </a:blip>
          <a:srcRect b="35140" l="0" r="15297" t="35140"/>
          <a:stretch/>
        </p:blipFill>
        <p:spPr>
          <a:xfrm>
            <a:off x="6594575" y="853600"/>
            <a:ext cx="2164800" cy="1350300"/>
          </a:xfrm>
          <a:prstGeom prst="roundRect">
            <a:avLst>
              <a:gd fmla="val 8765" name="adj"/>
            </a:avLst>
          </a:prstGeom>
          <a:noFill/>
          <a:ln cap="flat" cmpd="sng" w="9525">
            <a:solidFill>
              <a:schemeClr val="accent1"/>
            </a:solidFill>
            <a:prstDash val="solid"/>
            <a:round/>
            <a:headEnd len="sm" w="sm" type="none"/>
            <a:tailEnd len="sm" w="sm" type="none"/>
          </a:ln>
        </p:spPr>
      </p:pic>
      <p:sp>
        <p:nvSpPr>
          <p:cNvPr id="495" name="Google Shape;495;p46"/>
          <p:cNvSpPr txBox="1"/>
          <p:nvPr>
            <p:ph type="title"/>
          </p:nvPr>
        </p:nvSpPr>
        <p:spPr>
          <a:xfrm>
            <a:off x="228600" y="457200"/>
            <a:ext cx="3848400" cy="4449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dk1"/>
              </a:buClr>
              <a:buSzPts val="1100"/>
              <a:buNone/>
            </a:pPr>
            <a:r>
              <a:rPr lang="en"/>
              <a:t>Asteroseismology</a:t>
            </a:r>
            <a:endParaRPr/>
          </a:p>
        </p:txBody>
      </p:sp>
      <p:sp>
        <p:nvSpPr>
          <p:cNvPr id="496" name="Google Shape;496;p46"/>
          <p:cNvSpPr txBox="1"/>
          <p:nvPr>
            <p:ph idx="1" type="body"/>
          </p:nvPr>
        </p:nvSpPr>
        <p:spPr>
          <a:xfrm>
            <a:off x="228600" y="938725"/>
            <a:ext cx="3970800" cy="3406500"/>
          </a:xfrm>
          <a:prstGeom prst="rect">
            <a:avLst/>
          </a:prstGeom>
        </p:spPr>
        <p:txBody>
          <a:bodyPr anchorCtr="0" anchor="t" bIns="0" lIns="0" spcFirstLastPara="1" rIns="0" wrap="square" tIns="0">
            <a:noAutofit/>
          </a:bodyPr>
          <a:lstStyle/>
          <a:p>
            <a:pPr indent="-317500" lvl="0" marL="457200" rtl="0" algn="l">
              <a:spcBef>
                <a:spcPts val="0"/>
              </a:spcBef>
              <a:spcAft>
                <a:spcPts val="0"/>
              </a:spcAft>
              <a:buSzPts val="1400"/>
              <a:buChar char="●"/>
            </a:pPr>
            <a:r>
              <a:rPr lang="en" sz="1400"/>
              <a:t>Oscillations in stars from near-surface convection can have either or both p-mode or g-mode characteristics</a:t>
            </a:r>
            <a:endParaRPr sz="1400"/>
          </a:p>
          <a:p>
            <a:pPr indent="-317500" lvl="0" marL="457200" rtl="0" algn="l">
              <a:spcBef>
                <a:spcPts val="0"/>
              </a:spcBef>
              <a:spcAft>
                <a:spcPts val="0"/>
              </a:spcAft>
              <a:buSzPts val="1400"/>
              <a:buChar char="●"/>
            </a:pPr>
            <a:r>
              <a:rPr lang="en" sz="1400"/>
              <a:t>Stronger coupling between g-mode and p-mode leading to </a:t>
            </a:r>
            <a:r>
              <a:rPr lang="en" sz="1400"/>
              <a:t>appearance</a:t>
            </a:r>
            <a:r>
              <a:rPr lang="en" sz="1400"/>
              <a:t> of observable mixed modes in </a:t>
            </a:r>
            <a:r>
              <a:rPr lang="en" sz="1400"/>
              <a:t>oscillation</a:t>
            </a:r>
            <a:r>
              <a:rPr lang="en" sz="1400"/>
              <a:t> spectrum</a:t>
            </a:r>
            <a:endParaRPr sz="1400"/>
          </a:p>
          <a:p>
            <a:pPr indent="-317500" lvl="1" marL="914400" rtl="0" algn="l">
              <a:spcBef>
                <a:spcPts val="0"/>
              </a:spcBef>
              <a:spcAft>
                <a:spcPts val="0"/>
              </a:spcAft>
              <a:buSzPts val="1400"/>
              <a:buChar char="○"/>
            </a:pPr>
            <a:r>
              <a:rPr lang="en" sz="1400"/>
              <a:t>This can be caused by RC stars core having lower density than a RGB star</a:t>
            </a:r>
            <a:endParaRPr sz="1400"/>
          </a:p>
          <a:p>
            <a:pPr indent="0" lvl="0" marL="0" rtl="0" algn="l">
              <a:spcBef>
                <a:spcPts val="0"/>
              </a:spcBef>
              <a:spcAft>
                <a:spcPts val="0"/>
              </a:spcAft>
              <a:buClr>
                <a:schemeClr val="dk1"/>
              </a:buClr>
              <a:buSzPts val="1100"/>
              <a:buFont typeface="Arial"/>
              <a:buNone/>
            </a:pPr>
            <a:r>
              <a:t/>
            </a:r>
            <a:endParaRPr sz="1400"/>
          </a:p>
          <a:p>
            <a:pPr indent="0" lvl="0" marL="0" rtl="0" algn="l">
              <a:lnSpc>
                <a:spcPct val="115000"/>
              </a:lnSpc>
              <a:spcBef>
                <a:spcPts val="0"/>
              </a:spcBef>
              <a:spcAft>
                <a:spcPts val="0"/>
              </a:spcAft>
              <a:buClr>
                <a:schemeClr val="dk1"/>
              </a:buClr>
              <a:buSzPts val="1100"/>
              <a:buFont typeface="Arial"/>
              <a:buNone/>
            </a:pPr>
            <a:r>
              <a:rPr lang="en" sz="1400"/>
              <a:t>Period spacing are the time intervals between a star's mixed modes (p-mode and g-mode), vibrations that combine the characteristics of sound waves and gravity waves inside the star. </a:t>
            </a:r>
            <a:endParaRPr sz="1400"/>
          </a:p>
        </p:txBody>
      </p:sp>
      <p:sp>
        <p:nvSpPr>
          <p:cNvPr id="497" name="Google Shape;497;p46"/>
          <p:cNvSpPr txBox="1"/>
          <p:nvPr>
            <p:ph idx="5" type="subTitle"/>
          </p:nvPr>
        </p:nvSpPr>
        <p:spPr>
          <a:xfrm>
            <a:off x="345750" y="4907100"/>
            <a:ext cx="8452500" cy="2364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None/>
            </a:pPr>
            <a:r>
              <a:rPr lang="en"/>
              <a:t>Bedding Tim, Huber Daniel. “</a:t>
            </a:r>
            <a:r>
              <a:rPr lang="en">
                <a:latin typeface="Urbanist"/>
                <a:ea typeface="Urbanist"/>
                <a:cs typeface="Urbanist"/>
                <a:sym typeface="Urbanist"/>
              </a:rPr>
              <a:t>ASTR 5970 Lecture 16-Seismology.”</a:t>
            </a:r>
            <a:r>
              <a:rPr lang="en" u="sng">
                <a:latin typeface="Urbanist"/>
                <a:ea typeface="Urbanist"/>
                <a:cs typeface="Urbanist"/>
                <a:sym typeface="Urbanist"/>
                <a:hlinkClick r:id="rId4"/>
              </a:rPr>
              <a:t>https://docs.google.com/presentation/d/1n4gnIVjk0QskgZYAVGrrYui_9yyZ9EoGr3Z9NKOY4KY/edit?slide=id.g2feb84dece6_0_122#slide=id.g2feb84dece6_0_122</a:t>
            </a:r>
            <a:endParaRPr>
              <a:latin typeface="Urbanist"/>
              <a:ea typeface="Urbanist"/>
              <a:cs typeface="Urbanist"/>
              <a:sym typeface="Urbanist"/>
            </a:endParaRPr>
          </a:p>
          <a:p>
            <a:pPr indent="0" lvl="0" marL="0" rtl="0" algn="l">
              <a:lnSpc>
                <a:spcPct val="115000"/>
              </a:lnSpc>
              <a:spcBef>
                <a:spcPts val="0"/>
              </a:spcBef>
              <a:spcAft>
                <a:spcPts val="0"/>
              </a:spcAft>
              <a:buClr>
                <a:schemeClr val="dk1"/>
              </a:buClr>
              <a:buSzPts val="1100"/>
              <a:buNone/>
            </a:pPr>
            <a:r>
              <a:rPr b="1" lang="en">
                <a:latin typeface="Urbanist"/>
                <a:ea typeface="Urbanist"/>
                <a:cs typeface="Urbanist"/>
                <a:sym typeface="Urbanist"/>
              </a:rPr>
              <a:t>Ness et al. 2016,</a:t>
            </a:r>
            <a:r>
              <a:rPr lang="en">
                <a:latin typeface="Urbanist"/>
                <a:ea typeface="Urbanist"/>
                <a:cs typeface="Urbanist"/>
                <a:sym typeface="Urbanist"/>
              </a:rPr>
              <a:t> "Spectroscopic Determination of Masses (and Implied Ages) for Red Giants," </a:t>
            </a:r>
            <a:r>
              <a:rPr i="1" lang="en">
                <a:latin typeface="Urbanist"/>
                <a:ea typeface="Urbanist"/>
                <a:cs typeface="Urbanist"/>
                <a:sym typeface="Urbanist"/>
              </a:rPr>
              <a:t>The Astrophysical Journal</a:t>
            </a:r>
            <a:r>
              <a:rPr lang="en">
                <a:latin typeface="Urbanist"/>
                <a:ea typeface="Urbanist"/>
                <a:cs typeface="Urbanist"/>
                <a:sym typeface="Urbanist"/>
              </a:rPr>
              <a:t>, 823:114 </a:t>
            </a:r>
            <a:r>
              <a:rPr lang="en" u="sng">
                <a:latin typeface="Urbanist"/>
                <a:ea typeface="Urbanist"/>
                <a:cs typeface="Urbanist"/>
                <a:sym typeface="Urbanist"/>
                <a:hlinkClick r:id="rId5"/>
              </a:rPr>
              <a:t>https://iopscience.iop.org/article/10.3847/0004-637X/823/2/114/pdf</a:t>
            </a:r>
            <a:endParaRPr>
              <a:latin typeface="Urbanist"/>
              <a:ea typeface="Urbanist"/>
              <a:cs typeface="Urbanist"/>
              <a:sym typeface="Urbanist"/>
            </a:endParaRPr>
          </a:p>
          <a:p>
            <a:pPr indent="0" lvl="0" marL="0" rtl="0" algn="l">
              <a:spcBef>
                <a:spcPts val="0"/>
              </a:spcBef>
              <a:spcAft>
                <a:spcPts val="0"/>
              </a:spcAft>
              <a:buClr>
                <a:schemeClr val="dk1"/>
              </a:buClr>
              <a:buSzPts val="1100"/>
              <a:buNone/>
            </a:pPr>
            <a:r>
              <a:rPr lang="en">
                <a:latin typeface="Urbanist"/>
                <a:ea typeface="Urbanist"/>
                <a:cs typeface="Urbanist"/>
                <a:sym typeface="Urbanist"/>
              </a:rPr>
              <a:t>  </a:t>
            </a:r>
            <a:endParaRPr/>
          </a:p>
        </p:txBody>
      </p:sp>
      <p:pic>
        <p:nvPicPr>
          <p:cNvPr id="498" name="Google Shape;498;p46"/>
          <p:cNvPicPr preferRelativeResize="0"/>
          <p:nvPr/>
        </p:nvPicPr>
        <p:blipFill>
          <a:blip r:embed="rId6">
            <a:alphaModFix/>
          </a:blip>
          <a:stretch>
            <a:fillRect/>
          </a:stretch>
        </p:blipFill>
        <p:spPr>
          <a:xfrm>
            <a:off x="4414338" y="457188"/>
            <a:ext cx="2143125" cy="2143125"/>
          </a:xfrm>
          <a:prstGeom prst="rect">
            <a:avLst/>
          </a:prstGeom>
          <a:noFill/>
          <a:ln>
            <a:noFill/>
          </a:ln>
        </p:spPr>
      </p:pic>
      <p:pic>
        <p:nvPicPr>
          <p:cNvPr id="499" name="Google Shape;499;p46"/>
          <p:cNvPicPr preferRelativeResize="0"/>
          <p:nvPr/>
        </p:nvPicPr>
        <p:blipFill>
          <a:blip r:embed="rId7">
            <a:alphaModFix/>
          </a:blip>
          <a:stretch>
            <a:fillRect/>
          </a:stretch>
        </p:blipFill>
        <p:spPr>
          <a:xfrm>
            <a:off x="6610175" y="461963"/>
            <a:ext cx="2133600" cy="2133600"/>
          </a:xfrm>
          <a:prstGeom prst="rect">
            <a:avLst/>
          </a:prstGeom>
          <a:noFill/>
          <a:ln>
            <a:noFill/>
          </a:ln>
        </p:spPr>
      </p:pic>
      <p:sp>
        <p:nvSpPr>
          <p:cNvPr id="500" name="Google Shape;500;p46"/>
          <p:cNvSpPr txBox="1"/>
          <p:nvPr/>
        </p:nvSpPr>
        <p:spPr>
          <a:xfrm>
            <a:off x="4414325" y="2800938"/>
            <a:ext cx="1906800" cy="63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EA9999"/>
                </a:solidFill>
                <a:latin typeface="Urbanist SemiBold"/>
                <a:ea typeface="Urbanist SemiBold"/>
                <a:cs typeface="Urbanist SemiBold"/>
                <a:sym typeface="Urbanist SemiBold"/>
              </a:rPr>
              <a:t>P-mode</a:t>
            </a:r>
            <a:endParaRPr sz="1600">
              <a:solidFill>
                <a:srgbClr val="EA9999"/>
              </a:solidFill>
              <a:latin typeface="Urbanist SemiBold"/>
              <a:ea typeface="Urbanist SemiBold"/>
              <a:cs typeface="Urbanist SemiBold"/>
              <a:sym typeface="Urbanist SemiBold"/>
            </a:endParaRPr>
          </a:p>
        </p:txBody>
      </p:sp>
      <p:sp>
        <p:nvSpPr>
          <p:cNvPr id="501" name="Google Shape;501;p46"/>
          <p:cNvSpPr txBox="1"/>
          <p:nvPr/>
        </p:nvSpPr>
        <p:spPr>
          <a:xfrm>
            <a:off x="6623200" y="2800938"/>
            <a:ext cx="1906800" cy="63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EA9999"/>
                </a:solidFill>
                <a:latin typeface="Urbanist SemiBold"/>
                <a:ea typeface="Urbanist SemiBold"/>
                <a:cs typeface="Urbanist SemiBold"/>
                <a:sym typeface="Urbanist SemiBold"/>
              </a:rPr>
              <a:t>G-mode</a:t>
            </a:r>
            <a:endParaRPr sz="1600">
              <a:solidFill>
                <a:srgbClr val="EA9999"/>
              </a:solidFill>
              <a:latin typeface="Urbanist SemiBold"/>
              <a:ea typeface="Urbanist SemiBold"/>
              <a:cs typeface="Urbanist SemiBold"/>
              <a:sym typeface="Urbanist SemiBold"/>
            </a:endParaRPr>
          </a:p>
        </p:txBody>
      </p:sp>
      <p:sp>
        <p:nvSpPr>
          <p:cNvPr id="502" name="Google Shape;502;p46"/>
          <p:cNvSpPr txBox="1"/>
          <p:nvPr/>
        </p:nvSpPr>
        <p:spPr>
          <a:xfrm>
            <a:off x="4367375" y="3275125"/>
            <a:ext cx="1932900" cy="106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Associated with stellar envelope with pressure as a restoring force</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
        <p:nvSpPr>
          <p:cNvPr id="503" name="Google Shape;503;p46"/>
          <p:cNvSpPr txBox="1"/>
          <p:nvPr/>
        </p:nvSpPr>
        <p:spPr>
          <a:xfrm>
            <a:off x="6610150" y="3276613"/>
            <a:ext cx="1932900" cy="106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Probe its core with buoyancy as a restoring force.</a:t>
            </a:r>
            <a:endParaRPr sz="1200">
              <a:solidFill>
                <a:schemeClr val="lt1"/>
              </a:solidFill>
              <a:latin typeface="Urbanist"/>
              <a:ea typeface="Urbanist"/>
              <a:cs typeface="Urbanist"/>
              <a:sym typeface="Urbanis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47"/>
          <p:cNvSpPr txBox="1"/>
          <p:nvPr>
            <p:ph idx="4294967295" type="body"/>
          </p:nvPr>
        </p:nvSpPr>
        <p:spPr>
          <a:xfrm>
            <a:off x="228600" y="942000"/>
            <a:ext cx="3876300" cy="3541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500"/>
              <a:t>How we do seismology? </a:t>
            </a:r>
            <a:endParaRPr sz="1500"/>
          </a:p>
          <a:p>
            <a:pPr indent="0" lvl="0" marL="0" rtl="0" algn="l">
              <a:spcBef>
                <a:spcPts val="800"/>
              </a:spcBef>
              <a:spcAft>
                <a:spcPts val="0"/>
              </a:spcAft>
              <a:buNone/>
            </a:pPr>
            <a:r>
              <a:rPr lang="en" sz="1500"/>
              <a:t>By measuring the light curve to track the changes in the flux due to convection in the star. Then take the radial velocity curve to get the timescale of the </a:t>
            </a:r>
            <a:r>
              <a:rPr lang="en" sz="1500"/>
              <a:t>oscillations</a:t>
            </a:r>
            <a:r>
              <a:rPr lang="en" sz="1500"/>
              <a:t>. </a:t>
            </a:r>
            <a:endParaRPr sz="1500"/>
          </a:p>
          <a:p>
            <a:pPr indent="-323850" lvl="0" marL="457200" rtl="0" algn="l">
              <a:spcBef>
                <a:spcPts val="800"/>
              </a:spcBef>
              <a:spcAft>
                <a:spcPts val="0"/>
              </a:spcAft>
              <a:buSzPts val="1500"/>
              <a:buChar char="●"/>
            </a:pPr>
            <a:r>
              <a:rPr lang="en" sz="1500"/>
              <a:t>Kepler’s </a:t>
            </a:r>
            <a:r>
              <a:rPr lang="en" sz="1500"/>
              <a:t>ultra</a:t>
            </a:r>
            <a:r>
              <a:rPr lang="en" sz="1500"/>
              <a:t>-sensitive photometers capture the rhythmic pulses of the stars brightness. </a:t>
            </a:r>
            <a:endParaRPr sz="1500"/>
          </a:p>
          <a:p>
            <a:pPr indent="-323850" lvl="0" marL="457200" rtl="0" algn="l">
              <a:spcBef>
                <a:spcPts val="0"/>
              </a:spcBef>
              <a:spcAft>
                <a:spcPts val="0"/>
              </a:spcAft>
              <a:buSzPts val="1500"/>
              <a:buChar char="●"/>
            </a:pPr>
            <a:r>
              <a:rPr lang="en" sz="1500"/>
              <a:t>TESS (Transiting Exoplanet Survey </a:t>
            </a:r>
            <a:r>
              <a:rPr lang="en" sz="1500"/>
              <a:t>Satellite</a:t>
            </a:r>
            <a:r>
              <a:rPr lang="en" sz="1500"/>
              <a:t>) has a secondary mission for gathering continues brightness measurements of stars.</a:t>
            </a:r>
            <a:endParaRPr sz="1500"/>
          </a:p>
        </p:txBody>
      </p:sp>
      <p:sp>
        <p:nvSpPr>
          <p:cNvPr id="509" name="Google Shape;509;p47"/>
          <p:cNvSpPr txBox="1"/>
          <p:nvPr>
            <p:ph idx="4294967295" type="title"/>
          </p:nvPr>
        </p:nvSpPr>
        <p:spPr>
          <a:xfrm>
            <a:off x="181500" y="363875"/>
            <a:ext cx="4296600" cy="48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Kepler and TESS</a:t>
            </a:r>
            <a:endParaRPr sz="3000"/>
          </a:p>
        </p:txBody>
      </p:sp>
      <p:pic>
        <p:nvPicPr>
          <p:cNvPr id="510" name="Google Shape;510;p47"/>
          <p:cNvPicPr preferRelativeResize="0"/>
          <p:nvPr/>
        </p:nvPicPr>
        <p:blipFill rotWithShape="1">
          <a:blip r:embed="rId3">
            <a:alphaModFix/>
          </a:blip>
          <a:srcRect b="0" l="12721" r="12713" t="0"/>
          <a:stretch/>
        </p:blipFill>
        <p:spPr>
          <a:xfrm>
            <a:off x="5693601" y="2472400"/>
            <a:ext cx="3097700" cy="2330572"/>
          </a:xfrm>
          <a:prstGeom prst="rect">
            <a:avLst/>
          </a:prstGeom>
          <a:noFill/>
          <a:ln>
            <a:noFill/>
          </a:ln>
        </p:spPr>
      </p:pic>
      <p:pic>
        <p:nvPicPr>
          <p:cNvPr descr="NASA launches TESS exoplanet-hunting satellite into space" id="511" name="Google Shape;511;p47"/>
          <p:cNvPicPr preferRelativeResize="0"/>
          <p:nvPr/>
        </p:nvPicPr>
        <p:blipFill>
          <a:blip r:embed="rId4">
            <a:alphaModFix/>
          </a:blip>
          <a:stretch>
            <a:fillRect/>
          </a:stretch>
        </p:blipFill>
        <p:spPr>
          <a:xfrm>
            <a:off x="4198012" y="310300"/>
            <a:ext cx="3005849" cy="2261448"/>
          </a:xfrm>
          <a:prstGeom prst="rect">
            <a:avLst/>
          </a:prstGeom>
          <a:noFill/>
          <a:ln>
            <a:noFill/>
          </a:ln>
        </p:spPr>
      </p:pic>
      <p:sp>
        <p:nvSpPr>
          <p:cNvPr id="512" name="Google Shape;512;p47"/>
          <p:cNvSpPr txBox="1"/>
          <p:nvPr/>
        </p:nvSpPr>
        <p:spPr>
          <a:xfrm>
            <a:off x="4198000" y="228600"/>
            <a:ext cx="1015200" cy="24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TESS</a:t>
            </a:r>
            <a:endParaRPr sz="1200">
              <a:solidFill>
                <a:schemeClr val="lt1"/>
              </a:solidFill>
              <a:latin typeface="Urbanist"/>
              <a:ea typeface="Urbanist"/>
              <a:cs typeface="Urbanist"/>
              <a:sym typeface="Urbanist"/>
            </a:endParaRPr>
          </a:p>
        </p:txBody>
      </p:sp>
      <p:sp>
        <p:nvSpPr>
          <p:cNvPr id="513" name="Google Shape;513;p47"/>
          <p:cNvSpPr txBox="1"/>
          <p:nvPr/>
        </p:nvSpPr>
        <p:spPr>
          <a:xfrm>
            <a:off x="5763875" y="4452600"/>
            <a:ext cx="879900" cy="35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Kepler</a:t>
            </a:r>
            <a:endParaRPr sz="1200">
              <a:solidFill>
                <a:schemeClr val="lt1"/>
              </a:solidFill>
              <a:latin typeface="Urbanist"/>
              <a:ea typeface="Urbanist"/>
              <a:cs typeface="Urbanist"/>
              <a:sym typeface="Urbanist"/>
            </a:endParaRPr>
          </a:p>
        </p:txBody>
      </p:sp>
      <p:sp>
        <p:nvSpPr>
          <p:cNvPr id="514" name="Google Shape;514;p47"/>
          <p:cNvSpPr txBox="1"/>
          <p:nvPr/>
        </p:nvSpPr>
        <p:spPr>
          <a:xfrm>
            <a:off x="0" y="4404600"/>
            <a:ext cx="85341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
                <a:solidFill>
                  <a:schemeClr val="accent1"/>
                </a:solidFill>
                <a:latin typeface="Urbanist"/>
                <a:ea typeface="Urbanist"/>
                <a:cs typeface="Urbanist"/>
                <a:sym typeface="Urbanist"/>
              </a:rPr>
              <a:t>Krapfl, M. (2019, November 19). </a:t>
            </a:r>
            <a:r>
              <a:rPr i="1" lang="en" sz="600">
                <a:solidFill>
                  <a:schemeClr val="accent1"/>
                </a:solidFill>
                <a:latin typeface="Urbanist"/>
                <a:ea typeface="Urbanist"/>
                <a:cs typeface="Urbanist"/>
                <a:sym typeface="Urbanist"/>
              </a:rPr>
              <a:t>NASA's TESS helps astronomers study red-giant stars, examine a too-close planet</a:t>
            </a:r>
            <a:r>
              <a:rPr lang="en" sz="600">
                <a:solidFill>
                  <a:schemeClr val="accent1"/>
                </a:solidFill>
                <a:latin typeface="Urbanist"/>
                <a:ea typeface="Urbanist"/>
                <a:cs typeface="Urbanist"/>
                <a:sym typeface="Urbanist"/>
              </a:rPr>
              <a:t>. Iowa State University News Service.</a:t>
            </a:r>
            <a:r>
              <a:rPr lang="en" sz="600">
                <a:solidFill>
                  <a:schemeClr val="accent1"/>
                </a:solidFill>
                <a:uFill>
                  <a:noFill/>
                </a:uFill>
                <a:latin typeface="Urbanist"/>
                <a:ea typeface="Urbanist"/>
                <a:cs typeface="Urbanist"/>
                <a:sym typeface="Urbanist"/>
                <a:hlinkClick r:id="rId5">
                  <a:extLst>
                    <a:ext uri="{A12FA001-AC4F-418D-AE19-62706E023703}">
                      <ahyp:hlinkClr val="tx"/>
                    </a:ext>
                  </a:extLst>
                </a:hlinkClick>
              </a:rPr>
              <a:t> </a:t>
            </a:r>
            <a:r>
              <a:rPr lang="en" sz="600" u="sng">
                <a:solidFill>
                  <a:schemeClr val="accent1"/>
                </a:solidFill>
                <a:latin typeface="Urbanist"/>
                <a:ea typeface="Urbanist"/>
                <a:cs typeface="Urbanist"/>
                <a:sym typeface="Urbanist"/>
                <a:hlinkClick r:id="rId6">
                  <a:extLst>
                    <a:ext uri="{A12FA001-AC4F-418D-AE19-62706E023703}">
                      <ahyp:hlinkClr val="tx"/>
                    </a:ext>
                  </a:extLst>
                </a:hlinkClick>
              </a:rPr>
              <a:t>https://www.news.iastate.edu/news/nasas-tess-helps-astronomers-study-red-giant-stars-examine-too-close-planet</a:t>
            </a:r>
            <a:endParaRPr sz="600">
              <a:solidFill>
                <a:schemeClr val="accent1"/>
              </a:solidFill>
              <a:latin typeface="Urbanist"/>
              <a:ea typeface="Urbanist"/>
              <a:cs typeface="Urbanist"/>
              <a:sym typeface="Urbanist"/>
            </a:endParaRPr>
          </a:p>
          <a:p>
            <a:pPr indent="0" lvl="0" marL="0" rtl="0" algn="l">
              <a:spcBef>
                <a:spcPts val="0"/>
              </a:spcBef>
              <a:spcAft>
                <a:spcPts val="0"/>
              </a:spcAft>
              <a:buNone/>
            </a:pPr>
            <a:r>
              <a:rPr lang="en" sz="600">
                <a:solidFill>
                  <a:schemeClr val="accent1"/>
                </a:solidFill>
                <a:latin typeface="Urbanist"/>
                <a:ea typeface="Urbanist"/>
                <a:cs typeface="Urbanist"/>
                <a:sym typeface="Urbanist"/>
              </a:rPr>
              <a:t>Cermak, A. (2026, January 5). </a:t>
            </a:r>
            <a:r>
              <a:rPr i="1" lang="en" sz="600">
                <a:solidFill>
                  <a:schemeClr val="accent1"/>
                </a:solidFill>
                <a:latin typeface="Urbanist"/>
                <a:ea typeface="Urbanist"/>
                <a:cs typeface="Urbanist"/>
                <a:sym typeface="Urbanist"/>
              </a:rPr>
              <a:t>Kepler / K2</a:t>
            </a:r>
            <a:r>
              <a:rPr lang="en" sz="600">
                <a:solidFill>
                  <a:schemeClr val="accent1"/>
                </a:solidFill>
                <a:latin typeface="Urbanist"/>
                <a:ea typeface="Urbanist"/>
                <a:cs typeface="Urbanist"/>
                <a:sym typeface="Urbanist"/>
              </a:rPr>
              <a:t>. NASA Science.</a:t>
            </a:r>
            <a:r>
              <a:rPr lang="en" sz="600">
                <a:solidFill>
                  <a:schemeClr val="accent1"/>
                </a:solidFill>
                <a:uFill>
                  <a:noFill/>
                </a:uFill>
                <a:latin typeface="Urbanist"/>
                <a:ea typeface="Urbanist"/>
                <a:cs typeface="Urbanist"/>
                <a:sym typeface="Urbanist"/>
                <a:hlinkClick r:id="rId7">
                  <a:extLst>
                    <a:ext uri="{A12FA001-AC4F-418D-AE19-62706E023703}">
                      <ahyp:hlinkClr val="tx"/>
                    </a:ext>
                  </a:extLst>
                </a:hlinkClick>
              </a:rPr>
              <a:t> </a:t>
            </a:r>
            <a:r>
              <a:rPr lang="en" sz="600" u="sng">
                <a:solidFill>
                  <a:schemeClr val="accent1"/>
                </a:solidFill>
                <a:latin typeface="Urbanist"/>
                <a:ea typeface="Urbanist"/>
                <a:cs typeface="Urbanist"/>
                <a:sym typeface="Urbanist"/>
                <a:hlinkClick r:id="rId8">
                  <a:extLst>
                    <a:ext uri="{A12FA001-AC4F-418D-AE19-62706E023703}">
                      <ahyp:hlinkClr val="tx"/>
                    </a:ext>
                  </a:extLst>
                </a:hlinkClick>
              </a:rPr>
              <a:t>https://science.nasa.gov/mission/kepler/</a:t>
            </a:r>
            <a:endParaRPr sz="600">
              <a:solidFill>
                <a:schemeClr val="accent1"/>
              </a:solidFill>
              <a:latin typeface="Urbanist"/>
              <a:ea typeface="Urbanist"/>
              <a:cs typeface="Urbanist"/>
              <a:sym typeface="Urbanist"/>
            </a:endParaRPr>
          </a:p>
          <a:p>
            <a:pPr indent="0" lvl="0" marL="0" rtl="0" algn="l">
              <a:spcBef>
                <a:spcPts val="0"/>
              </a:spcBef>
              <a:spcAft>
                <a:spcPts val="0"/>
              </a:spcAft>
              <a:buNone/>
            </a:pPr>
            <a:r>
              <a:rPr lang="en" sz="600">
                <a:solidFill>
                  <a:schemeClr val="accent1"/>
                </a:solidFill>
                <a:latin typeface="Urbanist"/>
                <a:ea typeface="Urbanist"/>
                <a:cs typeface="Urbanist"/>
                <a:sym typeface="Urbanist"/>
              </a:rPr>
              <a:t>Brill, J. (2026, February 10). </a:t>
            </a:r>
            <a:r>
              <a:rPr i="1" lang="en" sz="600">
                <a:solidFill>
                  <a:schemeClr val="accent1"/>
                </a:solidFill>
                <a:latin typeface="Urbanist"/>
                <a:ea typeface="Urbanist"/>
                <a:cs typeface="Urbanist"/>
                <a:sym typeface="Urbanist"/>
              </a:rPr>
              <a:t>Asteroseismology using the Galactic Bulge Time Domain Survey</a:t>
            </a:r>
            <a:r>
              <a:rPr lang="en" sz="600">
                <a:solidFill>
                  <a:schemeClr val="accent1"/>
                </a:solidFill>
                <a:latin typeface="Urbanist"/>
                <a:ea typeface="Urbanist"/>
                <a:cs typeface="Urbanist"/>
                <a:sym typeface="Urbanist"/>
              </a:rPr>
              <a:t>. NASA Science.</a:t>
            </a:r>
            <a:r>
              <a:rPr lang="en" sz="600">
                <a:solidFill>
                  <a:schemeClr val="accent1"/>
                </a:solidFill>
                <a:uFill>
                  <a:noFill/>
                </a:uFill>
                <a:latin typeface="Urbanist"/>
                <a:ea typeface="Urbanist"/>
                <a:cs typeface="Urbanist"/>
                <a:sym typeface="Urbanist"/>
                <a:hlinkClick r:id="rId9">
                  <a:extLst>
                    <a:ext uri="{A12FA001-AC4F-418D-AE19-62706E023703}">
                      <ahyp:hlinkClr val="tx"/>
                    </a:ext>
                  </a:extLst>
                </a:hlinkClick>
              </a:rPr>
              <a:t> </a:t>
            </a:r>
            <a:r>
              <a:rPr lang="en" sz="600" u="sng">
                <a:solidFill>
                  <a:schemeClr val="accent1"/>
                </a:solidFill>
                <a:latin typeface="Urbanist"/>
                <a:ea typeface="Urbanist"/>
                <a:cs typeface="Urbanist"/>
                <a:sym typeface="Urbanist"/>
                <a:hlinkClick r:id="rId10">
                  <a:extLst>
                    <a:ext uri="{A12FA001-AC4F-418D-AE19-62706E023703}">
                      <ahyp:hlinkClr val="tx"/>
                    </a:ext>
                  </a:extLst>
                </a:hlinkClick>
              </a:rPr>
              <a:t>https://science.nasa.gov/mission/roman-space-telescope/asteroseismology-using-the-galactic-bulge-time-domain-survey/</a:t>
            </a:r>
            <a:endParaRPr sz="600">
              <a:solidFill>
                <a:schemeClr val="accent1"/>
              </a:solidFill>
              <a:latin typeface="Urbanist"/>
              <a:ea typeface="Urbanist"/>
              <a:cs typeface="Urbanist"/>
              <a:sym typeface="Urbanist"/>
            </a:endParaRPr>
          </a:p>
          <a:p>
            <a:pPr indent="0" lvl="0" marL="0" rtl="0" algn="l">
              <a:spcBef>
                <a:spcPts val="0"/>
              </a:spcBef>
              <a:spcAft>
                <a:spcPts val="0"/>
              </a:spcAft>
              <a:buNone/>
            </a:pPr>
            <a:r>
              <a:rPr lang="en" sz="600">
                <a:solidFill>
                  <a:schemeClr val="accent1"/>
                </a:solidFill>
                <a:latin typeface="Urbanist"/>
                <a:ea typeface="Urbanist"/>
                <a:cs typeface="Urbanist"/>
                <a:sym typeface="Urbanist"/>
              </a:rPr>
              <a:t>Huber, D., Chaplin, W. J., Christensen-Dalsgaard, J., Gilliland, R. L., Kawaler, S. D., Kjeldsen, H., &amp; Working Groups of the Kepler Asteroseismic Science Consortium (KASC). (2013). Asteroseismology with NASA's Kepler mission. </a:t>
            </a:r>
            <a:r>
              <a:rPr i="1" lang="en" sz="600">
                <a:solidFill>
                  <a:schemeClr val="accent1"/>
                </a:solidFill>
                <a:latin typeface="Urbanist"/>
                <a:ea typeface="Urbanist"/>
                <a:cs typeface="Urbanist"/>
                <a:sym typeface="Urbanist"/>
              </a:rPr>
              <a:t>American Astronomical Society Meeting Abstracts</a:t>
            </a:r>
            <a:r>
              <a:rPr lang="en" sz="600">
                <a:solidFill>
                  <a:schemeClr val="accent1"/>
                </a:solidFill>
                <a:latin typeface="Urbanist"/>
                <a:ea typeface="Urbanist"/>
                <a:cs typeface="Urbanist"/>
                <a:sym typeface="Urbanist"/>
              </a:rPr>
              <a:t>, </a:t>
            </a:r>
            <a:r>
              <a:rPr i="1" lang="en" sz="600">
                <a:solidFill>
                  <a:schemeClr val="accent1"/>
                </a:solidFill>
                <a:latin typeface="Urbanist"/>
                <a:ea typeface="Urbanist"/>
                <a:cs typeface="Urbanist"/>
                <a:sym typeface="Urbanist"/>
              </a:rPr>
              <a:t>221</a:t>
            </a:r>
            <a:r>
              <a:rPr lang="en" sz="600">
                <a:solidFill>
                  <a:schemeClr val="accent1"/>
                </a:solidFill>
                <a:latin typeface="Urbanist"/>
                <a:ea typeface="Urbanist"/>
                <a:cs typeface="Urbanist"/>
                <a:sym typeface="Urbanist"/>
              </a:rPr>
              <a:t>, 301.01.</a:t>
            </a:r>
            <a:r>
              <a:rPr lang="en" sz="600">
                <a:solidFill>
                  <a:schemeClr val="accent1"/>
                </a:solidFill>
                <a:uFill>
                  <a:noFill/>
                </a:uFill>
                <a:latin typeface="Urbanist"/>
                <a:ea typeface="Urbanist"/>
                <a:cs typeface="Urbanist"/>
                <a:sym typeface="Urbanist"/>
                <a:hlinkClick r:id="rId11">
                  <a:extLst>
                    <a:ext uri="{A12FA001-AC4F-418D-AE19-62706E023703}">
                      <ahyp:hlinkClr val="tx"/>
                    </a:ext>
                  </a:extLst>
                </a:hlinkClick>
              </a:rPr>
              <a:t> </a:t>
            </a:r>
            <a:r>
              <a:rPr lang="en" sz="600" u="sng">
                <a:solidFill>
                  <a:schemeClr val="accent1"/>
                </a:solidFill>
                <a:latin typeface="Urbanist"/>
                <a:ea typeface="Urbanist"/>
                <a:cs typeface="Urbanist"/>
                <a:sym typeface="Urbanist"/>
                <a:hlinkClick r:id="rId12">
                  <a:extLst>
                    <a:ext uri="{A12FA001-AC4F-418D-AE19-62706E023703}">
                      <ahyp:hlinkClr val="tx"/>
                    </a:ext>
                  </a:extLst>
                </a:hlinkClick>
              </a:rPr>
              <a:t>https://ui.adsabs.harvard.edu/abs/2013AAS...22130101H/abstract</a:t>
            </a:r>
            <a:endParaRPr sz="600">
              <a:solidFill>
                <a:schemeClr val="accent1"/>
              </a:solidFill>
              <a:latin typeface="Urbanist"/>
              <a:ea typeface="Urbanist"/>
              <a:cs typeface="Urbanist"/>
              <a:sym typeface="Urbanis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48"/>
          <p:cNvSpPr txBox="1"/>
          <p:nvPr>
            <p:ph idx="1" type="body"/>
          </p:nvPr>
        </p:nvSpPr>
        <p:spPr>
          <a:xfrm>
            <a:off x="228600" y="1353675"/>
            <a:ext cx="3820800" cy="30990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500"/>
              <a:t>A large-scale, </a:t>
            </a:r>
            <a:r>
              <a:rPr lang="en" sz="1500"/>
              <a:t>stellar</a:t>
            </a:r>
            <a:r>
              <a:rPr lang="en" sz="1500"/>
              <a:t> </a:t>
            </a:r>
            <a:r>
              <a:rPr lang="en" sz="1500"/>
              <a:t>spectroscopic</a:t>
            </a:r>
            <a:r>
              <a:rPr lang="en" sz="1500"/>
              <a:t> survey conducted in the near </a:t>
            </a:r>
            <a:r>
              <a:rPr lang="en" sz="1500"/>
              <a:t>infrared</a:t>
            </a:r>
            <a:r>
              <a:rPr lang="en" sz="1500"/>
              <a:t> portion of the electromagnetic spectrum.</a:t>
            </a:r>
            <a:endParaRPr sz="1500"/>
          </a:p>
          <a:p>
            <a:pPr indent="0" lvl="0" marL="0" rtl="0" algn="l">
              <a:spcBef>
                <a:spcPts val="800"/>
              </a:spcBef>
              <a:spcAft>
                <a:spcPts val="800"/>
              </a:spcAft>
              <a:buNone/>
            </a:pPr>
            <a:r>
              <a:rPr lang="en" sz="1500"/>
              <a:t>The survey provides spectra that can then be used to derive effective temperature, surface gravity, and </a:t>
            </a:r>
            <a:r>
              <a:rPr lang="en" sz="1500"/>
              <a:t>metallicity</a:t>
            </a:r>
            <a:r>
              <a:rPr lang="en" sz="1500"/>
              <a:t> of the observed star.</a:t>
            </a:r>
            <a:endParaRPr sz="1500"/>
          </a:p>
        </p:txBody>
      </p:sp>
      <p:sp>
        <p:nvSpPr>
          <p:cNvPr id="520" name="Google Shape;520;p48"/>
          <p:cNvSpPr txBox="1"/>
          <p:nvPr>
            <p:ph type="title"/>
          </p:nvPr>
        </p:nvSpPr>
        <p:spPr>
          <a:xfrm>
            <a:off x="275400" y="563475"/>
            <a:ext cx="42966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APOGEE</a:t>
            </a:r>
            <a:endParaRPr/>
          </a:p>
        </p:txBody>
      </p:sp>
      <p:sp>
        <p:nvSpPr>
          <p:cNvPr id="521" name="Google Shape;521;p48"/>
          <p:cNvSpPr txBox="1"/>
          <p:nvPr/>
        </p:nvSpPr>
        <p:spPr>
          <a:xfrm>
            <a:off x="342100" y="4705575"/>
            <a:ext cx="4593900" cy="194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700">
                <a:solidFill>
                  <a:schemeClr val="dk2"/>
                </a:solidFill>
                <a:latin typeface="Urbanist"/>
                <a:ea typeface="Urbanist"/>
                <a:cs typeface="Urbanist"/>
                <a:sym typeface="Urbanist"/>
              </a:rPr>
              <a:t>Sloan Digital Sky Survey. (n.d.). </a:t>
            </a:r>
            <a:r>
              <a:rPr i="1" lang="en" sz="700">
                <a:solidFill>
                  <a:schemeClr val="dk2"/>
                </a:solidFill>
                <a:latin typeface="Urbanist"/>
                <a:ea typeface="Urbanist"/>
                <a:cs typeface="Urbanist"/>
                <a:sym typeface="Urbanist"/>
              </a:rPr>
              <a:t>APOGEE</a:t>
            </a:r>
            <a:r>
              <a:rPr lang="en" sz="700">
                <a:solidFill>
                  <a:schemeClr val="dk2"/>
                </a:solidFill>
                <a:latin typeface="Urbanist"/>
                <a:ea typeface="Urbanist"/>
                <a:cs typeface="Urbanist"/>
                <a:sym typeface="Urbanist"/>
              </a:rPr>
              <a:t>. SDSS Data Release 17. Retrieved July 20, 2026, from</a:t>
            </a:r>
            <a:r>
              <a:rPr lang="en" sz="700">
                <a:solidFill>
                  <a:schemeClr val="dk2"/>
                </a:solidFill>
                <a:uFill>
                  <a:noFill/>
                </a:uFill>
                <a:latin typeface="Urbanist"/>
                <a:ea typeface="Urbanist"/>
                <a:cs typeface="Urbanist"/>
                <a:sym typeface="Urbanist"/>
                <a:hlinkClick r:id="rId3">
                  <a:extLst>
                    <a:ext uri="{A12FA001-AC4F-418D-AE19-62706E023703}">
                      <ahyp:hlinkClr val="tx"/>
                    </a:ext>
                  </a:extLst>
                </a:hlinkClick>
              </a:rPr>
              <a:t> </a:t>
            </a:r>
            <a:r>
              <a:rPr lang="en" sz="700" u="sng">
                <a:solidFill>
                  <a:schemeClr val="dk2"/>
                </a:solidFill>
                <a:latin typeface="Urbanist"/>
                <a:ea typeface="Urbanist"/>
                <a:cs typeface="Urbanist"/>
                <a:sym typeface="Urbanist"/>
                <a:hlinkClick r:id="rId4">
                  <a:extLst>
                    <a:ext uri="{A12FA001-AC4F-418D-AE19-62706E023703}">
                      <ahyp:hlinkClr val="tx"/>
                    </a:ext>
                  </a:extLst>
                </a:hlinkClick>
              </a:rPr>
              <a:t>https://www.sdss4.org/dr17/irspec/</a:t>
            </a:r>
            <a:endParaRPr sz="700" u="sng">
              <a:solidFill>
                <a:schemeClr val="dk2"/>
              </a:solidFill>
              <a:latin typeface="Urbanist"/>
              <a:ea typeface="Urbanist"/>
              <a:cs typeface="Urbanist"/>
              <a:sym typeface="Urbanist"/>
            </a:endParaRPr>
          </a:p>
          <a:p>
            <a:pPr indent="0" lvl="0" marL="0" rtl="0" algn="l">
              <a:spcBef>
                <a:spcPts val="1200"/>
              </a:spcBef>
              <a:spcAft>
                <a:spcPts val="0"/>
              </a:spcAft>
              <a:buNone/>
            </a:pPr>
            <a:r>
              <a:rPr lang="en" sz="700">
                <a:solidFill>
                  <a:schemeClr val="dk2"/>
                </a:solidFill>
                <a:latin typeface="Urbanist"/>
                <a:ea typeface="Urbanist"/>
                <a:cs typeface="Urbanist"/>
                <a:sym typeface="Urbanist"/>
              </a:rPr>
              <a:t> </a:t>
            </a:r>
            <a:endParaRPr sz="700">
              <a:solidFill>
                <a:schemeClr val="dk2"/>
              </a:solidFill>
              <a:latin typeface="Urbanist"/>
              <a:ea typeface="Urbanist"/>
              <a:cs typeface="Urbanist"/>
              <a:sym typeface="Urbanist"/>
            </a:endParaRPr>
          </a:p>
        </p:txBody>
      </p:sp>
      <p:pic>
        <p:nvPicPr>
          <p:cNvPr descr="APOGEE | SDSS" id="522" name="Google Shape;522;p48"/>
          <p:cNvPicPr preferRelativeResize="0"/>
          <p:nvPr/>
        </p:nvPicPr>
        <p:blipFill rotWithShape="1">
          <a:blip r:embed="rId5">
            <a:alphaModFix/>
          </a:blip>
          <a:srcRect b="0" l="0" r="58895" t="0"/>
          <a:stretch/>
        </p:blipFill>
        <p:spPr>
          <a:xfrm>
            <a:off x="2369695" y="310575"/>
            <a:ext cx="1387200" cy="1043100"/>
          </a:xfrm>
          <a:prstGeom prst="roundRect">
            <a:avLst>
              <a:gd fmla="val 16667" name="adj"/>
            </a:avLst>
          </a:prstGeom>
          <a:noFill/>
          <a:ln>
            <a:noFill/>
          </a:ln>
        </p:spPr>
      </p:pic>
      <p:pic>
        <p:nvPicPr>
          <p:cNvPr descr="&#10;Distribution of APOGEE fields in DR17 overlaid on an all-sky image from 2MASS. Each field is color-coded by the number of targets in that field. &lt;em&gt;Image credit: C. Hayes&lt;/em&gt;&#10;" id="523" name="Google Shape;523;p48"/>
          <p:cNvPicPr preferRelativeResize="0"/>
          <p:nvPr/>
        </p:nvPicPr>
        <p:blipFill>
          <a:blip r:embed="rId6">
            <a:alphaModFix/>
          </a:blip>
          <a:stretch>
            <a:fillRect/>
          </a:stretch>
        </p:blipFill>
        <p:spPr>
          <a:xfrm>
            <a:off x="4237225" y="1220400"/>
            <a:ext cx="4504500" cy="2702700"/>
          </a:xfrm>
          <a:prstGeom prst="rect">
            <a:avLst/>
          </a:prstGeom>
          <a:noFill/>
          <a:ln>
            <a:noFill/>
          </a:ln>
        </p:spPr>
      </p:pic>
      <p:sp>
        <p:nvSpPr>
          <p:cNvPr id="524" name="Google Shape;524;p48"/>
          <p:cNvSpPr txBox="1"/>
          <p:nvPr/>
        </p:nvSpPr>
        <p:spPr>
          <a:xfrm>
            <a:off x="4237075" y="3923100"/>
            <a:ext cx="4504500" cy="48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Urbanist"/>
                <a:ea typeface="Urbanist"/>
                <a:cs typeface="Urbanist"/>
                <a:sym typeface="Urbanist"/>
              </a:rPr>
              <a:t>APOGEE observation fields on an all-sky image. Each field is color-coded by the number of targets in that field.</a:t>
            </a:r>
            <a:endParaRPr sz="1000">
              <a:solidFill>
                <a:schemeClr val="lt1"/>
              </a:solidFill>
              <a:latin typeface="Urbanist"/>
              <a:ea typeface="Urbanist"/>
              <a:cs typeface="Urbanist"/>
              <a:sym typeface="Urbanis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49"/>
          <p:cNvSpPr txBox="1"/>
          <p:nvPr>
            <p:ph type="title"/>
          </p:nvPr>
        </p:nvSpPr>
        <p:spPr>
          <a:xfrm>
            <a:off x="228600" y="390175"/>
            <a:ext cx="42966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Main Problem</a:t>
            </a:r>
            <a:endParaRPr/>
          </a:p>
        </p:txBody>
      </p:sp>
      <p:sp>
        <p:nvSpPr>
          <p:cNvPr id="530" name="Google Shape;530;p49"/>
          <p:cNvSpPr txBox="1"/>
          <p:nvPr>
            <p:ph idx="1" type="body"/>
          </p:nvPr>
        </p:nvSpPr>
        <p:spPr>
          <a:xfrm>
            <a:off x="228600" y="927475"/>
            <a:ext cx="4758000" cy="3525300"/>
          </a:xfrm>
          <a:prstGeom prst="rect">
            <a:avLst/>
          </a:prstGeom>
        </p:spPr>
        <p:txBody>
          <a:bodyPr anchorCtr="0" anchor="t" bIns="0" lIns="0" spcFirstLastPara="1" rIns="91425" wrap="square" tIns="91425">
            <a:noAutofit/>
          </a:bodyPr>
          <a:lstStyle/>
          <a:p>
            <a:pPr indent="-323850" lvl="0" marL="457200" rtl="0" algn="l">
              <a:spcBef>
                <a:spcPts val="0"/>
              </a:spcBef>
              <a:spcAft>
                <a:spcPts val="0"/>
              </a:spcAft>
              <a:buClr>
                <a:schemeClr val="dk2"/>
              </a:buClr>
              <a:buSzPts val="1500"/>
              <a:buChar char="●"/>
            </a:pPr>
            <a:r>
              <a:rPr lang="en" sz="1500">
                <a:solidFill>
                  <a:schemeClr val="dk2"/>
                </a:solidFill>
              </a:rPr>
              <a:t>Millions of spectra exist for known stars, with emission and </a:t>
            </a:r>
            <a:r>
              <a:rPr lang="en" sz="1500">
                <a:solidFill>
                  <a:schemeClr val="dk2"/>
                </a:solidFill>
              </a:rPr>
              <a:t>absorption</a:t>
            </a:r>
            <a:r>
              <a:rPr lang="en" sz="1500">
                <a:solidFill>
                  <a:schemeClr val="dk2"/>
                </a:solidFill>
              </a:rPr>
              <a:t> lines containing information about </a:t>
            </a:r>
            <a:r>
              <a:rPr lang="en" sz="1500">
                <a:solidFill>
                  <a:schemeClr val="dk2"/>
                </a:solidFill>
              </a:rPr>
              <a:t>temperature</a:t>
            </a:r>
            <a:r>
              <a:rPr lang="en" sz="1500">
                <a:solidFill>
                  <a:schemeClr val="dk2"/>
                </a:solidFill>
              </a:rPr>
              <a:t>, surface gravity, elemental abundances, and more </a:t>
            </a:r>
            <a:endParaRPr sz="1500">
              <a:solidFill>
                <a:schemeClr val="dk2"/>
              </a:solidFill>
            </a:endParaRPr>
          </a:p>
          <a:p>
            <a:pPr indent="0" lvl="0" marL="457200" rtl="0" algn="l">
              <a:spcBef>
                <a:spcPts val="0"/>
              </a:spcBef>
              <a:spcAft>
                <a:spcPts val="0"/>
              </a:spcAft>
              <a:buNone/>
            </a:pPr>
            <a:r>
              <a:rPr lang="en" sz="1500">
                <a:solidFill>
                  <a:schemeClr val="dk2"/>
                </a:solidFill>
              </a:rPr>
              <a:t>​</a:t>
            </a:r>
            <a:endParaRPr sz="1500">
              <a:solidFill>
                <a:schemeClr val="dk2"/>
              </a:solidFill>
            </a:endParaRPr>
          </a:p>
          <a:p>
            <a:pPr indent="-323850" lvl="0" marL="457200" rtl="0" algn="l">
              <a:spcBef>
                <a:spcPts val="0"/>
              </a:spcBef>
              <a:spcAft>
                <a:spcPts val="0"/>
              </a:spcAft>
              <a:buClr>
                <a:schemeClr val="dk2"/>
              </a:buClr>
              <a:buSzPts val="1500"/>
              <a:buChar char="●"/>
            </a:pPr>
            <a:r>
              <a:rPr lang="en" sz="1500"/>
              <a:t>This however this does not help us when it comes to differentiating between stars in the Red Giant Branch and in the Red Clump of the HR diagram</a:t>
            </a:r>
            <a:endParaRPr sz="1500"/>
          </a:p>
          <a:p>
            <a:pPr indent="-323850" lvl="1" marL="914400" rtl="0" algn="l">
              <a:spcBef>
                <a:spcPts val="0"/>
              </a:spcBef>
              <a:spcAft>
                <a:spcPts val="0"/>
              </a:spcAft>
              <a:buSzPts val="1500"/>
              <a:buChar char="○"/>
            </a:pPr>
            <a:r>
              <a:rPr lang="en" sz="1500"/>
              <a:t>More </a:t>
            </a:r>
            <a:r>
              <a:rPr lang="en" sz="1500"/>
              <a:t>luminous</a:t>
            </a:r>
            <a:r>
              <a:rPr lang="en" sz="1500"/>
              <a:t> therefore more data</a:t>
            </a:r>
            <a:endParaRPr sz="1500"/>
          </a:p>
          <a:p>
            <a:pPr indent="-323850" lvl="1" marL="914400" rtl="0" algn="l">
              <a:spcBef>
                <a:spcPts val="0"/>
              </a:spcBef>
              <a:spcAft>
                <a:spcPts val="0"/>
              </a:spcAft>
              <a:buSzPts val="1500"/>
              <a:buChar char="○"/>
            </a:pPr>
            <a:r>
              <a:rPr lang="en" sz="1500"/>
              <a:t>These are two different stages in a stars life </a:t>
            </a:r>
            <a:r>
              <a:rPr lang="en" sz="1500"/>
              <a:t>cycle</a:t>
            </a:r>
            <a:r>
              <a:rPr lang="en" sz="1500"/>
              <a:t>.</a:t>
            </a:r>
            <a:endParaRPr sz="1500"/>
          </a:p>
          <a:p>
            <a:pPr indent="-323850" lvl="1" marL="914400" rtl="0" algn="l">
              <a:spcBef>
                <a:spcPts val="0"/>
              </a:spcBef>
              <a:spcAft>
                <a:spcPts val="0"/>
              </a:spcAft>
              <a:buSzPts val="1500"/>
              <a:buChar char="○"/>
            </a:pPr>
            <a:r>
              <a:rPr lang="en" sz="1500"/>
              <a:t>Important for: Stellar ages and Mass loss</a:t>
            </a:r>
            <a:endParaRPr sz="1500"/>
          </a:p>
        </p:txBody>
      </p:sp>
      <p:pic>
        <p:nvPicPr>
          <p:cNvPr id="531" name="Google Shape;531;p49"/>
          <p:cNvPicPr preferRelativeResize="0"/>
          <p:nvPr>
            <p:ph idx="2" type="pic"/>
          </p:nvPr>
        </p:nvPicPr>
        <p:blipFill rotWithShape="1">
          <a:blip r:embed="rId3">
            <a:alphaModFix/>
          </a:blip>
          <a:srcRect b="16966" l="0" r="0" t="13787"/>
          <a:stretch/>
        </p:blipFill>
        <p:spPr>
          <a:xfrm>
            <a:off x="5342000" y="162775"/>
            <a:ext cx="3573300" cy="4383900"/>
          </a:xfrm>
          <a:prstGeom prst="roundRect">
            <a:avLst>
              <a:gd fmla="val 16667" name="adj"/>
            </a:avLst>
          </a:prstGeom>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50"/>
          <p:cNvSpPr txBox="1"/>
          <p:nvPr>
            <p:ph type="title"/>
          </p:nvPr>
        </p:nvSpPr>
        <p:spPr>
          <a:xfrm>
            <a:off x="228600" y="390175"/>
            <a:ext cx="42966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Main Problem</a:t>
            </a:r>
            <a:endParaRPr/>
          </a:p>
        </p:txBody>
      </p:sp>
      <p:sp>
        <p:nvSpPr>
          <p:cNvPr id="537" name="Google Shape;537;p50"/>
          <p:cNvSpPr txBox="1"/>
          <p:nvPr>
            <p:ph idx="1" type="body"/>
          </p:nvPr>
        </p:nvSpPr>
        <p:spPr>
          <a:xfrm>
            <a:off x="228600" y="927475"/>
            <a:ext cx="4758000" cy="3525300"/>
          </a:xfrm>
          <a:prstGeom prst="rect">
            <a:avLst/>
          </a:prstGeom>
        </p:spPr>
        <p:txBody>
          <a:bodyPr anchorCtr="0" anchor="t" bIns="0" lIns="0" spcFirstLastPara="1" rIns="91425" wrap="square" tIns="91425">
            <a:noAutofit/>
          </a:bodyPr>
          <a:lstStyle/>
          <a:p>
            <a:pPr indent="-323850" lvl="0" marL="457200" rtl="0" algn="l">
              <a:spcBef>
                <a:spcPts val="0"/>
              </a:spcBef>
              <a:spcAft>
                <a:spcPts val="0"/>
              </a:spcAft>
              <a:buClr>
                <a:schemeClr val="dk2"/>
              </a:buClr>
              <a:buSzPts val="1500"/>
              <a:buChar char="●"/>
            </a:pPr>
            <a:r>
              <a:rPr lang="en" sz="1500">
                <a:solidFill>
                  <a:schemeClr val="dk2"/>
                </a:solidFill>
              </a:rPr>
              <a:t>Millions of spectra exist for known stars, with emission and absorption lines containing information about temperature, surface gravity, elemental abundances, and more </a:t>
            </a:r>
            <a:endParaRPr sz="1500">
              <a:solidFill>
                <a:schemeClr val="dk2"/>
              </a:solidFill>
            </a:endParaRPr>
          </a:p>
          <a:p>
            <a:pPr indent="0" lvl="0" marL="457200" rtl="0" algn="l">
              <a:spcBef>
                <a:spcPts val="0"/>
              </a:spcBef>
              <a:spcAft>
                <a:spcPts val="0"/>
              </a:spcAft>
              <a:buNone/>
            </a:pPr>
            <a:r>
              <a:rPr lang="en" sz="1500">
                <a:solidFill>
                  <a:schemeClr val="dk2"/>
                </a:solidFill>
              </a:rPr>
              <a:t>​</a:t>
            </a:r>
            <a:endParaRPr sz="1500">
              <a:solidFill>
                <a:schemeClr val="dk2"/>
              </a:solidFill>
            </a:endParaRPr>
          </a:p>
          <a:p>
            <a:pPr indent="-323850" lvl="0" marL="457200" rtl="0" algn="l">
              <a:spcBef>
                <a:spcPts val="0"/>
              </a:spcBef>
              <a:spcAft>
                <a:spcPts val="0"/>
              </a:spcAft>
              <a:buClr>
                <a:schemeClr val="dk2"/>
              </a:buClr>
              <a:buSzPts val="1500"/>
              <a:buChar char="●"/>
            </a:pPr>
            <a:r>
              <a:rPr lang="en" sz="1500"/>
              <a:t>This however this does not help us when it comes to differentiating between stars in the Red Giant Branch and in the Red Clump of the HR diagram</a:t>
            </a:r>
            <a:endParaRPr sz="1500"/>
          </a:p>
          <a:p>
            <a:pPr indent="-323850" lvl="1" marL="914400" rtl="0" algn="l">
              <a:spcBef>
                <a:spcPts val="0"/>
              </a:spcBef>
              <a:spcAft>
                <a:spcPts val="0"/>
              </a:spcAft>
              <a:buSzPts val="1500"/>
              <a:buChar char="○"/>
            </a:pPr>
            <a:r>
              <a:rPr lang="en" sz="1500"/>
              <a:t>More luminous therefore more data</a:t>
            </a:r>
            <a:endParaRPr sz="1500"/>
          </a:p>
          <a:p>
            <a:pPr indent="-323850" lvl="1" marL="914400" rtl="0" algn="l">
              <a:spcBef>
                <a:spcPts val="0"/>
              </a:spcBef>
              <a:spcAft>
                <a:spcPts val="0"/>
              </a:spcAft>
              <a:buSzPts val="1500"/>
              <a:buChar char="○"/>
            </a:pPr>
            <a:r>
              <a:rPr lang="en" sz="1500"/>
              <a:t>These are two different stages in a stars life cycle.</a:t>
            </a:r>
            <a:endParaRPr sz="1500"/>
          </a:p>
          <a:p>
            <a:pPr indent="-323850" lvl="1" marL="914400" rtl="0" algn="l">
              <a:spcBef>
                <a:spcPts val="0"/>
              </a:spcBef>
              <a:spcAft>
                <a:spcPts val="0"/>
              </a:spcAft>
              <a:buSzPts val="1500"/>
              <a:buChar char="○"/>
            </a:pPr>
            <a:r>
              <a:rPr lang="en" sz="1500"/>
              <a:t>Important for: Stellar ages and Mass loss</a:t>
            </a:r>
            <a:endParaRPr sz="1500"/>
          </a:p>
        </p:txBody>
      </p:sp>
      <p:pic>
        <p:nvPicPr>
          <p:cNvPr id="538" name="Google Shape;538;p50"/>
          <p:cNvPicPr preferRelativeResize="0"/>
          <p:nvPr>
            <p:ph idx="2" type="pic"/>
          </p:nvPr>
        </p:nvPicPr>
        <p:blipFill rotWithShape="1">
          <a:blip r:embed="rId3">
            <a:alphaModFix/>
          </a:blip>
          <a:srcRect b="16966" l="0" r="0" t="13787"/>
          <a:stretch/>
        </p:blipFill>
        <p:spPr>
          <a:xfrm>
            <a:off x="5342000" y="162775"/>
            <a:ext cx="3573300" cy="4383900"/>
          </a:xfrm>
          <a:prstGeom prst="roundRect">
            <a:avLst>
              <a:gd fmla="val 16667" name="adj"/>
            </a:avLst>
          </a:prstGeom>
        </p:spPr>
      </p:pic>
      <p:sp>
        <p:nvSpPr>
          <p:cNvPr id="539" name="Google Shape;539;p50"/>
          <p:cNvSpPr txBox="1"/>
          <p:nvPr/>
        </p:nvSpPr>
        <p:spPr>
          <a:xfrm>
            <a:off x="228600" y="4231675"/>
            <a:ext cx="4440900" cy="31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800"/>
              </a:spcAft>
              <a:buNone/>
            </a:pPr>
            <a:r>
              <a:rPr lang="en" sz="1500">
                <a:solidFill>
                  <a:schemeClr val="lt1"/>
                </a:solidFill>
                <a:latin typeface="Urbanist"/>
                <a:ea typeface="Urbanist"/>
                <a:cs typeface="Urbanist"/>
                <a:sym typeface="Urbanist"/>
              </a:rPr>
              <a:t>What if we can link seismology and spectra?</a:t>
            </a:r>
            <a:endParaRPr sz="1200">
              <a:solidFill>
                <a:schemeClr val="lt1"/>
              </a:solidFill>
              <a:latin typeface="Urbanist"/>
              <a:ea typeface="Urbanist"/>
              <a:cs typeface="Urbanist"/>
              <a:sym typeface="Urbanis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51"/>
          <p:cNvSpPr txBox="1"/>
          <p:nvPr>
            <p:ph type="title"/>
          </p:nvPr>
        </p:nvSpPr>
        <p:spPr>
          <a:xfrm>
            <a:off x="228600" y="390175"/>
            <a:ext cx="42966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TheCannon</a:t>
            </a:r>
            <a:endParaRPr/>
          </a:p>
        </p:txBody>
      </p:sp>
      <p:sp>
        <p:nvSpPr>
          <p:cNvPr id="545" name="Google Shape;545;p51"/>
          <p:cNvSpPr txBox="1"/>
          <p:nvPr>
            <p:ph idx="3" type="subTitle"/>
          </p:nvPr>
        </p:nvSpPr>
        <p:spPr>
          <a:xfrm>
            <a:off x="341500" y="4907100"/>
            <a:ext cx="8936400" cy="236400"/>
          </a:xfrm>
          <a:prstGeom prst="rect">
            <a:avLst/>
          </a:prstGeom>
        </p:spPr>
        <p:txBody>
          <a:bodyPr anchorCtr="0" anchor="b"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a:latin typeface="Urbanist"/>
                <a:ea typeface="Urbanist"/>
                <a:cs typeface="Urbanist"/>
                <a:sym typeface="Urbanist"/>
              </a:rPr>
              <a:t>Ness et al. 2015,</a:t>
            </a:r>
            <a:r>
              <a:rPr lang="en">
                <a:latin typeface="Urbanist"/>
                <a:ea typeface="Urbanist"/>
                <a:cs typeface="Urbanist"/>
                <a:sym typeface="Urbanist"/>
              </a:rPr>
              <a:t> "The Cannon: A Data-Driven Approach to Stellar Label Determination," </a:t>
            </a:r>
            <a:r>
              <a:rPr i="1" lang="en">
                <a:latin typeface="Urbanist"/>
                <a:ea typeface="Urbanist"/>
                <a:cs typeface="Urbanist"/>
                <a:sym typeface="Urbanist"/>
              </a:rPr>
              <a:t>The Astrophysical Journal</a:t>
            </a:r>
            <a:r>
              <a:rPr lang="en">
                <a:latin typeface="Urbanist"/>
                <a:ea typeface="Urbanist"/>
                <a:cs typeface="Urbanist"/>
                <a:sym typeface="Urbanist"/>
              </a:rPr>
              <a:t>, 808:16 </a:t>
            </a:r>
            <a:r>
              <a:rPr lang="en" u="sng">
                <a:latin typeface="Urbanist"/>
                <a:ea typeface="Urbanist"/>
                <a:cs typeface="Urbanist"/>
                <a:sym typeface="Urbanist"/>
                <a:hlinkClick r:id="rId3"/>
              </a:rPr>
              <a:t>https://iopscience.iop.org/article/10.1088/0004-637X/808/1/16/pdf</a:t>
            </a:r>
            <a:endParaRPr>
              <a:latin typeface="Urbanist"/>
              <a:ea typeface="Urbanist"/>
              <a:cs typeface="Urbanist"/>
              <a:sym typeface="Urbanist"/>
            </a:endParaRPr>
          </a:p>
          <a:p>
            <a:pPr indent="0" lvl="0" marL="0" rtl="0" algn="l">
              <a:spcBef>
                <a:spcPts val="0"/>
              </a:spcBef>
              <a:spcAft>
                <a:spcPts val="0"/>
              </a:spcAft>
              <a:buNone/>
            </a:pPr>
            <a:r>
              <a:t/>
            </a:r>
            <a:endParaRPr/>
          </a:p>
        </p:txBody>
      </p:sp>
      <p:sp>
        <p:nvSpPr>
          <p:cNvPr id="546" name="Google Shape;546;p51"/>
          <p:cNvSpPr txBox="1"/>
          <p:nvPr>
            <p:ph idx="1" type="body"/>
          </p:nvPr>
        </p:nvSpPr>
        <p:spPr>
          <a:xfrm>
            <a:off x="228600" y="927475"/>
            <a:ext cx="4464000" cy="3525300"/>
          </a:xfrm>
          <a:prstGeom prst="rect">
            <a:avLst/>
          </a:prstGeom>
        </p:spPr>
        <p:txBody>
          <a:bodyPr anchorCtr="0" anchor="t" bIns="91425" lIns="0"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2"/>
                </a:solidFill>
                <a:latin typeface="Urbanist Medium"/>
                <a:ea typeface="Urbanist Medium"/>
                <a:cs typeface="Urbanist Medium"/>
                <a:sym typeface="Urbanist Medium"/>
              </a:rPr>
              <a:t>Using a set of reference objects to train predictions on and then use to predict these labels for a new data set that does not include these labels in the surve.</a:t>
            </a:r>
            <a:endParaRPr>
              <a:solidFill>
                <a:schemeClr val="dk2"/>
              </a:solidFill>
              <a:latin typeface="Urbanist Medium"/>
              <a:ea typeface="Urbanist Medium"/>
              <a:cs typeface="Urbanist Medium"/>
              <a:sym typeface="Urbanist Medium"/>
            </a:endParaRPr>
          </a:p>
          <a:p>
            <a:pPr indent="0" lvl="0" marL="0" rtl="0" algn="l">
              <a:lnSpc>
                <a:spcPct val="115000"/>
              </a:lnSpc>
              <a:spcBef>
                <a:spcPts val="0"/>
              </a:spcBef>
              <a:spcAft>
                <a:spcPts val="0"/>
              </a:spcAft>
              <a:buClr>
                <a:schemeClr val="dk1"/>
              </a:buClr>
              <a:buSzPts val="1100"/>
              <a:buFont typeface="Arial"/>
              <a:buNone/>
            </a:pPr>
            <a:r>
              <a:t/>
            </a:r>
            <a:endParaRPr>
              <a:solidFill>
                <a:schemeClr val="dk2"/>
              </a:solidFill>
              <a:latin typeface="Urbanist Medium"/>
              <a:ea typeface="Urbanist Medium"/>
              <a:cs typeface="Urbanist Medium"/>
              <a:sym typeface="Urbanist Medium"/>
            </a:endParaRPr>
          </a:p>
          <a:p>
            <a:pPr indent="0" lvl="0" marL="0" rtl="0" algn="l">
              <a:lnSpc>
                <a:spcPct val="115000"/>
              </a:lnSpc>
              <a:spcBef>
                <a:spcPts val="0"/>
              </a:spcBef>
              <a:spcAft>
                <a:spcPts val="0"/>
              </a:spcAft>
              <a:buClr>
                <a:schemeClr val="dk1"/>
              </a:buClr>
              <a:buSzPts val="1100"/>
              <a:buFont typeface="Arial"/>
              <a:buNone/>
            </a:pPr>
            <a:r>
              <a:rPr lang="en">
                <a:solidFill>
                  <a:schemeClr val="dk2"/>
                </a:solidFill>
                <a:latin typeface="Urbanist Medium"/>
                <a:ea typeface="Urbanist Medium"/>
                <a:cs typeface="Urbanist Medium"/>
                <a:sym typeface="Urbanist Medium"/>
              </a:rPr>
              <a:t>Named after Annie Jump Cannon, American astronomer that logged spectra</a:t>
            </a:r>
            <a:endParaRPr>
              <a:solidFill>
                <a:schemeClr val="dk2"/>
              </a:solidFill>
              <a:latin typeface="Urbanist Medium"/>
              <a:ea typeface="Urbanist Medium"/>
              <a:cs typeface="Urbanist Medium"/>
              <a:sym typeface="Urbanist Medium"/>
            </a:endParaRPr>
          </a:p>
          <a:p>
            <a:pPr indent="0" lvl="0" marL="0" rtl="0" algn="l">
              <a:lnSpc>
                <a:spcPct val="115000"/>
              </a:lnSpc>
              <a:spcBef>
                <a:spcPts val="0"/>
              </a:spcBef>
              <a:spcAft>
                <a:spcPts val="0"/>
              </a:spcAft>
              <a:buClr>
                <a:schemeClr val="dk1"/>
              </a:buClr>
              <a:buSzPts val="1100"/>
              <a:buFont typeface="Arial"/>
              <a:buNone/>
            </a:pPr>
            <a:r>
              <a:t/>
            </a:r>
            <a:endParaRPr>
              <a:solidFill>
                <a:schemeClr val="dk2"/>
              </a:solidFill>
              <a:latin typeface="Urbanist Medium"/>
              <a:ea typeface="Urbanist Medium"/>
              <a:cs typeface="Urbanist Medium"/>
              <a:sym typeface="Urbanist Medium"/>
            </a:endParaRPr>
          </a:p>
          <a:p>
            <a:pPr indent="0" lvl="0" marL="0" rtl="0" algn="l">
              <a:lnSpc>
                <a:spcPct val="115000"/>
              </a:lnSpc>
              <a:spcBef>
                <a:spcPts val="0"/>
              </a:spcBef>
              <a:spcAft>
                <a:spcPts val="0"/>
              </a:spcAft>
              <a:buClr>
                <a:schemeClr val="dk1"/>
              </a:buClr>
              <a:buSzPts val="1100"/>
              <a:buFont typeface="Arial"/>
              <a:buNone/>
            </a:pPr>
            <a:r>
              <a:rPr lang="en">
                <a:solidFill>
                  <a:schemeClr val="dk2"/>
                </a:solidFill>
                <a:latin typeface="Urbanist Medium"/>
                <a:ea typeface="Urbanist Medium"/>
                <a:cs typeface="Urbanist Medium"/>
                <a:sym typeface="Urbanist Medium"/>
              </a:rPr>
              <a:t>Steps of use:</a:t>
            </a:r>
            <a:endParaRPr>
              <a:solidFill>
                <a:schemeClr val="dk2"/>
              </a:solidFill>
              <a:latin typeface="Urbanist Medium"/>
              <a:ea typeface="Urbanist Medium"/>
              <a:cs typeface="Urbanist Medium"/>
              <a:sym typeface="Urbanist Medium"/>
            </a:endParaRPr>
          </a:p>
          <a:p>
            <a:pPr indent="-317500" lvl="0" marL="457200" rtl="0" algn="l">
              <a:lnSpc>
                <a:spcPct val="115000"/>
              </a:lnSpc>
              <a:spcBef>
                <a:spcPts val="0"/>
              </a:spcBef>
              <a:spcAft>
                <a:spcPts val="0"/>
              </a:spcAft>
              <a:buClr>
                <a:schemeClr val="dk2"/>
              </a:buClr>
              <a:buSzPts val="1400"/>
              <a:buFont typeface="Urbanist Medium"/>
              <a:buAutoNum type="arabicPeriod"/>
            </a:pPr>
            <a:r>
              <a:rPr lang="en">
                <a:solidFill>
                  <a:schemeClr val="dk2"/>
                </a:solidFill>
                <a:latin typeface="Urbanist Medium"/>
                <a:ea typeface="Urbanist Medium"/>
                <a:cs typeface="Urbanist Medium"/>
                <a:sym typeface="Urbanist Medium"/>
              </a:rPr>
              <a:t>Get and format data</a:t>
            </a:r>
            <a:endParaRPr>
              <a:solidFill>
                <a:schemeClr val="dk2"/>
              </a:solidFill>
              <a:latin typeface="Urbanist Medium"/>
              <a:ea typeface="Urbanist Medium"/>
              <a:cs typeface="Urbanist Medium"/>
              <a:sym typeface="Urbanist Medium"/>
            </a:endParaRPr>
          </a:p>
          <a:p>
            <a:pPr indent="-317500" lvl="0" marL="457200" rtl="0" algn="l">
              <a:lnSpc>
                <a:spcPct val="115000"/>
              </a:lnSpc>
              <a:spcBef>
                <a:spcPts val="0"/>
              </a:spcBef>
              <a:spcAft>
                <a:spcPts val="0"/>
              </a:spcAft>
              <a:buClr>
                <a:schemeClr val="dk2"/>
              </a:buClr>
              <a:buSzPts val="1400"/>
              <a:buFont typeface="Urbanist Medium"/>
              <a:buAutoNum type="arabicPeriod"/>
            </a:pPr>
            <a:r>
              <a:rPr lang="en">
                <a:solidFill>
                  <a:schemeClr val="dk2"/>
                </a:solidFill>
                <a:latin typeface="Urbanist Medium"/>
                <a:ea typeface="Urbanist Medium"/>
                <a:cs typeface="Urbanist Medium"/>
                <a:sym typeface="Urbanist Medium"/>
              </a:rPr>
              <a:t>Use reference set to fit a spectral model (training)</a:t>
            </a:r>
            <a:endParaRPr>
              <a:solidFill>
                <a:schemeClr val="dk2"/>
              </a:solidFill>
              <a:latin typeface="Urbanist Medium"/>
              <a:ea typeface="Urbanist Medium"/>
              <a:cs typeface="Urbanist Medium"/>
              <a:sym typeface="Urbanist Medium"/>
            </a:endParaRPr>
          </a:p>
          <a:p>
            <a:pPr indent="-317500" lvl="0" marL="457200" rtl="0" algn="l">
              <a:lnSpc>
                <a:spcPct val="115000"/>
              </a:lnSpc>
              <a:spcBef>
                <a:spcPts val="0"/>
              </a:spcBef>
              <a:spcAft>
                <a:spcPts val="0"/>
              </a:spcAft>
              <a:buClr>
                <a:schemeClr val="dk2"/>
              </a:buClr>
              <a:buSzPts val="1400"/>
              <a:buFont typeface="Urbanist Medium"/>
              <a:buAutoNum type="arabicPeriod"/>
            </a:pPr>
            <a:r>
              <a:rPr lang="en">
                <a:solidFill>
                  <a:schemeClr val="dk2"/>
                </a:solidFill>
                <a:latin typeface="Urbanist Medium"/>
                <a:ea typeface="Urbanist Medium"/>
                <a:cs typeface="Urbanist Medium"/>
                <a:sym typeface="Urbanist Medium"/>
              </a:rPr>
              <a:t>Make sure the model is sensible, perform a leave-n-out cross-validation</a:t>
            </a:r>
            <a:endParaRPr>
              <a:solidFill>
                <a:schemeClr val="dk2"/>
              </a:solidFill>
              <a:latin typeface="Urbanist Medium"/>
              <a:ea typeface="Urbanist Medium"/>
              <a:cs typeface="Urbanist Medium"/>
              <a:sym typeface="Urbanist Medium"/>
            </a:endParaRPr>
          </a:p>
          <a:p>
            <a:pPr indent="-317500" lvl="0" marL="457200" rtl="0" algn="l">
              <a:lnSpc>
                <a:spcPct val="115000"/>
              </a:lnSpc>
              <a:spcBef>
                <a:spcPts val="0"/>
              </a:spcBef>
              <a:spcAft>
                <a:spcPts val="0"/>
              </a:spcAft>
              <a:buClr>
                <a:schemeClr val="dk2"/>
              </a:buClr>
              <a:buSzPts val="1400"/>
              <a:buFont typeface="Urbanist Medium"/>
              <a:buAutoNum type="arabicPeriod"/>
            </a:pPr>
            <a:r>
              <a:rPr lang="en">
                <a:solidFill>
                  <a:schemeClr val="dk2"/>
                </a:solidFill>
                <a:latin typeface="Urbanist Medium"/>
                <a:ea typeface="Urbanist Medium"/>
                <a:cs typeface="Urbanist Medium"/>
                <a:sym typeface="Urbanist Medium"/>
              </a:rPr>
              <a:t>Then use it to infer labels from all the other spectra in the dataset (testing)</a:t>
            </a:r>
            <a:endParaRPr>
              <a:solidFill>
                <a:schemeClr val="dk2"/>
              </a:solidFill>
              <a:latin typeface="Urbanist Medium"/>
              <a:ea typeface="Urbanist Medium"/>
              <a:cs typeface="Urbanist Medium"/>
              <a:sym typeface="Urbanist Medium"/>
            </a:endParaRPr>
          </a:p>
          <a:p>
            <a:pPr indent="0" lvl="0" marL="0" rtl="0" algn="l">
              <a:lnSpc>
                <a:spcPct val="115000"/>
              </a:lnSpc>
              <a:spcBef>
                <a:spcPts val="0"/>
              </a:spcBef>
              <a:spcAft>
                <a:spcPts val="800"/>
              </a:spcAft>
              <a:buNone/>
            </a:pPr>
            <a:r>
              <a:t/>
            </a:r>
            <a:endParaRPr/>
          </a:p>
        </p:txBody>
      </p:sp>
      <p:pic>
        <p:nvPicPr>
          <p:cNvPr id="547" name="Google Shape;547;p51"/>
          <p:cNvPicPr preferRelativeResize="0"/>
          <p:nvPr>
            <p:ph idx="2" type="pic"/>
          </p:nvPr>
        </p:nvPicPr>
        <p:blipFill rotWithShape="1">
          <a:blip r:embed="rId4">
            <a:alphaModFix/>
          </a:blip>
          <a:srcRect b="10273" l="0" r="0" t="10280"/>
          <a:stretch/>
        </p:blipFill>
        <p:spPr>
          <a:xfrm>
            <a:off x="5211800" y="457200"/>
            <a:ext cx="3573300" cy="3995400"/>
          </a:xfrm>
          <a:prstGeom prst="roundRect">
            <a:avLst>
              <a:gd fmla="val 16667" name="adj"/>
            </a:avLst>
          </a:prstGeom>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52"/>
          <p:cNvSpPr txBox="1"/>
          <p:nvPr>
            <p:ph idx="1" type="body"/>
          </p:nvPr>
        </p:nvSpPr>
        <p:spPr>
          <a:xfrm>
            <a:off x="228600" y="891800"/>
            <a:ext cx="5070600" cy="2111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500"/>
              <a:t>These are some of the one-to-one plots from TheCannon of labels that I chose to train it on to help constrain the label estimates of period spacing to be more accurate.. </a:t>
            </a:r>
            <a:endParaRPr sz="1500"/>
          </a:p>
          <a:p>
            <a:pPr indent="0" lvl="0" marL="0" rtl="0" algn="l">
              <a:spcBef>
                <a:spcPts val="800"/>
              </a:spcBef>
              <a:spcAft>
                <a:spcPts val="800"/>
              </a:spcAft>
              <a:buNone/>
            </a:pPr>
            <a:r>
              <a:rPr lang="en" sz="1500"/>
              <a:t>Trained on effective </a:t>
            </a:r>
            <a:r>
              <a:rPr lang="en" sz="1500"/>
              <a:t>temperature</a:t>
            </a:r>
            <a:r>
              <a:rPr lang="en" sz="1500"/>
              <a:t>, surface gravity (log scaled), and </a:t>
            </a:r>
            <a:r>
              <a:rPr lang="en" sz="1500"/>
              <a:t>iron and magnesium ratio from the stars spectra. This is how well TheCannon predicted these labels.</a:t>
            </a:r>
            <a:endParaRPr sz="1500"/>
          </a:p>
        </p:txBody>
      </p:sp>
      <p:pic>
        <p:nvPicPr>
          <p:cNvPr id="553" name="Google Shape;553;p52" title="Screenshot 2026-07-19 at 6.36.48 PM.png"/>
          <p:cNvPicPr preferRelativeResize="0"/>
          <p:nvPr>
            <p:ph idx="3" type="pic"/>
          </p:nvPr>
        </p:nvPicPr>
        <p:blipFill rotWithShape="1">
          <a:blip r:embed="rId3">
            <a:alphaModFix/>
          </a:blip>
          <a:srcRect b="0" l="2055" r="1447" t="5069"/>
          <a:stretch/>
        </p:blipFill>
        <p:spPr>
          <a:xfrm>
            <a:off x="5470350" y="621850"/>
            <a:ext cx="3299777" cy="1949889"/>
          </a:xfrm>
          <a:prstGeom prst="rect">
            <a:avLst/>
          </a:prstGeom>
        </p:spPr>
      </p:pic>
      <p:pic>
        <p:nvPicPr>
          <p:cNvPr id="554" name="Google Shape;554;p52" title="Screenshot 2026-07-19 at 6.37.38 PM.png"/>
          <p:cNvPicPr preferRelativeResize="0"/>
          <p:nvPr/>
        </p:nvPicPr>
        <p:blipFill rotWithShape="1">
          <a:blip r:embed="rId4">
            <a:alphaModFix/>
          </a:blip>
          <a:srcRect b="0" l="2913" r="0" t="4726"/>
          <a:stretch/>
        </p:blipFill>
        <p:spPr>
          <a:xfrm>
            <a:off x="5470350" y="2834337"/>
            <a:ext cx="3299777" cy="1940361"/>
          </a:xfrm>
          <a:prstGeom prst="rect">
            <a:avLst/>
          </a:prstGeom>
          <a:noFill/>
          <a:ln>
            <a:noFill/>
          </a:ln>
        </p:spPr>
      </p:pic>
      <p:pic>
        <p:nvPicPr>
          <p:cNvPr id="555" name="Google Shape;555;p52" title="Screenshot 2026-07-19 at 6.37.53 PM.png"/>
          <p:cNvPicPr preferRelativeResize="0"/>
          <p:nvPr/>
        </p:nvPicPr>
        <p:blipFill rotWithShape="1">
          <a:blip r:embed="rId5">
            <a:alphaModFix/>
          </a:blip>
          <a:srcRect b="0" l="1594" r="636" t="4707"/>
          <a:stretch/>
        </p:blipFill>
        <p:spPr>
          <a:xfrm>
            <a:off x="1878088" y="2841875"/>
            <a:ext cx="3299777" cy="1925276"/>
          </a:xfrm>
          <a:prstGeom prst="rect">
            <a:avLst/>
          </a:prstGeom>
          <a:noFill/>
          <a:ln>
            <a:noFill/>
          </a:ln>
        </p:spPr>
      </p:pic>
      <p:sp>
        <p:nvSpPr>
          <p:cNvPr id="556" name="Google Shape;556;p52"/>
          <p:cNvSpPr txBox="1"/>
          <p:nvPr>
            <p:ph idx="4294967295" type="title"/>
          </p:nvPr>
        </p:nvSpPr>
        <p:spPr>
          <a:xfrm>
            <a:off x="259200" y="286700"/>
            <a:ext cx="4235400" cy="60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53"/>
          <p:cNvSpPr txBox="1"/>
          <p:nvPr>
            <p:ph idx="4294967295" type="title"/>
          </p:nvPr>
        </p:nvSpPr>
        <p:spPr>
          <a:xfrm>
            <a:off x="259200" y="286700"/>
            <a:ext cx="4235400" cy="60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a:t>
            </a:r>
            <a:endParaRPr/>
          </a:p>
        </p:txBody>
      </p:sp>
      <p:sp>
        <p:nvSpPr>
          <p:cNvPr id="562" name="Google Shape;562;p53"/>
          <p:cNvSpPr txBox="1"/>
          <p:nvPr>
            <p:ph idx="4294967295" type="body"/>
          </p:nvPr>
        </p:nvSpPr>
        <p:spPr>
          <a:xfrm>
            <a:off x="228600" y="891800"/>
            <a:ext cx="3159300" cy="2274300"/>
          </a:xfrm>
          <a:prstGeom prst="rect">
            <a:avLst/>
          </a:prstGeom>
        </p:spPr>
        <p:txBody>
          <a:bodyPr anchorCtr="0" anchor="t" bIns="91425" lIns="91425" spcFirstLastPara="1" rIns="91425" wrap="square" tIns="91425">
            <a:spAutoFit/>
          </a:bodyPr>
          <a:lstStyle/>
          <a:p>
            <a:pPr indent="0" lvl="0" marL="0" rtl="0" algn="l">
              <a:spcBef>
                <a:spcPts val="0"/>
              </a:spcBef>
              <a:spcAft>
                <a:spcPts val="800"/>
              </a:spcAft>
              <a:buNone/>
            </a:pPr>
            <a:r>
              <a:rPr lang="en" sz="1500"/>
              <a:t>I was able to end up with an </a:t>
            </a:r>
            <a:r>
              <a:rPr lang="en" sz="1500"/>
              <a:t>accurate</a:t>
            </a:r>
            <a:r>
              <a:rPr lang="en" sz="1500"/>
              <a:t> model with the original cannon model where the </a:t>
            </a:r>
            <a:r>
              <a:rPr lang="en" sz="1500"/>
              <a:t>separation</a:t>
            </a:r>
            <a:r>
              <a:rPr lang="en" sz="1500"/>
              <a:t> between the RGB and RC stars being pretty evident and the histogram presenting like a gaussian. However the scattering of this one is bad.</a:t>
            </a:r>
            <a:endParaRPr sz="1500"/>
          </a:p>
        </p:txBody>
      </p:sp>
      <p:pic>
        <p:nvPicPr>
          <p:cNvPr id="563" name="Google Shape;563;p53" title="Screenshot 2026-04-30 at 11.56.10 AM.png"/>
          <p:cNvPicPr preferRelativeResize="0"/>
          <p:nvPr/>
        </p:nvPicPr>
        <p:blipFill rotWithShape="1">
          <a:blip r:embed="rId3">
            <a:alphaModFix/>
          </a:blip>
          <a:srcRect b="0" l="2229" r="0" t="0"/>
          <a:stretch/>
        </p:blipFill>
        <p:spPr>
          <a:xfrm>
            <a:off x="4282800" y="1206900"/>
            <a:ext cx="4441800" cy="2729700"/>
          </a:xfrm>
          <a:prstGeom prst="roundRect">
            <a:avLst>
              <a:gd fmla="val 16667" name="adj"/>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pic>
        <p:nvPicPr>
          <p:cNvPr id="568" name="Google Shape;568;p54" title="Screenshot 2026-04-30 at 11.56.10 AM.png"/>
          <p:cNvPicPr preferRelativeResize="0"/>
          <p:nvPr/>
        </p:nvPicPr>
        <p:blipFill rotWithShape="1">
          <a:blip r:embed="rId3">
            <a:alphaModFix/>
          </a:blip>
          <a:srcRect b="0" l="2229" r="0" t="0"/>
          <a:stretch/>
        </p:blipFill>
        <p:spPr>
          <a:xfrm>
            <a:off x="4282800" y="1206900"/>
            <a:ext cx="4441800" cy="2729700"/>
          </a:xfrm>
          <a:prstGeom prst="roundRect">
            <a:avLst>
              <a:gd fmla="val 16667" name="adj"/>
            </a:avLst>
          </a:prstGeom>
          <a:noFill/>
          <a:ln>
            <a:noFill/>
          </a:ln>
        </p:spPr>
      </p:pic>
      <p:sp>
        <p:nvSpPr>
          <p:cNvPr id="569" name="Google Shape;569;p54"/>
          <p:cNvSpPr txBox="1"/>
          <p:nvPr>
            <p:ph idx="4294967295" type="title"/>
          </p:nvPr>
        </p:nvSpPr>
        <p:spPr>
          <a:xfrm>
            <a:off x="259200" y="286700"/>
            <a:ext cx="4235400" cy="60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a:t>
            </a:r>
            <a:endParaRPr/>
          </a:p>
        </p:txBody>
      </p:sp>
      <p:sp>
        <p:nvSpPr>
          <p:cNvPr id="570" name="Google Shape;570;p54"/>
          <p:cNvSpPr txBox="1"/>
          <p:nvPr>
            <p:ph idx="4294967295" type="body"/>
          </p:nvPr>
        </p:nvSpPr>
        <p:spPr>
          <a:xfrm>
            <a:off x="228600" y="891800"/>
            <a:ext cx="3159300" cy="2274300"/>
          </a:xfrm>
          <a:prstGeom prst="rect">
            <a:avLst/>
          </a:prstGeom>
        </p:spPr>
        <p:txBody>
          <a:bodyPr anchorCtr="0" anchor="t" bIns="91425" lIns="91425" spcFirstLastPara="1" rIns="91425" wrap="square" tIns="91425">
            <a:spAutoFit/>
          </a:bodyPr>
          <a:lstStyle/>
          <a:p>
            <a:pPr indent="0" lvl="0" marL="0" rtl="0" algn="l">
              <a:spcBef>
                <a:spcPts val="0"/>
              </a:spcBef>
              <a:spcAft>
                <a:spcPts val="800"/>
              </a:spcAft>
              <a:buNone/>
            </a:pPr>
            <a:r>
              <a:rPr lang="en" sz="1500"/>
              <a:t>I was able to end up with an accurate model with the original cannon model where the separation between the RGB and RC stars being pretty evident and the histogram presenting like a gaussian. However the scattering of this one is bad.</a:t>
            </a:r>
            <a:endParaRPr sz="1500"/>
          </a:p>
        </p:txBody>
      </p:sp>
      <p:sp>
        <p:nvSpPr>
          <p:cNvPr id="571" name="Google Shape;571;p54"/>
          <p:cNvSpPr/>
          <p:nvPr/>
        </p:nvSpPr>
        <p:spPr>
          <a:xfrm rot="-967">
            <a:off x="4572003" y="1781248"/>
            <a:ext cx="1066800" cy="538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Urbanist"/>
                <a:ea typeface="Urbanist"/>
                <a:cs typeface="Urbanist"/>
                <a:sym typeface="Urbanist"/>
              </a:rPr>
              <a:t>RC stars</a:t>
            </a:r>
            <a:endParaRPr>
              <a:solidFill>
                <a:schemeClr val="lt1"/>
              </a:solidFill>
              <a:latin typeface="Urbanist"/>
              <a:ea typeface="Urbanist"/>
              <a:cs typeface="Urbanist"/>
              <a:sym typeface="Urbanist"/>
            </a:endParaRPr>
          </a:p>
        </p:txBody>
      </p:sp>
      <p:sp>
        <p:nvSpPr>
          <p:cNvPr id="572" name="Google Shape;572;p54"/>
          <p:cNvSpPr/>
          <p:nvPr/>
        </p:nvSpPr>
        <p:spPr>
          <a:xfrm>
            <a:off x="3792240" y="2468051"/>
            <a:ext cx="1157700" cy="538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Urbanist"/>
                <a:ea typeface="Urbanist"/>
                <a:cs typeface="Urbanist"/>
                <a:sym typeface="Urbanist"/>
              </a:rPr>
              <a:t>RGB Stars</a:t>
            </a:r>
            <a:endParaRPr>
              <a:solidFill>
                <a:schemeClr val="lt1"/>
              </a:solidFill>
              <a:latin typeface="Urbanist"/>
              <a:ea typeface="Urbanist"/>
              <a:cs typeface="Urbanist"/>
              <a:sym typeface="Urbanis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55"/>
          <p:cNvSpPr txBox="1"/>
          <p:nvPr>
            <p:ph idx="4294967295" type="title"/>
          </p:nvPr>
        </p:nvSpPr>
        <p:spPr>
          <a:xfrm>
            <a:off x="259200" y="286700"/>
            <a:ext cx="4235400" cy="104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right after training</a:t>
            </a:r>
            <a:endParaRPr/>
          </a:p>
        </p:txBody>
      </p:sp>
      <p:sp>
        <p:nvSpPr>
          <p:cNvPr id="578" name="Google Shape;578;p55"/>
          <p:cNvSpPr txBox="1"/>
          <p:nvPr>
            <p:ph idx="2" type="subTitle"/>
          </p:nvPr>
        </p:nvSpPr>
        <p:spPr>
          <a:xfrm>
            <a:off x="353850" y="4912325"/>
            <a:ext cx="8436300" cy="236400"/>
          </a:xfrm>
          <a:prstGeom prst="rect">
            <a:avLst/>
          </a:prstGeom>
        </p:spPr>
        <p:txBody>
          <a:bodyPr anchorCtr="0" anchor="b" bIns="0" lIns="0" spcFirstLastPara="1" rIns="0" wrap="square" tIns="0">
            <a:noAutofit/>
          </a:bodyPr>
          <a:lstStyle/>
          <a:p>
            <a:pPr indent="0" lvl="0" marL="0" rtl="0" algn="l">
              <a:lnSpc>
                <a:spcPct val="115000"/>
              </a:lnSpc>
              <a:spcBef>
                <a:spcPts val="0"/>
              </a:spcBef>
              <a:spcAft>
                <a:spcPts val="0"/>
              </a:spcAft>
              <a:buClr>
                <a:schemeClr val="dk1"/>
              </a:buClr>
              <a:buSzPts val="1100"/>
              <a:buNone/>
            </a:pPr>
            <a:r>
              <a:rPr lang="en">
                <a:solidFill>
                  <a:srgbClr val="FFFFFF"/>
                </a:solidFill>
                <a:latin typeface="Urbanist"/>
                <a:ea typeface="Urbanist"/>
                <a:cs typeface="Urbanist"/>
                <a:sym typeface="Urbanist"/>
              </a:rPr>
              <a:t>Hawkins, K., Ting, Y.-S., &amp; Rix, H.-W. (2017). Photospheric diagnostics of core helium burning in giantstars. arXiv e-prints, arXiv:1712.02405 (Accepted to The Astrophysical Journal). </a:t>
            </a:r>
            <a:endParaRPr>
              <a:solidFill>
                <a:srgbClr val="FFFFFF"/>
              </a:solidFill>
              <a:latin typeface="Urbanist"/>
              <a:ea typeface="Urbanist"/>
              <a:cs typeface="Urbanist"/>
              <a:sym typeface="Urbanist"/>
            </a:endParaRPr>
          </a:p>
          <a:p>
            <a:pPr indent="0" lvl="0" marL="0" rtl="0" algn="l">
              <a:spcBef>
                <a:spcPts val="0"/>
              </a:spcBef>
              <a:spcAft>
                <a:spcPts val="0"/>
              </a:spcAft>
              <a:buClr>
                <a:schemeClr val="dk1"/>
              </a:buClr>
              <a:buSzPts val="1100"/>
              <a:buNone/>
            </a:pPr>
            <a:r>
              <a:t/>
            </a:r>
            <a:endParaRPr/>
          </a:p>
        </p:txBody>
      </p:sp>
      <p:sp>
        <p:nvSpPr>
          <p:cNvPr id="579" name="Google Shape;579;p55"/>
          <p:cNvSpPr txBox="1"/>
          <p:nvPr>
            <p:ph idx="4294967295" type="body"/>
          </p:nvPr>
        </p:nvSpPr>
        <p:spPr>
          <a:xfrm>
            <a:off x="228600" y="1334700"/>
            <a:ext cx="3520200" cy="3010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500"/>
              <a:t>I then tried to recreate the plot from the Hawkins paper to see how well TheCannon model can predict the labels for period spacing. Unlike the the papers cannon model ours predictions are a little less accurate as shown with how low some of the values for period spacing are.</a:t>
            </a:r>
            <a:endParaRPr sz="1500"/>
          </a:p>
          <a:p>
            <a:pPr indent="0" lvl="0" marL="0" rtl="0" algn="l">
              <a:spcBef>
                <a:spcPts val="800"/>
              </a:spcBef>
              <a:spcAft>
                <a:spcPts val="0"/>
              </a:spcAft>
              <a:buNone/>
            </a:pPr>
            <a:r>
              <a:rPr lang="en" sz="1500"/>
              <a:t>Predicted</a:t>
            </a:r>
            <a:r>
              <a:rPr lang="en" sz="1500"/>
              <a:t> RGB: 413   True num RGB: 582</a:t>
            </a:r>
            <a:endParaRPr sz="1500"/>
          </a:p>
          <a:p>
            <a:pPr indent="0" lvl="0" marL="0" rtl="0" algn="l">
              <a:spcBef>
                <a:spcPts val="800"/>
              </a:spcBef>
              <a:spcAft>
                <a:spcPts val="800"/>
              </a:spcAft>
              <a:buNone/>
            </a:pPr>
            <a:r>
              <a:rPr lang="en" sz="1500"/>
              <a:t>Predicted RC: 944    True num RC: 840</a:t>
            </a:r>
            <a:endParaRPr sz="1500">
              <a:solidFill>
                <a:srgbClr val="FF0000"/>
              </a:solidFill>
            </a:endParaRPr>
          </a:p>
        </p:txBody>
      </p:sp>
      <p:pic>
        <p:nvPicPr>
          <p:cNvPr id="580" name="Google Shape;580;p55"/>
          <p:cNvPicPr preferRelativeResize="0"/>
          <p:nvPr/>
        </p:nvPicPr>
        <p:blipFill>
          <a:blip r:embed="rId3">
            <a:alphaModFix/>
          </a:blip>
          <a:stretch>
            <a:fillRect/>
          </a:stretch>
        </p:blipFill>
        <p:spPr>
          <a:xfrm>
            <a:off x="3811775" y="547313"/>
            <a:ext cx="5055889" cy="1995575"/>
          </a:xfrm>
          <a:prstGeom prst="rect">
            <a:avLst/>
          </a:prstGeom>
          <a:noFill/>
          <a:ln>
            <a:noFill/>
          </a:ln>
        </p:spPr>
      </p:pic>
      <p:pic>
        <p:nvPicPr>
          <p:cNvPr id="581" name="Google Shape;581;p55" title="Screenshot 2026-07-19 at 6.04.12 PM.png"/>
          <p:cNvPicPr preferRelativeResize="0"/>
          <p:nvPr/>
        </p:nvPicPr>
        <p:blipFill>
          <a:blip r:embed="rId4">
            <a:alphaModFix/>
          </a:blip>
          <a:stretch>
            <a:fillRect/>
          </a:stretch>
        </p:blipFill>
        <p:spPr>
          <a:xfrm>
            <a:off x="4122050" y="2600649"/>
            <a:ext cx="4435348" cy="199554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56"/>
          <p:cNvSpPr txBox="1"/>
          <p:nvPr>
            <p:ph idx="1" type="subTitle"/>
          </p:nvPr>
        </p:nvSpPr>
        <p:spPr>
          <a:xfrm>
            <a:off x="228600" y="1175800"/>
            <a:ext cx="3624300" cy="24639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400"/>
              <a:t>The spectral region area show that the differences between RGB and RC stars lie mostly around molecular CN and CO line features. </a:t>
            </a:r>
            <a:endParaRPr sz="1400"/>
          </a:p>
          <a:p>
            <a:pPr indent="-317500" lvl="0" marL="457200" rtl="0" algn="l">
              <a:lnSpc>
                <a:spcPct val="115000"/>
              </a:lnSpc>
              <a:spcBef>
                <a:spcPts val="0"/>
              </a:spcBef>
              <a:spcAft>
                <a:spcPts val="0"/>
              </a:spcAft>
              <a:buSzPts val="1400"/>
              <a:buChar char="●"/>
            </a:pPr>
            <a:r>
              <a:rPr lang="en" sz="1400"/>
              <a:t>Likely </a:t>
            </a:r>
            <a:r>
              <a:rPr lang="en" sz="1400"/>
              <a:t>a result</a:t>
            </a:r>
            <a:r>
              <a:rPr lang="en" sz="1400"/>
              <a:t> of </a:t>
            </a:r>
            <a:r>
              <a:rPr lang="en" sz="1400"/>
              <a:t>extra</a:t>
            </a:r>
            <a:r>
              <a:rPr lang="en" sz="1400"/>
              <a:t> mixing from the red giant branch bump to the helium flash causing RC stars to be lower in their carbon to nitrogen ratio compared to RGB stars of similar parameters.</a:t>
            </a:r>
            <a:endParaRPr sz="1400"/>
          </a:p>
        </p:txBody>
      </p:sp>
      <p:sp>
        <p:nvSpPr>
          <p:cNvPr id="587" name="Google Shape;587;p56"/>
          <p:cNvSpPr txBox="1"/>
          <p:nvPr>
            <p:ph type="title"/>
          </p:nvPr>
        </p:nvSpPr>
        <p:spPr>
          <a:xfrm>
            <a:off x="228600" y="578175"/>
            <a:ext cx="6658800" cy="501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000"/>
              <a:t>Why does this work?</a:t>
            </a:r>
            <a:endParaRPr sz="3000"/>
          </a:p>
        </p:txBody>
      </p:sp>
      <p:pic>
        <p:nvPicPr>
          <p:cNvPr id="588" name="Google Shape;588;p56" title="Screenshot 2026-07-17 at 1.51.19 PM.png"/>
          <p:cNvPicPr preferRelativeResize="0"/>
          <p:nvPr/>
        </p:nvPicPr>
        <p:blipFill>
          <a:blip r:embed="rId3">
            <a:alphaModFix/>
          </a:blip>
          <a:stretch>
            <a:fillRect/>
          </a:stretch>
        </p:blipFill>
        <p:spPr>
          <a:xfrm>
            <a:off x="4266875" y="2571750"/>
            <a:ext cx="4618249" cy="1977650"/>
          </a:xfrm>
          <a:prstGeom prst="rect">
            <a:avLst/>
          </a:prstGeom>
          <a:noFill/>
          <a:ln>
            <a:noFill/>
          </a:ln>
        </p:spPr>
      </p:pic>
      <p:pic>
        <p:nvPicPr>
          <p:cNvPr id="589" name="Google Shape;589;p56" title="Screenshot 2026-07-19 at 2.51.19 PM.png"/>
          <p:cNvPicPr preferRelativeResize="0"/>
          <p:nvPr/>
        </p:nvPicPr>
        <p:blipFill>
          <a:blip r:embed="rId4">
            <a:alphaModFix/>
          </a:blip>
          <a:stretch>
            <a:fillRect/>
          </a:stretch>
        </p:blipFill>
        <p:spPr>
          <a:xfrm>
            <a:off x="4236600" y="578174"/>
            <a:ext cx="4678802" cy="1825607"/>
          </a:xfrm>
          <a:prstGeom prst="rect">
            <a:avLst/>
          </a:prstGeom>
          <a:noFill/>
          <a:ln>
            <a:noFill/>
          </a:ln>
        </p:spPr>
      </p:pic>
      <p:sp>
        <p:nvSpPr>
          <p:cNvPr id="590" name="Google Shape;590;p56"/>
          <p:cNvSpPr txBox="1"/>
          <p:nvPr>
            <p:ph idx="2" type="subTitle"/>
          </p:nvPr>
        </p:nvSpPr>
        <p:spPr>
          <a:xfrm>
            <a:off x="353850" y="4912325"/>
            <a:ext cx="8436300" cy="236400"/>
          </a:xfrm>
          <a:prstGeom prst="rect">
            <a:avLst/>
          </a:prstGeom>
        </p:spPr>
        <p:txBody>
          <a:bodyPr anchorCtr="0" anchor="b" bIns="0" lIns="0" spcFirstLastPara="1" rIns="0" wrap="square" tIns="0">
            <a:noAutofit/>
          </a:bodyPr>
          <a:lstStyle/>
          <a:p>
            <a:pPr indent="0" lvl="0" marL="0" rtl="0" algn="l">
              <a:lnSpc>
                <a:spcPct val="115000"/>
              </a:lnSpc>
              <a:spcBef>
                <a:spcPts val="0"/>
              </a:spcBef>
              <a:spcAft>
                <a:spcPts val="0"/>
              </a:spcAft>
              <a:buClr>
                <a:schemeClr val="dk1"/>
              </a:buClr>
              <a:buSzPts val="1100"/>
              <a:buNone/>
            </a:pPr>
            <a:r>
              <a:rPr lang="en">
                <a:solidFill>
                  <a:srgbClr val="FFFFFF"/>
                </a:solidFill>
                <a:latin typeface="Urbanist"/>
                <a:ea typeface="Urbanist"/>
                <a:cs typeface="Urbanist"/>
                <a:sym typeface="Urbanist"/>
              </a:rPr>
              <a:t>Hawkins, K., Ting, Y.-S., &amp; Rix, H.-W. (2017). Photospheric diagnostics of core helium burning in giantstars. arXiv e-prints, arXiv:1712.02405 (Accepted to The Astrophysical Journal). </a:t>
            </a:r>
            <a:endParaRPr>
              <a:solidFill>
                <a:srgbClr val="FFFFFF"/>
              </a:solidFill>
              <a:latin typeface="Urbanist"/>
              <a:ea typeface="Urbanist"/>
              <a:cs typeface="Urbanist"/>
              <a:sym typeface="Urbanist"/>
            </a:endParaRPr>
          </a:p>
          <a:p>
            <a:pPr indent="0" lvl="0" marL="0" rtl="0" algn="l">
              <a:spcBef>
                <a:spcPts val="0"/>
              </a:spcBef>
              <a:spcAft>
                <a:spcPts val="0"/>
              </a:spcAft>
              <a:buClr>
                <a:schemeClr val="dk1"/>
              </a:buClr>
              <a:buSzPts val="11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57"/>
          <p:cNvSpPr txBox="1"/>
          <p:nvPr>
            <p:ph idx="4294967295" type="title"/>
          </p:nvPr>
        </p:nvSpPr>
        <p:spPr>
          <a:xfrm>
            <a:off x="228600" y="348925"/>
            <a:ext cx="4235400" cy="64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lt1"/>
                </a:solidFill>
              </a:rPr>
              <a:t>Now going further</a:t>
            </a:r>
            <a:endParaRPr sz="3000">
              <a:solidFill>
                <a:schemeClr val="lt1"/>
              </a:solidFill>
            </a:endParaRPr>
          </a:p>
        </p:txBody>
      </p:sp>
      <p:sp>
        <p:nvSpPr>
          <p:cNvPr id="596" name="Google Shape;596;p57"/>
          <p:cNvSpPr txBox="1"/>
          <p:nvPr>
            <p:ph idx="2" type="subTitle"/>
          </p:nvPr>
        </p:nvSpPr>
        <p:spPr>
          <a:xfrm>
            <a:off x="228600" y="994525"/>
            <a:ext cx="3351300" cy="29838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400"/>
              <a:t>Now we are currently trying to cut down the data to exclude the main sequence and dwarf stars so the model is only predicting on RGB and RC. Once we have that, we plan to compare TheCannon’s predicted labels with the data that the kepler two </a:t>
            </a:r>
            <a:r>
              <a:rPr lang="en" sz="1400"/>
              <a:t>telescope</a:t>
            </a:r>
            <a:r>
              <a:rPr lang="en" sz="1400"/>
              <a:t> found to see if TheCannon can predict these labels more </a:t>
            </a:r>
            <a:r>
              <a:rPr lang="en" sz="1400"/>
              <a:t>accurately</a:t>
            </a:r>
            <a:r>
              <a:rPr lang="en" sz="1400"/>
              <a:t> than a short (3 month long) observation mission. Use model to check how good it is.</a:t>
            </a:r>
            <a:endParaRPr sz="1400"/>
          </a:p>
        </p:txBody>
      </p:sp>
      <p:sp>
        <p:nvSpPr>
          <p:cNvPr id="597" name="Google Shape;597;p57"/>
          <p:cNvSpPr txBox="1"/>
          <p:nvPr/>
        </p:nvSpPr>
        <p:spPr>
          <a:xfrm>
            <a:off x="300750" y="4673825"/>
            <a:ext cx="3857700" cy="4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latin typeface="Urbanist"/>
                <a:ea typeface="Urbanist"/>
                <a:cs typeface="Urbanist"/>
                <a:sym typeface="Urbanist"/>
              </a:rPr>
              <a:t>Cermak, A. (2026, January 5). </a:t>
            </a:r>
            <a:r>
              <a:rPr i="1" lang="en" sz="700">
                <a:solidFill>
                  <a:schemeClr val="dk2"/>
                </a:solidFill>
                <a:latin typeface="Urbanist"/>
                <a:ea typeface="Urbanist"/>
                <a:cs typeface="Urbanist"/>
                <a:sym typeface="Urbanist"/>
              </a:rPr>
              <a:t>Kepler / K2</a:t>
            </a:r>
            <a:r>
              <a:rPr lang="en" sz="700">
                <a:solidFill>
                  <a:schemeClr val="dk2"/>
                </a:solidFill>
                <a:latin typeface="Urbanist"/>
                <a:ea typeface="Urbanist"/>
                <a:cs typeface="Urbanist"/>
                <a:sym typeface="Urbanist"/>
              </a:rPr>
              <a:t>. NASA Science.</a:t>
            </a:r>
            <a:r>
              <a:rPr lang="en" sz="700">
                <a:solidFill>
                  <a:schemeClr val="dk2"/>
                </a:solidFill>
                <a:uFill>
                  <a:noFill/>
                </a:uFill>
                <a:latin typeface="Urbanist"/>
                <a:ea typeface="Urbanist"/>
                <a:cs typeface="Urbanist"/>
                <a:sym typeface="Urbanist"/>
                <a:hlinkClick r:id="rId3">
                  <a:extLst>
                    <a:ext uri="{A12FA001-AC4F-418D-AE19-62706E023703}">
                      <ahyp:hlinkClr val="tx"/>
                    </a:ext>
                  </a:extLst>
                </a:hlinkClick>
              </a:rPr>
              <a:t> </a:t>
            </a:r>
            <a:r>
              <a:rPr lang="en" sz="700" u="sng">
                <a:solidFill>
                  <a:schemeClr val="dk2"/>
                </a:solidFill>
                <a:latin typeface="Urbanist"/>
                <a:ea typeface="Urbanist"/>
                <a:cs typeface="Urbanist"/>
                <a:sym typeface="Urbanist"/>
                <a:hlinkClick r:id="rId4">
                  <a:extLst>
                    <a:ext uri="{A12FA001-AC4F-418D-AE19-62706E023703}">
                      <ahyp:hlinkClr val="tx"/>
                    </a:ext>
                  </a:extLst>
                </a:hlinkClick>
              </a:rPr>
              <a:t>https://science.nasa.gov/mission/kepler/</a:t>
            </a:r>
            <a:r>
              <a:rPr lang="en" sz="700">
                <a:solidFill>
                  <a:schemeClr val="dk2"/>
                </a:solidFill>
                <a:latin typeface="Urbanist"/>
                <a:ea typeface="Urbanist"/>
                <a:cs typeface="Urbanist"/>
                <a:sym typeface="Urbanist"/>
              </a:rPr>
              <a:t> </a:t>
            </a:r>
            <a:endParaRPr sz="700">
              <a:solidFill>
                <a:schemeClr val="dk2"/>
              </a:solidFill>
              <a:latin typeface="Urbanist"/>
              <a:ea typeface="Urbanist"/>
              <a:cs typeface="Urbanist"/>
              <a:sym typeface="Urbanist"/>
            </a:endParaRPr>
          </a:p>
        </p:txBody>
      </p:sp>
      <p:pic>
        <p:nvPicPr>
          <p:cNvPr descr="The First Year of Kepler's K2 Mission | Drew Ex Machina" id="598" name="Google Shape;598;p57"/>
          <p:cNvPicPr preferRelativeResize="0"/>
          <p:nvPr/>
        </p:nvPicPr>
        <p:blipFill>
          <a:blip r:embed="rId5">
            <a:alphaModFix/>
          </a:blip>
          <a:stretch>
            <a:fillRect/>
          </a:stretch>
        </p:blipFill>
        <p:spPr>
          <a:xfrm>
            <a:off x="3828300" y="1165188"/>
            <a:ext cx="5014500" cy="2813100"/>
          </a:xfrm>
          <a:prstGeom prst="roundRect">
            <a:avLst>
              <a:gd fmla="val 16667" name="adj"/>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pic>
        <p:nvPicPr>
          <p:cNvPr id="603" name="Google Shape;603;p58" title="Screenshot 2026-07-16 at 4.19.25 PM.png"/>
          <p:cNvPicPr preferRelativeResize="0"/>
          <p:nvPr/>
        </p:nvPicPr>
        <p:blipFill>
          <a:blip r:embed="rId3">
            <a:alphaModFix/>
          </a:blip>
          <a:stretch>
            <a:fillRect/>
          </a:stretch>
        </p:blipFill>
        <p:spPr>
          <a:xfrm>
            <a:off x="136786" y="943137"/>
            <a:ext cx="2827949" cy="2111976"/>
          </a:xfrm>
          <a:prstGeom prst="rect">
            <a:avLst/>
          </a:prstGeom>
          <a:noFill/>
          <a:ln>
            <a:noFill/>
          </a:ln>
        </p:spPr>
      </p:pic>
      <p:pic>
        <p:nvPicPr>
          <p:cNvPr id="604" name="Google Shape;604;p58" title="Screenshot 2026-07-16 at 4.19.38 PM.png"/>
          <p:cNvPicPr preferRelativeResize="0"/>
          <p:nvPr/>
        </p:nvPicPr>
        <p:blipFill>
          <a:blip r:embed="rId4">
            <a:alphaModFix/>
          </a:blip>
          <a:stretch>
            <a:fillRect/>
          </a:stretch>
        </p:blipFill>
        <p:spPr>
          <a:xfrm>
            <a:off x="3189137" y="944492"/>
            <a:ext cx="2827951" cy="2109270"/>
          </a:xfrm>
          <a:prstGeom prst="rect">
            <a:avLst/>
          </a:prstGeom>
          <a:noFill/>
          <a:ln>
            <a:noFill/>
          </a:ln>
        </p:spPr>
      </p:pic>
      <p:pic>
        <p:nvPicPr>
          <p:cNvPr id="605" name="Google Shape;605;p58" title="Screenshot 2026-07-16 at 4.19.49 PM.png"/>
          <p:cNvPicPr preferRelativeResize="0"/>
          <p:nvPr/>
        </p:nvPicPr>
        <p:blipFill>
          <a:blip r:embed="rId5">
            <a:alphaModFix/>
          </a:blip>
          <a:stretch>
            <a:fillRect/>
          </a:stretch>
        </p:blipFill>
        <p:spPr>
          <a:xfrm>
            <a:off x="6179263" y="945805"/>
            <a:ext cx="2827951" cy="2106634"/>
          </a:xfrm>
          <a:prstGeom prst="rect">
            <a:avLst/>
          </a:prstGeom>
          <a:noFill/>
          <a:ln>
            <a:noFill/>
          </a:ln>
        </p:spPr>
      </p:pic>
      <p:sp>
        <p:nvSpPr>
          <p:cNvPr id="606" name="Google Shape;606;p58"/>
          <p:cNvSpPr txBox="1"/>
          <p:nvPr>
            <p:ph idx="4294967295" type="title"/>
          </p:nvPr>
        </p:nvSpPr>
        <p:spPr>
          <a:xfrm>
            <a:off x="259200" y="286700"/>
            <a:ext cx="4873800" cy="104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 with </a:t>
            </a:r>
            <a:r>
              <a:rPr lang="en"/>
              <a:t>new</a:t>
            </a:r>
            <a:r>
              <a:rPr lang="en"/>
              <a:t> data </a:t>
            </a:r>
            <a:endParaRPr/>
          </a:p>
        </p:txBody>
      </p:sp>
      <p:sp>
        <p:nvSpPr>
          <p:cNvPr id="607" name="Google Shape;607;p58"/>
          <p:cNvSpPr txBox="1"/>
          <p:nvPr>
            <p:ph idx="4294967295" type="body"/>
          </p:nvPr>
        </p:nvSpPr>
        <p:spPr>
          <a:xfrm>
            <a:off x="136788" y="3159525"/>
            <a:ext cx="2800200" cy="1218900"/>
          </a:xfrm>
          <a:prstGeom prst="rect">
            <a:avLst/>
          </a:prstGeom>
        </p:spPr>
        <p:txBody>
          <a:bodyPr anchorCtr="0" anchor="t" bIns="91425" lIns="91425" spcFirstLastPara="1" rIns="91425" wrap="square" tIns="91425">
            <a:spAutoFit/>
          </a:bodyPr>
          <a:lstStyle/>
          <a:p>
            <a:pPr indent="0" lvl="0" marL="0" rtl="0" algn="l">
              <a:spcBef>
                <a:spcPts val="0"/>
              </a:spcBef>
              <a:spcAft>
                <a:spcPts val="800"/>
              </a:spcAft>
              <a:buNone/>
            </a:pPr>
            <a:r>
              <a:rPr lang="en"/>
              <a:t>Histogram over effective temperature and the number of stars. This shows us that the model can predict the </a:t>
            </a:r>
            <a:r>
              <a:rPr lang="en"/>
              <a:t>temperature</a:t>
            </a:r>
            <a:r>
              <a:rPr lang="en"/>
              <a:t> of the stars and it’s what we would expect.</a:t>
            </a:r>
            <a:endParaRPr/>
          </a:p>
        </p:txBody>
      </p:sp>
      <p:sp>
        <p:nvSpPr>
          <p:cNvPr id="608" name="Google Shape;608;p58"/>
          <p:cNvSpPr txBox="1"/>
          <p:nvPr/>
        </p:nvSpPr>
        <p:spPr>
          <a:xfrm>
            <a:off x="3159238" y="3159525"/>
            <a:ext cx="2861100" cy="1845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lt1"/>
                </a:solidFill>
                <a:latin typeface="Urbanist"/>
                <a:ea typeface="Urbanist"/>
                <a:cs typeface="Urbanist"/>
                <a:sym typeface="Urbanist"/>
              </a:rPr>
              <a:t>Histogram over surface gravity and the </a:t>
            </a:r>
            <a:r>
              <a:rPr lang="en" sz="1200">
                <a:solidFill>
                  <a:schemeClr val="lt1"/>
                </a:solidFill>
                <a:latin typeface="Urbanist"/>
                <a:ea typeface="Urbanist"/>
                <a:cs typeface="Urbanist"/>
                <a:sym typeface="Urbanist"/>
              </a:rPr>
              <a:t>number</a:t>
            </a:r>
            <a:r>
              <a:rPr lang="en" sz="1200">
                <a:solidFill>
                  <a:schemeClr val="lt1"/>
                </a:solidFill>
                <a:latin typeface="Urbanist"/>
                <a:ea typeface="Urbanist"/>
                <a:cs typeface="Urbanist"/>
                <a:sym typeface="Urbanist"/>
              </a:rPr>
              <a:t> of stars. This tells us that the model can predict the surface gravity of the star quiet well. (too hight need non more than 3.5~3.4) (plot good in gray and bad in color on an hr plot)</a:t>
            </a:r>
            <a:endParaRPr sz="1200">
              <a:solidFill>
                <a:schemeClr val="lt1"/>
              </a:solidFill>
              <a:latin typeface="Urbanist"/>
              <a:ea typeface="Urbanist"/>
              <a:cs typeface="Urbanist"/>
              <a:sym typeface="Urbanist"/>
            </a:endParaRPr>
          </a:p>
        </p:txBody>
      </p:sp>
      <p:sp>
        <p:nvSpPr>
          <p:cNvPr id="609" name="Google Shape;609;p58"/>
          <p:cNvSpPr txBox="1"/>
          <p:nvPr/>
        </p:nvSpPr>
        <p:spPr>
          <a:xfrm>
            <a:off x="6181663" y="3159525"/>
            <a:ext cx="2800200" cy="172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800"/>
              </a:spcAft>
              <a:buNone/>
            </a:pPr>
            <a:r>
              <a:rPr lang="en" sz="1200">
                <a:solidFill>
                  <a:schemeClr val="lt1"/>
                </a:solidFill>
                <a:latin typeface="Urbanist"/>
                <a:ea typeface="Urbanist"/>
                <a:cs typeface="Urbanist"/>
                <a:sym typeface="Urbanist"/>
              </a:rPr>
              <a:t>This histogram shows the different period spacing vs the number of stars and with so many stars located in a negative range of period spacing this tells us that this data set does not just contain RGB or RC stars</a:t>
            </a:r>
            <a:endParaRPr sz="1200">
              <a:solidFill>
                <a:schemeClr val="lt1"/>
              </a:solidFill>
              <a:latin typeface="Urbanist"/>
              <a:ea typeface="Urbanist"/>
              <a:cs typeface="Urbanist"/>
              <a:sym typeface="Urbanis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59"/>
          <p:cNvSpPr txBox="1"/>
          <p:nvPr>
            <p:ph idx="19" type="title"/>
          </p:nvPr>
        </p:nvSpPr>
        <p:spPr>
          <a:xfrm>
            <a:off x="377550" y="457200"/>
            <a:ext cx="39045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Questions?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pic>
        <p:nvPicPr>
          <p:cNvPr id="619" name="Google Shape;619;p60" title="Screenshot 2026-07-16 at 12.28.02 PM.png"/>
          <p:cNvPicPr preferRelativeResize="0"/>
          <p:nvPr/>
        </p:nvPicPr>
        <p:blipFill>
          <a:blip r:embed="rId3">
            <a:alphaModFix/>
          </a:blip>
          <a:stretch>
            <a:fillRect/>
          </a:stretch>
        </p:blipFill>
        <p:spPr>
          <a:xfrm>
            <a:off x="3405268" y="529801"/>
            <a:ext cx="5577656" cy="1824725"/>
          </a:xfrm>
          <a:prstGeom prst="rect">
            <a:avLst/>
          </a:prstGeom>
          <a:noFill/>
          <a:ln>
            <a:noFill/>
          </a:ln>
        </p:spPr>
      </p:pic>
      <p:sp>
        <p:nvSpPr>
          <p:cNvPr id="620" name="Google Shape;620;p60"/>
          <p:cNvSpPr txBox="1"/>
          <p:nvPr>
            <p:ph idx="4294967295" type="title"/>
          </p:nvPr>
        </p:nvSpPr>
        <p:spPr>
          <a:xfrm>
            <a:off x="259200" y="286700"/>
            <a:ext cx="4235400" cy="104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TheCannon 1 vs TheCannon 2</a:t>
            </a:r>
            <a:endParaRPr/>
          </a:p>
        </p:txBody>
      </p:sp>
      <p:sp>
        <p:nvSpPr>
          <p:cNvPr id="621" name="Google Shape;621;p60"/>
          <p:cNvSpPr txBox="1"/>
          <p:nvPr>
            <p:ph idx="4294967295" type="body"/>
          </p:nvPr>
        </p:nvSpPr>
        <p:spPr>
          <a:xfrm>
            <a:off x="228600" y="1334700"/>
            <a:ext cx="3176700" cy="3328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t>Improves on the number of labels it can be trained (up to 17 labels), (need more) and has regularization built in to prevent overfitting, </a:t>
            </a:r>
            <a:endParaRPr/>
          </a:p>
          <a:p>
            <a:pPr indent="0" lvl="0" marL="0" rtl="0" algn="l">
              <a:spcBef>
                <a:spcPts val="800"/>
              </a:spcBef>
              <a:spcAft>
                <a:spcPts val="0"/>
              </a:spcAft>
              <a:buNone/>
            </a:pPr>
            <a:r>
              <a:rPr lang="en"/>
              <a:t>Teff: TheCannon 2 has a little more bias and has more scattering (~13 more scattering)</a:t>
            </a:r>
            <a:endParaRPr/>
          </a:p>
          <a:p>
            <a:pPr indent="0" lvl="0" marL="0" rtl="0" algn="l">
              <a:spcBef>
                <a:spcPts val="800"/>
              </a:spcBef>
              <a:spcAft>
                <a:spcPts val="0"/>
              </a:spcAft>
              <a:buNone/>
            </a:pPr>
            <a:r>
              <a:rPr lang="en"/>
              <a:t>Logg: TheCannon 2 has a little more bias but the scattering is about 0.005 less than from the original cannon</a:t>
            </a:r>
            <a:endParaRPr/>
          </a:p>
          <a:p>
            <a:pPr indent="0" lvl="0" marL="0" rtl="0" algn="l">
              <a:spcBef>
                <a:spcPts val="800"/>
              </a:spcBef>
              <a:spcAft>
                <a:spcPts val="0"/>
              </a:spcAft>
              <a:buNone/>
            </a:pPr>
            <a:r>
              <a:rPr lang="en"/>
              <a:t>Fe/H: TheCannon 2 has a little more bias but about the same scattering</a:t>
            </a:r>
            <a:endParaRPr/>
          </a:p>
          <a:p>
            <a:pPr indent="0" lvl="0" marL="0" rtl="0" algn="l">
              <a:spcBef>
                <a:spcPts val="800"/>
              </a:spcBef>
              <a:spcAft>
                <a:spcPts val="800"/>
              </a:spcAft>
              <a:buNone/>
            </a:pPr>
            <a:r>
              <a:rPr lang="en"/>
              <a:t>There are currently some other technical issues with working with TheCannon 2.</a:t>
            </a:r>
            <a:endParaRPr/>
          </a:p>
        </p:txBody>
      </p:sp>
      <p:pic>
        <p:nvPicPr>
          <p:cNvPr id="622" name="Google Shape;622;p60" title="Screenshot 2026-07-16 at 12.29.29 PM.png"/>
          <p:cNvPicPr preferRelativeResize="0"/>
          <p:nvPr/>
        </p:nvPicPr>
        <p:blipFill>
          <a:blip r:embed="rId4">
            <a:alphaModFix/>
          </a:blip>
          <a:stretch>
            <a:fillRect/>
          </a:stretch>
        </p:blipFill>
        <p:spPr>
          <a:xfrm>
            <a:off x="5167288" y="2392375"/>
            <a:ext cx="1963205" cy="1854299"/>
          </a:xfrm>
          <a:prstGeom prst="rect">
            <a:avLst/>
          </a:prstGeom>
          <a:noFill/>
          <a:ln>
            <a:noFill/>
          </a:ln>
        </p:spPr>
      </p:pic>
      <p:pic>
        <p:nvPicPr>
          <p:cNvPr id="623" name="Google Shape;623;p60" title="Screenshot 2026-07-16 at 12.29.41 PM.png"/>
          <p:cNvPicPr preferRelativeResize="0"/>
          <p:nvPr/>
        </p:nvPicPr>
        <p:blipFill>
          <a:blip r:embed="rId5">
            <a:alphaModFix/>
          </a:blip>
          <a:stretch>
            <a:fillRect/>
          </a:stretch>
        </p:blipFill>
        <p:spPr>
          <a:xfrm>
            <a:off x="3313935" y="2413973"/>
            <a:ext cx="1963201" cy="1805047"/>
          </a:xfrm>
          <a:prstGeom prst="rect">
            <a:avLst/>
          </a:prstGeom>
          <a:noFill/>
          <a:ln>
            <a:noFill/>
          </a:ln>
        </p:spPr>
      </p:pic>
      <p:pic>
        <p:nvPicPr>
          <p:cNvPr id="624" name="Google Shape;624;p60" title="Screenshot 2026-07-16 at 12.31.32 PM.png"/>
          <p:cNvPicPr preferRelativeResize="0"/>
          <p:nvPr/>
        </p:nvPicPr>
        <p:blipFill>
          <a:blip r:embed="rId6">
            <a:alphaModFix/>
          </a:blip>
          <a:stretch>
            <a:fillRect/>
          </a:stretch>
        </p:blipFill>
        <p:spPr>
          <a:xfrm>
            <a:off x="7130500" y="2413975"/>
            <a:ext cx="2013491" cy="18050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