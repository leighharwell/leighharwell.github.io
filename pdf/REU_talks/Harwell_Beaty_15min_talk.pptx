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9" r:id="rId4"/>
    <p:sldMasterId id="214748370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Urbanist Medium"/>
      <p:regular r:id="rId40"/>
      <p:bold r:id="rId41"/>
      <p:italic r:id="rId42"/>
      <p:boldItalic r:id="rId43"/>
    </p:embeddedFont>
    <p:embeddedFont>
      <p:font typeface="Urbanist SemiBold"/>
      <p:regular r:id="rId44"/>
      <p:bold r:id="rId45"/>
      <p:italic r:id="rId46"/>
      <p:boldItalic r:id="rId47"/>
    </p:embeddedFont>
    <p:embeddedFont>
      <p:font typeface="Urbanist"/>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UrbanistMedium-regular.fntdata"/><Relationship Id="rId42" Type="http://schemas.openxmlformats.org/officeDocument/2006/relationships/font" Target="fonts/UrbanistMedium-italic.fntdata"/><Relationship Id="rId41" Type="http://schemas.openxmlformats.org/officeDocument/2006/relationships/font" Target="fonts/UrbanistMedium-bold.fntdata"/><Relationship Id="rId44" Type="http://schemas.openxmlformats.org/officeDocument/2006/relationships/font" Target="fonts/UrbanistSemiBold-regular.fntdata"/><Relationship Id="rId43" Type="http://schemas.openxmlformats.org/officeDocument/2006/relationships/font" Target="fonts/UrbanistMedium-boldItalic.fntdata"/><Relationship Id="rId46" Type="http://schemas.openxmlformats.org/officeDocument/2006/relationships/font" Target="fonts/UrbanistSemiBold-italic.fntdata"/><Relationship Id="rId45" Type="http://schemas.openxmlformats.org/officeDocument/2006/relationships/font" Target="fonts/UrbanistSemi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Urbanist-regular.fntdata"/><Relationship Id="rId47" Type="http://schemas.openxmlformats.org/officeDocument/2006/relationships/font" Target="fonts/UrbanistSemiBold-boldItalic.fntdata"/><Relationship Id="rId49" Type="http://schemas.openxmlformats.org/officeDocument/2006/relationships/font" Target="fonts/Urbanist-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Urbanist-boldItalic.fntdata"/><Relationship Id="rId50" Type="http://schemas.openxmlformats.org/officeDocument/2006/relationships/font" Target="fonts/Urbanist-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f576d3f266_0_7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f576d3f266_0_7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main focus for the project is on Red Giant stars. These stars are significant due to the brightness of these stars allowing us to observe them from far distances, they are also some of the oldest stars being one of the last stages of a stars life </a:t>
            </a:r>
            <a:r>
              <a:rPr lang="en"/>
              <a:t>cycle this can give us information about the structure of the milky way and understanding how it formed and evolved.</a:t>
            </a:r>
            <a:r>
              <a:rPr lang="en"/>
              <a: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f576d3f266_0_76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f576d3f266_0_7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However there are two different types of red giants.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f576d3f266_0_9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f576d3f266_0_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Stars in the red giant branch are stars that have started to expand due to them now burning hydrogen in shells around the core rather than in the core. Stars in the red clump branch are stars that have started to burn helium in their cores and are the final evolutionary stage of a stars life cycle. Therefore RC stars are far older than RGB stars.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f576d3f266_0_1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f576d3f266_0_1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However there is a problem when it comes to </a:t>
            </a:r>
            <a:r>
              <a:rPr lang="en"/>
              <a:t>identify</a:t>
            </a:r>
            <a:r>
              <a:rPr lang="en"/>
              <a:t> which red star is which type of giant. RGB and RC stars of </a:t>
            </a:r>
            <a:r>
              <a:rPr lang="en"/>
              <a:t>similar</a:t>
            </a:r>
            <a:r>
              <a:rPr lang="en"/>
              <a:t> size and </a:t>
            </a:r>
            <a:r>
              <a:rPr lang="en"/>
              <a:t>temperature</a:t>
            </a:r>
            <a:r>
              <a:rPr lang="en"/>
              <a:t> are </a:t>
            </a:r>
            <a:r>
              <a:rPr lang="en"/>
              <a:t>indistinguishable, </a:t>
            </a:r>
            <a:r>
              <a:rPr lang="en"/>
              <a:t>They will often overlap on the HR diagram. This makes it very hard to define the stars type purely through spectra like we can with other types of stars. However there is one way to identify them through a period spacing variable. With RGB stars having a lower period than RC stars.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f576d3f266_0_1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f576d3f266_0_1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Period spacing is found through asteroseismology, which is the study of star quacks (earthquakes on stars). This is caused by the pressure caused by convection and the gravity acting against each other keeping the star from </a:t>
            </a:r>
            <a:r>
              <a:rPr lang="en"/>
              <a:t>collapsing</a:t>
            </a:r>
            <a:r>
              <a:rPr lang="en"/>
              <a:t> in on itself. This is where we get the period spacing which is the period between oscillations caused by the mixed mode of pressure and gravity. This allows us to </a:t>
            </a:r>
            <a:r>
              <a:rPr lang="en"/>
              <a:t>determine</a:t>
            </a:r>
            <a:r>
              <a:rPr lang="en"/>
              <a:t> what it </a:t>
            </a:r>
            <a:r>
              <a:rPr lang="en"/>
              <a:t>occurring</a:t>
            </a:r>
            <a:r>
              <a:rPr lang="en"/>
              <a:t> inside the star and then that can allow us to identify weather it is a RGB or an RC star.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f57a3270c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f57a3270c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f576d3f266_0_1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f576d3f266_0_1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data that we are using is collected by space mission telescopes such as Kepler and TESS. One of their many missions is to observe the period spacing of red giants. For our project we are specifically looking at data collected by Kepler. This is one of the many missions that requires both these telescope to be space missions, for </a:t>
            </a:r>
            <a:r>
              <a:rPr lang="en"/>
              <a:t>asteroseismology</a:t>
            </a:r>
            <a:r>
              <a:rPr lang="en"/>
              <a:t> we can not use a telescope on </a:t>
            </a:r>
            <a:r>
              <a:rPr lang="en"/>
              <a:t>earth's</a:t>
            </a:r>
            <a:r>
              <a:rPr lang="en"/>
              <a:t> surface due to the atmosphere impacting the light curve from the star which can result in </a:t>
            </a:r>
            <a:r>
              <a:rPr lang="en"/>
              <a:t>a lot of error in the data.</a:t>
            </a:r>
            <a:r>
              <a:rPr lang="en"/>
              <a:t> Kepler has observed the sky for </a:t>
            </a:r>
            <a:r>
              <a:rPr lang="en"/>
              <a:t>astro seismic</a:t>
            </a:r>
            <a:r>
              <a:rPr lang="en"/>
              <a:t> data over a span of a few years which allows it to have accurate seismic labeling for the star.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f576d3f266_0_3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f576d3f266_0_3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are also using data collected in the apogee survey. This </a:t>
            </a:r>
            <a:r>
              <a:rPr lang="en"/>
              <a:t>survey</a:t>
            </a:r>
            <a:r>
              <a:rPr lang="en"/>
              <a:t> contains spectra from stars from all over the night </a:t>
            </a:r>
            <a:r>
              <a:rPr lang="en"/>
              <a:t>skiing. The spectra allows us to observe the absorption and emission lines and use that to derive the metallicity (metals are any element that is not hydrogen or helium in astrophysics),  effective temperature and surface gravity.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f576d3f266_0_2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3f576d3f266_0_2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However unlike APOGEE, Kepler has only been able to collect data on a small portion of the sky due to the long observation times that it required to get accurate seismic data from a stars light curve. With </a:t>
            </a:r>
            <a:r>
              <a:rPr lang="en"/>
              <a:t>Kepler's</a:t>
            </a:r>
            <a:r>
              <a:rPr lang="en"/>
              <a:t> observation field being this small clump of dots. This means that we do not have </a:t>
            </a:r>
            <a:r>
              <a:rPr lang="en"/>
              <a:t>a lot</a:t>
            </a:r>
            <a:r>
              <a:rPr lang="en"/>
              <a:t> of </a:t>
            </a:r>
            <a:r>
              <a:rPr lang="en"/>
              <a:t>astro seismic</a:t>
            </a:r>
            <a:r>
              <a:rPr lang="en"/>
              <a:t> data but APOGEE has data from observation </a:t>
            </a:r>
            <a:r>
              <a:rPr lang="en"/>
              <a:t>fields</a:t>
            </a:r>
            <a:r>
              <a:rPr lang="en"/>
              <a:t> all over the sky. Which in turn means that we do not have a lot of red giants properly/</a:t>
            </a:r>
            <a:r>
              <a:rPr lang="en"/>
              <a:t>accurately</a:t>
            </a:r>
            <a:r>
              <a:rPr lang="en"/>
              <a:t> identified are RGB or RC.</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f57a3270cc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3f57a3270cc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f57a3270cc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f57a3270cc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f576d3f266_0_4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3f576d3f266_0_4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our research we are using the machine learning tool known as TheCannon. TheCannon is given data from both kepler and APOGEE and uses training labels that make up 80%-85% of the the data and test labels 15%-20% of the data. It will also be trained to identify multiple labels like effective temperature, surface gravity and </a:t>
            </a:r>
            <a:r>
              <a:rPr lang="en"/>
              <a:t>metallicity</a:t>
            </a:r>
            <a:r>
              <a:rPr lang="en"/>
              <a:t> (or more) which it will predict and use to help make its period spacing prediction more accurate. The tool using this data to identify </a:t>
            </a:r>
            <a:r>
              <a:rPr lang="en"/>
              <a:t>differences</a:t>
            </a:r>
            <a:r>
              <a:rPr lang="en"/>
              <a:t> in RGB and RC of similar properties spectra and what correlation it might have </a:t>
            </a:r>
            <a:r>
              <a:rPr lang="en"/>
              <a:t>compared</a:t>
            </a:r>
            <a:r>
              <a:rPr lang="en"/>
              <a:t> to the </a:t>
            </a:r>
            <a:r>
              <a:rPr lang="en"/>
              <a:t>astro seismic</a:t>
            </a:r>
            <a:r>
              <a:rPr lang="en"/>
              <a:t> data. Once it has been trained on this data set it should be able to predict the period spacing of each star </a:t>
            </a:r>
            <a:r>
              <a:rPr lang="en"/>
              <a:t>separating</a:t>
            </a:r>
            <a:r>
              <a:rPr lang="en"/>
              <a:t> the stars into the two types of red giants.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f57a3270cc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3f57a3270cc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f576d3f266_0_4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3f576d3f266_0_4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a:t>
            </a:r>
            <a:r>
              <a:rPr lang="en"/>
              <a:t>training</a:t>
            </a:r>
            <a:r>
              <a:rPr lang="en"/>
              <a:t> TheCannon was able to make one-to-one plots comparing the reference values and the predicted values it found. The effective </a:t>
            </a:r>
            <a:r>
              <a:rPr lang="en"/>
              <a:t>temperature</a:t>
            </a:r>
            <a:r>
              <a:rPr lang="en"/>
              <a:t> has the best scattering compared to some of my other labels with TheCannon being most accurate. Over all TheCannon was able to predict each label with success and this shows that the training worked and that it has good fitting.</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576d3f266_0_50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3f576d3f266_0_50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f576d3f266_0_5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3f576d3f266_0_5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f576d3f266_0_59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f576d3f266_0_59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plot is from some of the </a:t>
            </a:r>
            <a:r>
              <a:rPr lang="en"/>
              <a:t>literature</a:t>
            </a:r>
            <a:r>
              <a:rPr lang="en"/>
              <a:t> we read for back ground where they used TheCannon </a:t>
            </a:r>
            <a:r>
              <a:rPr lang="en"/>
              <a:t>estimate</a:t>
            </a:r>
            <a:r>
              <a:rPr lang="en"/>
              <a:t> period spacing as well with a much smaller data set.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f576d3f266_0_6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3f576d3f266_0_6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f57a3270cc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3f57a3270cc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3f576d3f266_0_6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9" name="Google Shape;729;g3f576d3f266_0_6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f576d3f266_0_7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3f576d3f266_0_7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f57a3270cc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3f57a3270cc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f57a3270cc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3f57a3270cc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f57a3270cc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3f57a3270cc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f57a3270cc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3f57a3270cc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f57a3270cc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3f57a3270cc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3f57a3270cc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3f57a3270cc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f57a3270cc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3f57a3270cc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f57a3270cc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3f57a3270cc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f57a3270cc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3f57a3270cc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3f576d3f266_0_7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2" name="Google Shape;882;g3f576d3f266_0_7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3f57a3270cc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 name="Google Shape;888;g3f57a3270cc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52" name="Google Shape;52;p1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53" name="Google Shape;53;p13"/>
          <p:cNvSpPr txBox="1"/>
          <p:nvPr>
            <p:ph idx="1" type="subTitle"/>
          </p:nvPr>
        </p:nvSpPr>
        <p:spPr>
          <a:xfrm>
            <a:off x="320625" y="4675975"/>
            <a:ext cx="2700000" cy="236400"/>
          </a:xfrm>
          <a:prstGeom prst="rect">
            <a:avLst/>
          </a:prstGeom>
        </p:spPr>
        <p:txBody>
          <a:bodyPr anchorCtr="0" anchor="b" bIns="0" lIns="0" spcFirstLastPara="1" rIns="0" wrap="square" tIns="0">
            <a:norm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4" name="Google Shape;54;p13"/>
          <p:cNvSpPr txBox="1"/>
          <p:nvPr>
            <p:ph idx="2" type="subTitle"/>
          </p:nvPr>
        </p:nvSpPr>
        <p:spPr>
          <a:xfrm>
            <a:off x="4716740" y="4675975"/>
            <a:ext cx="2294700" cy="236400"/>
          </a:xfrm>
          <a:prstGeom prst="rect">
            <a:avLst/>
          </a:prstGeom>
        </p:spPr>
        <p:txBody>
          <a:bodyPr anchorCtr="0" anchor="b" bIns="0" lIns="0" spcFirstLastPara="1" rIns="0" wrap="square" tIns="0">
            <a:norm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5" name="Google Shape;55;p13"/>
          <p:cNvSpPr txBox="1"/>
          <p:nvPr>
            <p:ph idx="3" type="subTitle"/>
          </p:nvPr>
        </p:nvSpPr>
        <p:spPr>
          <a:xfrm>
            <a:off x="6859200" y="4683725"/>
            <a:ext cx="2056500" cy="228600"/>
          </a:xfrm>
          <a:prstGeom prst="rect">
            <a:avLst/>
          </a:prstGeom>
        </p:spPr>
        <p:txBody>
          <a:bodyPr anchorCtr="0" anchor="b" bIns="0" lIns="0" spcFirstLastPara="1" rIns="0" wrap="square" tIns="0">
            <a:norm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6" name="Google Shape;56;p13"/>
          <p:cNvSpPr txBox="1"/>
          <p:nvPr>
            <p:ph idx="4" type="subTitle"/>
          </p:nvPr>
        </p:nvSpPr>
        <p:spPr>
          <a:xfrm>
            <a:off x="228600" y="228600"/>
            <a:ext cx="2920800" cy="228600"/>
          </a:xfrm>
          <a:prstGeom prst="rect">
            <a:avLst/>
          </a:prstGeom>
        </p:spPr>
        <p:txBody>
          <a:bodyPr anchorCtr="0" anchor="t" bIns="0" lIns="0" spcFirstLastPara="1" rIns="0" wrap="square" tIns="0">
            <a:norm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57" name="Google Shape;57;p13"/>
          <p:cNvSpPr txBox="1"/>
          <p:nvPr>
            <p:ph type="title"/>
          </p:nvPr>
        </p:nvSpPr>
        <p:spPr>
          <a:xfrm>
            <a:off x="355225" y="1775475"/>
            <a:ext cx="1862100" cy="293100"/>
          </a:xfrm>
          <a:prstGeom prst="rect">
            <a:avLst/>
          </a:prstGeom>
        </p:spPr>
        <p:txBody>
          <a:bodyPr anchorCtr="0" anchor="b" bIns="91425" lIns="0" spcFirstLastPara="1" rIns="91425" wrap="square" tIns="0">
            <a:normAutofit/>
          </a:bodyPr>
          <a:lstStyle>
            <a:lvl1pPr lvl="0">
              <a:spcBef>
                <a:spcPts val="0"/>
              </a:spcBef>
              <a:spcAft>
                <a:spcPts val="0"/>
              </a:spcAft>
              <a:buClr>
                <a:schemeClr val="accent3"/>
              </a:buClr>
              <a:buSzPts val="2800"/>
              <a:buFont typeface="Urbanist"/>
              <a:buNone/>
              <a:defRPr sz="1800">
                <a:solidFill>
                  <a:schemeClr val="accent3"/>
                </a:solidFill>
              </a:defRPr>
            </a:lvl1pPr>
            <a:lvl2pPr lvl="1">
              <a:spcBef>
                <a:spcPts val="0"/>
              </a:spcBef>
              <a:spcAft>
                <a:spcPts val="0"/>
              </a:spcAft>
              <a:buClr>
                <a:schemeClr val="accent3"/>
              </a:buClr>
              <a:buSzPts val="2800"/>
              <a:buFont typeface="Urbanist"/>
              <a:buNone/>
              <a:defRPr>
                <a:solidFill>
                  <a:schemeClr val="accent3"/>
                </a:solidFill>
              </a:defRPr>
            </a:lvl2pPr>
            <a:lvl3pPr lvl="2">
              <a:spcBef>
                <a:spcPts val="0"/>
              </a:spcBef>
              <a:spcAft>
                <a:spcPts val="0"/>
              </a:spcAft>
              <a:buClr>
                <a:schemeClr val="accent3"/>
              </a:buClr>
              <a:buSzPts val="2800"/>
              <a:buFont typeface="Urbanist"/>
              <a:buNone/>
              <a:defRPr>
                <a:solidFill>
                  <a:schemeClr val="accent3"/>
                </a:solidFill>
              </a:defRPr>
            </a:lvl3pPr>
            <a:lvl4pPr lvl="3">
              <a:spcBef>
                <a:spcPts val="0"/>
              </a:spcBef>
              <a:spcAft>
                <a:spcPts val="0"/>
              </a:spcAft>
              <a:buClr>
                <a:schemeClr val="accent3"/>
              </a:buClr>
              <a:buSzPts val="2800"/>
              <a:buFont typeface="Urbanist"/>
              <a:buNone/>
              <a:defRPr>
                <a:solidFill>
                  <a:schemeClr val="accent3"/>
                </a:solidFill>
              </a:defRPr>
            </a:lvl4pPr>
            <a:lvl5pPr lvl="4">
              <a:spcBef>
                <a:spcPts val="0"/>
              </a:spcBef>
              <a:spcAft>
                <a:spcPts val="0"/>
              </a:spcAft>
              <a:buClr>
                <a:schemeClr val="accent3"/>
              </a:buClr>
              <a:buSzPts val="2800"/>
              <a:buFont typeface="Urbanist"/>
              <a:buNone/>
              <a:defRPr>
                <a:solidFill>
                  <a:schemeClr val="accent3"/>
                </a:solidFill>
              </a:defRPr>
            </a:lvl5pPr>
            <a:lvl6pPr lvl="5">
              <a:spcBef>
                <a:spcPts val="0"/>
              </a:spcBef>
              <a:spcAft>
                <a:spcPts val="0"/>
              </a:spcAft>
              <a:buClr>
                <a:schemeClr val="accent3"/>
              </a:buClr>
              <a:buSzPts val="2800"/>
              <a:buFont typeface="Urbanist"/>
              <a:buNone/>
              <a:defRPr>
                <a:solidFill>
                  <a:schemeClr val="accent3"/>
                </a:solidFill>
              </a:defRPr>
            </a:lvl6pPr>
            <a:lvl7pPr lvl="6">
              <a:spcBef>
                <a:spcPts val="0"/>
              </a:spcBef>
              <a:spcAft>
                <a:spcPts val="0"/>
              </a:spcAft>
              <a:buClr>
                <a:schemeClr val="accent3"/>
              </a:buClr>
              <a:buSzPts val="2800"/>
              <a:buFont typeface="Urbanist"/>
              <a:buNone/>
              <a:defRPr>
                <a:solidFill>
                  <a:schemeClr val="accent3"/>
                </a:solidFill>
              </a:defRPr>
            </a:lvl7pPr>
            <a:lvl8pPr lvl="7">
              <a:spcBef>
                <a:spcPts val="0"/>
              </a:spcBef>
              <a:spcAft>
                <a:spcPts val="0"/>
              </a:spcAft>
              <a:buClr>
                <a:schemeClr val="accent3"/>
              </a:buClr>
              <a:buSzPts val="2800"/>
              <a:buFont typeface="Urbanist"/>
              <a:buNone/>
              <a:defRPr>
                <a:solidFill>
                  <a:schemeClr val="accent3"/>
                </a:solidFill>
              </a:defRPr>
            </a:lvl8pPr>
            <a:lvl9pPr lvl="8">
              <a:spcBef>
                <a:spcPts val="0"/>
              </a:spcBef>
              <a:spcAft>
                <a:spcPts val="0"/>
              </a:spcAft>
              <a:buClr>
                <a:schemeClr val="accent3"/>
              </a:buClr>
              <a:buSzPts val="2800"/>
              <a:buFont typeface="Urbanist"/>
              <a:buNone/>
              <a:defRPr>
                <a:solidFill>
                  <a:schemeClr val="accent3"/>
                </a:solidFill>
              </a:defRPr>
            </a:lvl9pPr>
          </a:lstStyle>
          <a:p/>
        </p:txBody>
      </p:sp>
      <p:sp>
        <p:nvSpPr>
          <p:cNvPr id="58" name="Google Shape;58;p13"/>
          <p:cNvSpPr txBox="1"/>
          <p:nvPr>
            <p:ph idx="5" type="subTitle"/>
          </p:nvPr>
        </p:nvSpPr>
        <p:spPr>
          <a:xfrm>
            <a:off x="355225" y="2161825"/>
            <a:ext cx="1974600" cy="204600"/>
          </a:xfrm>
          <a:prstGeom prst="rect">
            <a:avLst/>
          </a:prstGeom>
        </p:spPr>
        <p:txBody>
          <a:bodyPr anchorCtr="0" anchor="t" bIns="91425" lIns="0" spcFirstLastPara="1" rIns="91425" wrap="square" tIns="0">
            <a:norm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120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59" name="Google Shape;59;p13"/>
          <p:cNvSpPr txBox="1"/>
          <p:nvPr>
            <p:ph idx="6" type="body"/>
          </p:nvPr>
        </p:nvSpPr>
        <p:spPr>
          <a:xfrm>
            <a:off x="355225" y="2465025"/>
            <a:ext cx="1826700" cy="477900"/>
          </a:xfrm>
          <a:prstGeom prst="rect">
            <a:avLst/>
          </a:prstGeom>
        </p:spPr>
        <p:txBody>
          <a:bodyPr anchorCtr="0" anchor="t" bIns="91425" lIns="0" spcFirstLastPara="1" rIns="91425" wrap="square" tIns="0">
            <a:norm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60" name="Google Shape;60;p13"/>
          <p:cNvSpPr txBox="1"/>
          <p:nvPr>
            <p:ph idx="7" type="title"/>
          </p:nvPr>
        </p:nvSpPr>
        <p:spPr>
          <a:xfrm>
            <a:off x="2543875" y="1775475"/>
            <a:ext cx="1862100" cy="293100"/>
          </a:xfrm>
          <a:prstGeom prst="rect">
            <a:avLst/>
          </a:prstGeom>
        </p:spPr>
        <p:txBody>
          <a:bodyPr anchorCtr="0" anchor="b" bIns="91425" lIns="0" spcFirstLastPara="1" rIns="91425" wrap="square" tIns="0">
            <a:normAutofit/>
          </a:bodyPr>
          <a:lstStyle>
            <a:lvl1pPr lvl="0">
              <a:lnSpc>
                <a:spcPct val="90000"/>
              </a:lnSpc>
              <a:spcBef>
                <a:spcPts val="0"/>
              </a:spcBef>
              <a:spcAft>
                <a:spcPts val="0"/>
              </a:spcAft>
              <a:buClr>
                <a:schemeClr val="accent3"/>
              </a:buClr>
              <a:buSzPts val="2800"/>
              <a:buFont typeface="Urbanist"/>
              <a:buNone/>
              <a:defRPr sz="1800">
                <a:solidFill>
                  <a:schemeClr val="accent3"/>
                </a:solidFill>
              </a:defRPr>
            </a:lvl1pPr>
            <a:lvl2pPr lvl="1">
              <a:spcBef>
                <a:spcPts val="0"/>
              </a:spcBef>
              <a:spcAft>
                <a:spcPts val="0"/>
              </a:spcAft>
              <a:buClr>
                <a:schemeClr val="accent3"/>
              </a:buClr>
              <a:buSzPts val="2800"/>
              <a:buFont typeface="Urbanist"/>
              <a:buNone/>
              <a:defRPr>
                <a:solidFill>
                  <a:schemeClr val="accent3"/>
                </a:solidFill>
              </a:defRPr>
            </a:lvl2pPr>
            <a:lvl3pPr lvl="2">
              <a:spcBef>
                <a:spcPts val="0"/>
              </a:spcBef>
              <a:spcAft>
                <a:spcPts val="0"/>
              </a:spcAft>
              <a:buClr>
                <a:schemeClr val="accent3"/>
              </a:buClr>
              <a:buSzPts val="2800"/>
              <a:buFont typeface="Urbanist"/>
              <a:buNone/>
              <a:defRPr>
                <a:solidFill>
                  <a:schemeClr val="accent3"/>
                </a:solidFill>
              </a:defRPr>
            </a:lvl3pPr>
            <a:lvl4pPr lvl="3">
              <a:spcBef>
                <a:spcPts val="0"/>
              </a:spcBef>
              <a:spcAft>
                <a:spcPts val="0"/>
              </a:spcAft>
              <a:buClr>
                <a:schemeClr val="accent3"/>
              </a:buClr>
              <a:buSzPts val="2800"/>
              <a:buFont typeface="Urbanist"/>
              <a:buNone/>
              <a:defRPr>
                <a:solidFill>
                  <a:schemeClr val="accent3"/>
                </a:solidFill>
              </a:defRPr>
            </a:lvl4pPr>
            <a:lvl5pPr lvl="4">
              <a:spcBef>
                <a:spcPts val="0"/>
              </a:spcBef>
              <a:spcAft>
                <a:spcPts val="0"/>
              </a:spcAft>
              <a:buClr>
                <a:schemeClr val="accent3"/>
              </a:buClr>
              <a:buSzPts val="2800"/>
              <a:buFont typeface="Urbanist"/>
              <a:buNone/>
              <a:defRPr>
                <a:solidFill>
                  <a:schemeClr val="accent3"/>
                </a:solidFill>
              </a:defRPr>
            </a:lvl5pPr>
            <a:lvl6pPr lvl="5">
              <a:spcBef>
                <a:spcPts val="0"/>
              </a:spcBef>
              <a:spcAft>
                <a:spcPts val="0"/>
              </a:spcAft>
              <a:buClr>
                <a:schemeClr val="accent3"/>
              </a:buClr>
              <a:buSzPts val="2800"/>
              <a:buFont typeface="Urbanist"/>
              <a:buNone/>
              <a:defRPr>
                <a:solidFill>
                  <a:schemeClr val="accent3"/>
                </a:solidFill>
              </a:defRPr>
            </a:lvl6pPr>
            <a:lvl7pPr lvl="6">
              <a:spcBef>
                <a:spcPts val="0"/>
              </a:spcBef>
              <a:spcAft>
                <a:spcPts val="0"/>
              </a:spcAft>
              <a:buClr>
                <a:schemeClr val="accent3"/>
              </a:buClr>
              <a:buSzPts val="2800"/>
              <a:buFont typeface="Urbanist"/>
              <a:buNone/>
              <a:defRPr>
                <a:solidFill>
                  <a:schemeClr val="accent3"/>
                </a:solidFill>
              </a:defRPr>
            </a:lvl7pPr>
            <a:lvl8pPr lvl="7">
              <a:spcBef>
                <a:spcPts val="0"/>
              </a:spcBef>
              <a:spcAft>
                <a:spcPts val="0"/>
              </a:spcAft>
              <a:buClr>
                <a:schemeClr val="accent3"/>
              </a:buClr>
              <a:buSzPts val="2800"/>
              <a:buFont typeface="Urbanist"/>
              <a:buNone/>
              <a:defRPr>
                <a:solidFill>
                  <a:schemeClr val="accent3"/>
                </a:solidFill>
              </a:defRPr>
            </a:lvl8pPr>
            <a:lvl9pPr lvl="8">
              <a:spcBef>
                <a:spcPts val="0"/>
              </a:spcBef>
              <a:spcAft>
                <a:spcPts val="0"/>
              </a:spcAft>
              <a:buClr>
                <a:schemeClr val="accent3"/>
              </a:buClr>
              <a:buSzPts val="2800"/>
              <a:buFont typeface="Urbanist"/>
              <a:buNone/>
              <a:defRPr>
                <a:solidFill>
                  <a:schemeClr val="accent3"/>
                </a:solidFill>
              </a:defRPr>
            </a:lvl9pPr>
          </a:lstStyle>
          <a:p/>
        </p:txBody>
      </p:sp>
      <p:sp>
        <p:nvSpPr>
          <p:cNvPr id="61" name="Google Shape;61;p13"/>
          <p:cNvSpPr txBox="1"/>
          <p:nvPr>
            <p:ph idx="8" type="subTitle"/>
          </p:nvPr>
        </p:nvSpPr>
        <p:spPr>
          <a:xfrm>
            <a:off x="2543875" y="2161825"/>
            <a:ext cx="1974600" cy="204600"/>
          </a:xfrm>
          <a:prstGeom prst="rect">
            <a:avLst/>
          </a:prstGeom>
        </p:spPr>
        <p:txBody>
          <a:bodyPr anchorCtr="0" anchor="t" bIns="91425" lIns="0" spcFirstLastPara="1" rIns="91425" wrap="square" tIns="0">
            <a:norm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120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62" name="Google Shape;62;p13"/>
          <p:cNvSpPr txBox="1"/>
          <p:nvPr>
            <p:ph idx="9" type="body"/>
          </p:nvPr>
        </p:nvSpPr>
        <p:spPr>
          <a:xfrm>
            <a:off x="2543875" y="2465025"/>
            <a:ext cx="1826700" cy="477900"/>
          </a:xfrm>
          <a:prstGeom prst="rect">
            <a:avLst/>
          </a:prstGeom>
        </p:spPr>
        <p:txBody>
          <a:bodyPr anchorCtr="0" anchor="t" bIns="91425" lIns="0" spcFirstLastPara="1" rIns="91425" wrap="square" tIns="0">
            <a:norm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63" name="Google Shape;63;p13"/>
          <p:cNvSpPr txBox="1"/>
          <p:nvPr>
            <p:ph idx="13" type="title"/>
          </p:nvPr>
        </p:nvSpPr>
        <p:spPr>
          <a:xfrm>
            <a:off x="4745500" y="1775475"/>
            <a:ext cx="1862100" cy="293100"/>
          </a:xfrm>
          <a:prstGeom prst="rect">
            <a:avLst/>
          </a:prstGeom>
        </p:spPr>
        <p:txBody>
          <a:bodyPr anchorCtr="0" anchor="b" bIns="91425" lIns="0" spcFirstLastPara="1" rIns="91425" wrap="square" tIns="0">
            <a:normAutofit/>
          </a:bodyPr>
          <a:lstStyle>
            <a:lvl1pPr lvl="0">
              <a:lnSpc>
                <a:spcPct val="90000"/>
              </a:lnSpc>
              <a:spcBef>
                <a:spcPts val="0"/>
              </a:spcBef>
              <a:spcAft>
                <a:spcPts val="0"/>
              </a:spcAft>
              <a:buClr>
                <a:schemeClr val="accent3"/>
              </a:buClr>
              <a:buSzPts val="2800"/>
              <a:buFont typeface="Urbanist"/>
              <a:buNone/>
              <a:defRPr sz="1800">
                <a:solidFill>
                  <a:schemeClr val="accent3"/>
                </a:solidFill>
              </a:defRPr>
            </a:lvl1pPr>
            <a:lvl2pPr lvl="1">
              <a:spcBef>
                <a:spcPts val="0"/>
              </a:spcBef>
              <a:spcAft>
                <a:spcPts val="0"/>
              </a:spcAft>
              <a:buClr>
                <a:schemeClr val="accent3"/>
              </a:buClr>
              <a:buSzPts val="2800"/>
              <a:buFont typeface="Urbanist"/>
              <a:buNone/>
              <a:defRPr>
                <a:solidFill>
                  <a:schemeClr val="accent3"/>
                </a:solidFill>
              </a:defRPr>
            </a:lvl2pPr>
            <a:lvl3pPr lvl="2">
              <a:spcBef>
                <a:spcPts val="0"/>
              </a:spcBef>
              <a:spcAft>
                <a:spcPts val="0"/>
              </a:spcAft>
              <a:buClr>
                <a:schemeClr val="accent3"/>
              </a:buClr>
              <a:buSzPts val="2800"/>
              <a:buFont typeface="Urbanist"/>
              <a:buNone/>
              <a:defRPr>
                <a:solidFill>
                  <a:schemeClr val="accent3"/>
                </a:solidFill>
              </a:defRPr>
            </a:lvl3pPr>
            <a:lvl4pPr lvl="3">
              <a:spcBef>
                <a:spcPts val="0"/>
              </a:spcBef>
              <a:spcAft>
                <a:spcPts val="0"/>
              </a:spcAft>
              <a:buClr>
                <a:schemeClr val="accent3"/>
              </a:buClr>
              <a:buSzPts val="2800"/>
              <a:buFont typeface="Urbanist"/>
              <a:buNone/>
              <a:defRPr>
                <a:solidFill>
                  <a:schemeClr val="accent3"/>
                </a:solidFill>
              </a:defRPr>
            </a:lvl4pPr>
            <a:lvl5pPr lvl="4">
              <a:spcBef>
                <a:spcPts val="0"/>
              </a:spcBef>
              <a:spcAft>
                <a:spcPts val="0"/>
              </a:spcAft>
              <a:buClr>
                <a:schemeClr val="accent3"/>
              </a:buClr>
              <a:buSzPts val="2800"/>
              <a:buFont typeface="Urbanist"/>
              <a:buNone/>
              <a:defRPr>
                <a:solidFill>
                  <a:schemeClr val="accent3"/>
                </a:solidFill>
              </a:defRPr>
            </a:lvl5pPr>
            <a:lvl6pPr lvl="5">
              <a:spcBef>
                <a:spcPts val="0"/>
              </a:spcBef>
              <a:spcAft>
                <a:spcPts val="0"/>
              </a:spcAft>
              <a:buClr>
                <a:schemeClr val="accent3"/>
              </a:buClr>
              <a:buSzPts val="2800"/>
              <a:buFont typeface="Urbanist"/>
              <a:buNone/>
              <a:defRPr>
                <a:solidFill>
                  <a:schemeClr val="accent3"/>
                </a:solidFill>
              </a:defRPr>
            </a:lvl6pPr>
            <a:lvl7pPr lvl="6">
              <a:spcBef>
                <a:spcPts val="0"/>
              </a:spcBef>
              <a:spcAft>
                <a:spcPts val="0"/>
              </a:spcAft>
              <a:buClr>
                <a:schemeClr val="accent3"/>
              </a:buClr>
              <a:buSzPts val="2800"/>
              <a:buFont typeface="Urbanist"/>
              <a:buNone/>
              <a:defRPr>
                <a:solidFill>
                  <a:schemeClr val="accent3"/>
                </a:solidFill>
              </a:defRPr>
            </a:lvl7pPr>
            <a:lvl8pPr lvl="7">
              <a:spcBef>
                <a:spcPts val="0"/>
              </a:spcBef>
              <a:spcAft>
                <a:spcPts val="0"/>
              </a:spcAft>
              <a:buClr>
                <a:schemeClr val="accent3"/>
              </a:buClr>
              <a:buSzPts val="2800"/>
              <a:buFont typeface="Urbanist"/>
              <a:buNone/>
              <a:defRPr>
                <a:solidFill>
                  <a:schemeClr val="accent3"/>
                </a:solidFill>
              </a:defRPr>
            </a:lvl8pPr>
            <a:lvl9pPr lvl="8">
              <a:spcBef>
                <a:spcPts val="0"/>
              </a:spcBef>
              <a:spcAft>
                <a:spcPts val="0"/>
              </a:spcAft>
              <a:buClr>
                <a:schemeClr val="accent3"/>
              </a:buClr>
              <a:buSzPts val="2800"/>
              <a:buFont typeface="Urbanist"/>
              <a:buNone/>
              <a:defRPr>
                <a:solidFill>
                  <a:schemeClr val="accent3"/>
                </a:solidFill>
              </a:defRPr>
            </a:lvl9pPr>
          </a:lstStyle>
          <a:p/>
        </p:txBody>
      </p:sp>
      <p:sp>
        <p:nvSpPr>
          <p:cNvPr id="64" name="Google Shape;64;p13"/>
          <p:cNvSpPr txBox="1"/>
          <p:nvPr>
            <p:ph idx="14" type="subTitle"/>
          </p:nvPr>
        </p:nvSpPr>
        <p:spPr>
          <a:xfrm>
            <a:off x="4745500" y="2161825"/>
            <a:ext cx="1974600" cy="204600"/>
          </a:xfrm>
          <a:prstGeom prst="rect">
            <a:avLst/>
          </a:prstGeom>
        </p:spPr>
        <p:txBody>
          <a:bodyPr anchorCtr="0" anchor="t" bIns="91425" lIns="0" spcFirstLastPara="1" rIns="91425" wrap="square" tIns="0">
            <a:norm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120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65" name="Google Shape;65;p13"/>
          <p:cNvSpPr txBox="1"/>
          <p:nvPr>
            <p:ph idx="15" type="body"/>
          </p:nvPr>
        </p:nvSpPr>
        <p:spPr>
          <a:xfrm>
            <a:off x="4745400" y="2465025"/>
            <a:ext cx="1826700" cy="477900"/>
          </a:xfrm>
          <a:prstGeom prst="rect">
            <a:avLst/>
          </a:prstGeom>
        </p:spPr>
        <p:txBody>
          <a:bodyPr anchorCtr="0" anchor="t" bIns="91425" lIns="0" spcFirstLastPara="1" rIns="91425" wrap="square" tIns="0">
            <a:norm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66" name="Google Shape;66;p13"/>
          <p:cNvSpPr txBox="1"/>
          <p:nvPr>
            <p:ph idx="16" type="title"/>
          </p:nvPr>
        </p:nvSpPr>
        <p:spPr>
          <a:xfrm>
            <a:off x="6942300" y="1775475"/>
            <a:ext cx="1862100" cy="293100"/>
          </a:xfrm>
          <a:prstGeom prst="rect">
            <a:avLst/>
          </a:prstGeom>
        </p:spPr>
        <p:txBody>
          <a:bodyPr anchorCtr="0" anchor="b" bIns="91425" lIns="0" spcFirstLastPara="1" rIns="91425" wrap="square" tIns="0">
            <a:normAutofit/>
          </a:bodyPr>
          <a:lstStyle>
            <a:lvl1pPr lvl="0">
              <a:lnSpc>
                <a:spcPct val="90000"/>
              </a:lnSpc>
              <a:spcBef>
                <a:spcPts val="0"/>
              </a:spcBef>
              <a:spcAft>
                <a:spcPts val="0"/>
              </a:spcAft>
              <a:buClr>
                <a:schemeClr val="accent3"/>
              </a:buClr>
              <a:buSzPts val="2800"/>
              <a:buFont typeface="Urbanist"/>
              <a:buNone/>
              <a:defRPr sz="1800">
                <a:solidFill>
                  <a:schemeClr val="accent3"/>
                </a:solidFill>
              </a:defRPr>
            </a:lvl1pPr>
            <a:lvl2pPr lvl="1">
              <a:spcBef>
                <a:spcPts val="0"/>
              </a:spcBef>
              <a:spcAft>
                <a:spcPts val="0"/>
              </a:spcAft>
              <a:buClr>
                <a:schemeClr val="accent3"/>
              </a:buClr>
              <a:buSzPts val="2800"/>
              <a:buFont typeface="Urbanist"/>
              <a:buNone/>
              <a:defRPr>
                <a:solidFill>
                  <a:schemeClr val="accent3"/>
                </a:solidFill>
              </a:defRPr>
            </a:lvl2pPr>
            <a:lvl3pPr lvl="2">
              <a:spcBef>
                <a:spcPts val="0"/>
              </a:spcBef>
              <a:spcAft>
                <a:spcPts val="0"/>
              </a:spcAft>
              <a:buClr>
                <a:schemeClr val="accent3"/>
              </a:buClr>
              <a:buSzPts val="2800"/>
              <a:buFont typeface="Urbanist"/>
              <a:buNone/>
              <a:defRPr>
                <a:solidFill>
                  <a:schemeClr val="accent3"/>
                </a:solidFill>
              </a:defRPr>
            </a:lvl3pPr>
            <a:lvl4pPr lvl="3">
              <a:spcBef>
                <a:spcPts val="0"/>
              </a:spcBef>
              <a:spcAft>
                <a:spcPts val="0"/>
              </a:spcAft>
              <a:buClr>
                <a:schemeClr val="accent3"/>
              </a:buClr>
              <a:buSzPts val="2800"/>
              <a:buFont typeface="Urbanist"/>
              <a:buNone/>
              <a:defRPr>
                <a:solidFill>
                  <a:schemeClr val="accent3"/>
                </a:solidFill>
              </a:defRPr>
            </a:lvl4pPr>
            <a:lvl5pPr lvl="4">
              <a:spcBef>
                <a:spcPts val="0"/>
              </a:spcBef>
              <a:spcAft>
                <a:spcPts val="0"/>
              </a:spcAft>
              <a:buClr>
                <a:schemeClr val="accent3"/>
              </a:buClr>
              <a:buSzPts val="2800"/>
              <a:buFont typeface="Urbanist"/>
              <a:buNone/>
              <a:defRPr>
                <a:solidFill>
                  <a:schemeClr val="accent3"/>
                </a:solidFill>
              </a:defRPr>
            </a:lvl5pPr>
            <a:lvl6pPr lvl="5">
              <a:spcBef>
                <a:spcPts val="0"/>
              </a:spcBef>
              <a:spcAft>
                <a:spcPts val="0"/>
              </a:spcAft>
              <a:buClr>
                <a:schemeClr val="accent3"/>
              </a:buClr>
              <a:buSzPts val="2800"/>
              <a:buFont typeface="Urbanist"/>
              <a:buNone/>
              <a:defRPr>
                <a:solidFill>
                  <a:schemeClr val="accent3"/>
                </a:solidFill>
              </a:defRPr>
            </a:lvl6pPr>
            <a:lvl7pPr lvl="6">
              <a:spcBef>
                <a:spcPts val="0"/>
              </a:spcBef>
              <a:spcAft>
                <a:spcPts val="0"/>
              </a:spcAft>
              <a:buClr>
                <a:schemeClr val="accent3"/>
              </a:buClr>
              <a:buSzPts val="2800"/>
              <a:buFont typeface="Urbanist"/>
              <a:buNone/>
              <a:defRPr>
                <a:solidFill>
                  <a:schemeClr val="accent3"/>
                </a:solidFill>
              </a:defRPr>
            </a:lvl7pPr>
            <a:lvl8pPr lvl="7">
              <a:spcBef>
                <a:spcPts val="0"/>
              </a:spcBef>
              <a:spcAft>
                <a:spcPts val="0"/>
              </a:spcAft>
              <a:buClr>
                <a:schemeClr val="accent3"/>
              </a:buClr>
              <a:buSzPts val="2800"/>
              <a:buFont typeface="Urbanist"/>
              <a:buNone/>
              <a:defRPr>
                <a:solidFill>
                  <a:schemeClr val="accent3"/>
                </a:solidFill>
              </a:defRPr>
            </a:lvl8pPr>
            <a:lvl9pPr lvl="8">
              <a:spcBef>
                <a:spcPts val="0"/>
              </a:spcBef>
              <a:spcAft>
                <a:spcPts val="0"/>
              </a:spcAft>
              <a:buClr>
                <a:schemeClr val="accent3"/>
              </a:buClr>
              <a:buSzPts val="2800"/>
              <a:buFont typeface="Urbanist"/>
              <a:buNone/>
              <a:defRPr>
                <a:solidFill>
                  <a:schemeClr val="accent3"/>
                </a:solidFill>
              </a:defRPr>
            </a:lvl9pPr>
          </a:lstStyle>
          <a:p/>
        </p:txBody>
      </p:sp>
      <p:sp>
        <p:nvSpPr>
          <p:cNvPr id="67" name="Google Shape;67;p13"/>
          <p:cNvSpPr txBox="1"/>
          <p:nvPr>
            <p:ph idx="17" type="subTitle"/>
          </p:nvPr>
        </p:nvSpPr>
        <p:spPr>
          <a:xfrm>
            <a:off x="6942300" y="2161825"/>
            <a:ext cx="1974600" cy="204600"/>
          </a:xfrm>
          <a:prstGeom prst="rect">
            <a:avLst/>
          </a:prstGeom>
        </p:spPr>
        <p:txBody>
          <a:bodyPr anchorCtr="0" anchor="t" bIns="91425" lIns="0" spcFirstLastPara="1" rIns="91425" wrap="square" tIns="0">
            <a:norm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120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68" name="Google Shape;68;p13"/>
          <p:cNvSpPr txBox="1"/>
          <p:nvPr>
            <p:ph idx="18" type="body"/>
          </p:nvPr>
        </p:nvSpPr>
        <p:spPr>
          <a:xfrm>
            <a:off x="6942300" y="2465025"/>
            <a:ext cx="1791600" cy="477900"/>
          </a:xfrm>
          <a:prstGeom prst="rect">
            <a:avLst/>
          </a:prstGeom>
        </p:spPr>
        <p:txBody>
          <a:bodyPr anchorCtr="0" anchor="t" bIns="91425" lIns="0" spcFirstLastPara="1" rIns="91425" wrap="square" tIns="0">
            <a:norm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69" name="Google Shape;69;p13"/>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70" name="Google Shape;70;p1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1" name="Google Shape;71;p1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76" name="Shape 76"/>
        <p:cNvGrpSpPr/>
        <p:nvPr/>
      </p:nvGrpSpPr>
      <p:grpSpPr>
        <a:xfrm>
          <a:off x="0" y="0"/>
          <a:ext cx="0" cy="0"/>
          <a:chOff x="0" y="0"/>
          <a:chExt cx="0" cy="0"/>
        </a:xfrm>
      </p:grpSpPr>
      <p:pic>
        <p:nvPicPr>
          <p:cNvPr id="77" name="Google Shape;77;p15"/>
          <p:cNvPicPr preferRelativeResize="0"/>
          <p:nvPr/>
        </p:nvPicPr>
        <p:blipFill rotWithShape="1">
          <a:blip r:embed="rId2">
            <a:alphaModFix amt="50000"/>
          </a:blip>
          <a:srcRect b="8145" l="3134" r="7835" t="16786"/>
          <a:stretch/>
        </p:blipFill>
        <p:spPr>
          <a:xfrm flipH="1" rot="10800000">
            <a:off x="0" y="-3474"/>
            <a:ext cx="9161550" cy="5154499"/>
          </a:xfrm>
          <a:prstGeom prst="rect">
            <a:avLst/>
          </a:prstGeom>
          <a:noFill/>
          <a:ln>
            <a:noFill/>
          </a:ln>
        </p:spPr>
      </p:pic>
      <p:sp>
        <p:nvSpPr>
          <p:cNvPr id="78" name="Google Shape;78;p15"/>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9" name="Google Shape;79;p15"/>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80" name="Google Shape;80;p15"/>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1" name="Google Shape;81;p15"/>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2" name="Google Shape;82;p15"/>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3" name="Google Shape;83;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84" name="Google Shape;84;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85" name="Google Shape;85;p15"/>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86" name="Google Shape;86;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87" name="Google Shape;87;p15"/>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88" name="Google Shape;88;p15"/>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89" name="Google Shape;89;p15"/>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90" name="Google Shape;90;p15"/>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91" name="Shape 91"/>
        <p:cNvGrpSpPr/>
        <p:nvPr/>
      </p:nvGrpSpPr>
      <p:grpSpPr>
        <a:xfrm>
          <a:off x="0" y="0"/>
          <a:ext cx="0" cy="0"/>
          <a:chOff x="0" y="0"/>
          <a:chExt cx="0" cy="0"/>
        </a:xfrm>
      </p:grpSpPr>
      <p:sp>
        <p:nvSpPr>
          <p:cNvPr id="92" name="Google Shape;92;p16"/>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93" name="Google Shape;93;p16"/>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4" name="Google Shape;94;p1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95" name="Google Shape;95;p16"/>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96" name="Google Shape;96;p1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97" name="Google Shape;97;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98" name="Google Shape;98;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99" name="Google Shape;99;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100" name="Shape 100"/>
        <p:cNvGrpSpPr/>
        <p:nvPr/>
      </p:nvGrpSpPr>
      <p:grpSpPr>
        <a:xfrm>
          <a:off x="0" y="0"/>
          <a:ext cx="0" cy="0"/>
          <a:chOff x="0" y="0"/>
          <a:chExt cx="0" cy="0"/>
        </a:xfrm>
      </p:grpSpPr>
      <p:sp>
        <p:nvSpPr>
          <p:cNvPr id="101" name="Google Shape;101;p17"/>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02" name="Google Shape;102;p17"/>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103" name="Google Shape;103;p17"/>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4" name="Google Shape;104;p17"/>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5" name="Google Shape;105;p17"/>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6" name="Google Shape;106;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07" name="Google Shape;107;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108" name="Google Shape;108;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09" name="Google Shape;109;p17"/>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110" name="Google Shape;110;p17"/>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111" name="Google Shape;111;p17"/>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112" name="Google Shape;112;p17"/>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113" name="Google Shape;113;p17"/>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114" name="Google Shape;114;p17"/>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115" name="Shape 115"/>
        <p:cNvGrpSpPr/>
        <p:nvPr/>
      </p:nvGrpSpPr>
      <p:grpSpPr>
        <a:xfrm>
          <a:off x="0" y="0"/>
          <a:ext cx="0" cy="0"/>
          <a:chOff x="0" y="0"/>
          <a:chExt cx="0" cy="0"/>
        </a:xfrm>
      </p:grpSpPr>
      <p:sp>
        <p:nvSpPr>
          <p:cNvPr id="116" name="Google Shape;116;p18"/>
          <p:cNvSpPr/>
          <p:nvPr>
            <p:ph idx="2" type="pic"/>
          </p:nvPr>
        </p:nvSpPr>
        <p:spPr>
          <a:xfrm>
            <a:off x="246150" y="237650"/>
            <a:ext cx="4196400" cy="4438200"/>
          </a:xfrm>
          <a:prstGeom prst="rect">
            <a:avLst/>
          </a:prstGeom>
          <a:noFill/>
          <a:ln>
            <a:noFill/>
          </a:ln>
        </p:spPr>
      </p:sp>
      <p:sp>
        <p:nvSpPr>
          <p:cNvPr id="117" name="Google Shape;117;p18"/>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118" name="Google Shape;118;p18"/>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119" name="Google Shape;119;p18"/>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120" name="Google Shape;120;p18"/>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1" name="Google Shape;121;p18"/>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2" name="Google Shape;122;p18"/>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3" name="Google Shape;123;p1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4" name="Google Shape;124;p1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125" name="Google Shape;125;p18"/>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126" name="Google Shape;126;p18"/>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127" name="Google Shape;127;p18"/>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128" name="Google Shape;128;p1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129" name="Shape 129"/>
        <p:cNvGrpSpPr/>
        <p:nvPr/>
      </p:nvGrpSpPr>
      <p:grpSpPr>
        <a:xfrm>
          <a:off x="0" y="0"/>
          <a:ext cx="0" cy="0"/>
          <a:chOff x="0" y="0"/>
          <a:chExt cx="0" cy="0"/>
        </a:xfrm>
      </p:grpSpPr>
      <p:sp>
        <p:nvSpPr>
          <p:cNvPr id="130" name="Google Shape;130;p19"/>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31" name="Google Shape;131;p19"/>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132" name="Google Shape;132;p19"/>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133" name="Google Shape;133;p19"/>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134" name="Google Shape;134;p19"/>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35" name="Google Shape;135;p19"/>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6" name="Google Shape;136;p19"/>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7" name="Google Shape;137;p19"/>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8" name="Google Shape;138;p1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9" name="Google Shape;139;p1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40" name="Google Shape;140;p19"/>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141" name="Google Shape;141;p1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pic>
        <p:nvPicPr>
          <p:cNvPr descr="The edges of black plates against a black background. " id="142" name="Google Shape;142;p19"/>
          <p:cNvPicPr preferRelativeResize="0"/>
          <p:nvPr/>
        </p:nvPicPr>
        <p:blipFill rotWithShape="1">
          <a:blip r:embed="rId2">
            <a:alphaModFix/>
          </a:blip>
          <a:srcRect b="2361" l="19958" r="17042" t="24539"/>
          <a:stretch/>
        </p:blipFill>
        <p:spPr>
          <a:xfrm>
            <a:off x="4618950" y="737775"/>
            <a:ext cx="2068800" cy="1350300"/>
          </a:xfrm>
          <a:prstGeom prst="roundRect">
            <a:avLst>
              <a:gd fmla="val 8809" name="adj"/>
            </a:avLst>
          </a:prstGeom>
          <a:noFill/>
          <a:ln cap="flat" cmpd="sng" w="9525">
            <a:solidFill>
              <a:schemeClr val="accent1"/>
            </a:solidFill>
            <a:prstDash val="solid"/>
            <a:round/>
            <a:headEnd len="sm" w="sm" type="none"/>
            <a:tailEnd len="sm" w="sm" type="none"/>
          </a:ln>
        </p:spPr>
      </p:pic>
    </p:spTree>
  </p:cSld>
  <p:clrMapOvr>
    <a:masterClrMapping/>
  </p:clrMapOvr>
  <p:extLst>
    <p:ext uri="{DCECCB84-F9BA-43D5-87BE-67443E8EF086}">
      <p15:sldGuideLst>
        <p15:guide id="1" orient="horz" pos="2805">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143" name="Shape 143"/>
        <p:cNvGrpSpPr/>
        <p:nvPr/>
      </p:nvGrpSpPr>
      <p:grpSpPr>
        <a:xfrm>
          <a:off x="0" y="0"/>
          <a:ext cx="0" cy="0"/>
          <a:chOff x="0" y="0"/>
          <a:chExt cx="0" cy="0"/>
        </a:xfrm>
      </p:grpSpPr>
      <p:pic>
        <p:nvPicPr>
          <p:cNvPr id="144" name="Google Shape;144;p20"/>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145" name="Google Shape;145;p20"/>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6" name="Google Shape;146;p20"/>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7" name="Google Shape;147;p20"/>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8" name="Google Shape;148;p20"/>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149" name="Google Shape;149;p2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50" name="Google Shape;150;p20"/>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1" name="Google Shape;151;p20"/>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2" name="Google Shape;152;p20"/>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3" name="Google Shape;153;p20"/>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4" name="Google Shape;154;p20"/>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5" name="Google Shape;155;p20"/>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6" name="Google Shape;156;p20"/>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57" name="Google Shape;157;p20"/>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58" name="Google Shape;158;p20"/>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59" name="Google Shape;159;p20"/>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60" name="Google Shape;160;p20"/>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61" name="Google Shape;161;p20"/>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62" name="Google Shape;162;p2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3" name="Google Shape;163;p2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164" name="Shape 164"/>
        <p:cNvGrpSpPr/>
        <p:nvPr/>
      </p:nvGrpSpPr>
      <p:grpSpPr>
        <a:xfrm>
          <a:off x="0" y="0"/>
          <a:ext cx="0" cy="0"/>
          <a:chOff x="0" y="0"/>
          <a:chExt cx="0" cy="0"/>
        </a:xfrm>
      </p:grpSpPr>
      <p:sp>
        <p:nvSpPr>
          <p:cNvPr id="165" name="Google Shape;165;p21"/>
          <p:cNvSpPr/>
          <p:nvPr>
            <p:ph idx="2" type="pic"/>
          </p:nvPr>
        </p:nvSpPr>
        <p:spPr>
          <a:xfrm>
            <a:off x="4618950" y="228600"/>
            <a:ext cx="1370400" cy="1357500"/>
          </a:xfrm>
          <a:prstGeom prst="roundRect">
            <a:avLst>
              <a:gd fmla="val 16935" name="adj"/>
            </a:avLst>
          </a:prstGeom>
          <a:noFill/>
          <a:ln>
            <a:noFill/>
          </a:ln>
        </p:spPr>
      </p:sp>
      <p:sp>
        <p:nvSpPr>
          <p:cNvPr id="166" name="Google Shape;166;p21"/>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67" name="Google Shape;167;p21"/>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8" name="Google Shape;168;p21"/>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9" name="Google Shape;169;p21"/>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0" name="Google Shape;170;p21"/>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71" name="Google Shape;171;p21"/>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72" name="Google Shape;172;p21"/>
          <p:cNvSpPr/>
          <p:nvPr>
            <p:ph idx="7" type="pic"/>
          </p:nvPr>
        </p:nvSpPr>
        <p:spPr>
          <a:xfrm>
            <a:off x="6080700" y="228600"/>
            <a:ext cx="1370400" cy="1357500"/>
          </a:xfrm>
          <a:prstGeom prst="roundRect">
            <a:avLst>
              <a:gd fmla="val 16935" name="adj"/>
            </a:avLst>
          </a:prstGeom>
          <a:noFill/>
          <a:ln>
            <a:noFill/>
          </a:ln>
        </p:spPr>
      </p:sp>
      <p:sp>
        <p:nvSpPr>
          <p:cNvPr id="173" name="Google Shape;173;p21"/>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74" name="Google Shape;174;p21"/>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75" name="Google Shape;175;p21"/>
          <p:cNvSpPr/>
          <p:nvPr>
            <p:ph idx="13" type="pic"/>
          </p:nvPr>
        </p:nvSpPr>
        <p:spPr>
          <a:xfrm>
            <a:off x="7542450" y="228600"/>
            <a:ext cx="1370400" cy="1357500"/>
          </a:xfrm>
          <a:prstGeom prst="roundRect">
            <a:avLst>
              <a:gd fmla="val 16935" name="adj"/>
            </a:avLst>
          </a:prstGeom>
          <a:noFill/>
          <a:ln>
            <a:noFill/>
          </a:ln>
        </p:spPr>
      </p:sp>
      <p:sp>
        <p:nvSpPr>
          <p:cNvPr id="176" name="Google Shape;176;p21"/>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77" name="Google Shape;177;p21"/>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78" name="Google Shape;178;p21"/>
          <p:cNvSpPr/>
          <p:nvPr>
            <p:ph idx="16" type="pic"/>
          </p:nvPr>
        </p:nvSpPr>
        <p:spPr>
          <a:xfrm>
            <a:off x="4618950" y="2295725"/>
            <a:ext cx="1370400" cy="1357500"/>
          </a:xfrm>
          <a:prstGeom prst="roundRect">
            <a:avLst>
              <a:gd fmla="val 16935" name="adj"/>
            </a:avLst>
          </a:prstGeom>
          <a:noFill/>
          <a:ln>
            <a:noFill/>
          </a:ln>
        </p:spPr>
      </p:sp>
      <p:sp>
        <p:nvSpPr>
          <p:cNvPr id="179" name="Google Shape;179;p21"/>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80" name="Google Shape;180;p21"/>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81" name="Google Shape;181;p21"/>
          <p:cNvSpPr/>
          <p:nvPr>
            <p:ph idx="19" type="pic"/>
          </p:nvPr>
        </p:nvSpPr>
        <p:spPr>
          <a:xfrm>
            <a:off x="6080700" y="2295725"/>
            <a:ext cx="1370400" cy="1357500"/>
          </a:xfrm>
          <a:prstGeom prst="roundRect">
            <a:avLst>
              <a:gd fmla="val 16935" name="adj"/>
            </a:avLst>
          </a:prstGeom>
          <a:noFill/>
          <a:ln>
            <a:noFill/>
          </a:ln>
        </p:spPr>
      </p:sp>
      <p:sp>
        <p:nvSpPr>
          <p:cNvPr id="182" name="Google Shape;182;p21"/>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83" name="Google Shape;183;p21"/>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84" name="Google Shape;184;p21"/>
          <p:cNvSpPr/>
          <p:nvPr>
            <p:ph idx="22" type="pic"/>
          </p:nvPr>
        </p:nvSpPr>
        <p:spPr>
          <a:xfrm>
            <a:off x="7542450" y="2295725"/>
            <a:ext cx="1370400" cy="1357500"/>
          </a:xfrm>
          <a:prstGeom prst="roundRect">
            <a:avLst>
              <a:gd fmla="val 16935" name="adj"/>
            </a:avLst>
          </a:prstGeom>
          <a:noFill/>
          <a:ln>
            <a:noFill/>
          </a:ln>
        </p:spPr>
      </p:sp>
      <p:sp>
        <p:nvSpPr>
          <p:cNvPr id="185" name="Google Shape;185;p21"/>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86" name="Google Shape;186;p21"/>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87" name="Google Shape;187;p2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88" name="Google Shape;188;p2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9" name="Google Shape;189;p2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90" name="Shape 190"/>
        <p:cNvGrpSpPr/>
        <p:nvPr/>
      </p:nvGrpSpPr>
      <p:grpSpPr>
        <a:xfrm>
          <a:off x="0" y="0"/>
          <a:ext cx="0" cy="0"/>
          <a:chOff x="0" y="0"/>
          <a:chExt cx="0" cy="0"/>
        </a:xfrm>
      </p:grpSpPr>
      <p:sp>
        <p:nvSpPr>
          <p:cNvPr id="191" name="Google Shape;191;p22"/>
          <p:cNvSpPr/>
          <p:nvPr>
            <p:ph idx="2" type="pic"/>
          </p:nvPr>
        </p:nvSpPr>
        <p:spPr>
          <a:xfrm>
            <a:off x="9425" y="-3075"/>
            <a:ext cx="9144000" cy="4641000"/>
          </a:xfrm>
          <a:prstGeom prst="rect">
            <a:avLst/>
          </a:prstGeom>
          <a:noFill/>
          <a:ln>
            <a:noFill/>
          </a:ln>
        </p:spPr>
      </p:sp>
      <p:sp>
        <p:nvSpPr>
          <p:cNvPr id="192" name="Google Shape;192;p22"/>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93" name="Google Shape;193;p22"/>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94" name="Google Shape;194;p22"/>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5" name="Google Shape;195;p22"/>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6" name="Google Shape;196;p22"/>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97" name="Google Shape;197;p2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98" name="Google Shape;198;p2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99" name="Google Shape;199;p2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200" name="Shape 200"/>
        <p:cNvGrpSpPr/>
        <p:nvPr/>
      </p:nvGrpSpPr>
      <p:grpSpPr>
        <a:xfrm>
          <a:off x="0" y="0"/>
          <a:ext cx="0" cy="0"/>
          <a:chOff x="0" y="0"/>
          <a:chExt cx="0" cy="0"/>
        </a:xfrm>
      </p:grpSpPr>
      <p:sp>
        <p:nvSpPr>
          <p:cNvPr id="201" name="Google Shape;201;p23"/>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2" name="Google Shape;202;p23"/>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3" name="Google Shape;203;p23"/>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204" name="Google Shape;204;p23"/>
          <p:cNvGrpSpPr/>
          <p:nvPr/>
        </p:nvGrpSpPr>
        <p:grpSpPr>
          <a:xfrm rot="5400000">
            <a:off x="8691475" y="228504"/>
            <a:ext cx="228589" cy="228623"/>
            <a:chOff x="1688332" y="4135245"/>
            <a:chExt cx="338700" cy="338700"/>
          </a:xfrm>
        </p:grpSpPr>
        <p:sp>
          <p:nvSpPr>
            <p:cNvPr id="205" name="Google Shape;205;p23"/>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206" name="Google Shape;206;p23"/>
            <p:cNvGrpSpPr/>
            <p:nvPr/>
          </p:nvGrpSpPr>
          <p:grpSpPr>
            <a:xfrm rot="-5400000">
              <a:off x="1787014" y="4262191"/>
              <a:ext cx="169598" cy="84809"/>
              <a:chOff x="498725" y="2069800"/>
              <a:chExt cx="205200" cy="102600"/>
            </a:xfrm>
          </p:grpSpPr>
          <p:cxnSp>
            <p:nvCxnSpPr>
              <p:cNvPr id="207" name="Google Shape;207;p23"/>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208" name="Google Shape;208;p23"/>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209" name="Google Shape;209;p23"/>
          <p:cNvSpPr/>
          <p:nvPr>
            <p:ph idx="4" type="pic"/>
          </p:nvPr>
        </p:nvSpPr>
        <p:spPr>
          <a:xfrm>
            <a:off x="426700" y="1896600"/>
            <a:ext cx="665400" cy="685500"/>
          </a:xfrm>
          <a:prstGeom prst="roundRect">
            <a:avLst>
              <a:gd fmla="val 17601" name="adj"/>
            </a:avLst>
          </a:prstGeom>
          <a:noFill/>
          <a:ln>
            <a:noFill/>
          </a:ln>
        </p:spPr>
      </p:sp>
      <p:sp>
        <p:nvSpPr>
          <p:cNvPr id="210" name="Google Shape;210;p23"/>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211" name="Google Shape;211;p23"/>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12" name="Google Shape;212;p23"/>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13" name="Google Shape;213;p23"/>
          <p:cNvSpPr/>
          <p:nvPr>
            <p:ph idx="8" type="pic"/>
          </p:nvPr>
        </p:nvSpPr>
        <p:spPr>
          <a:xfrm>
            <a:off x="2621800" y="1896600"/>
            <a:ext cx="665400" cy="685500"/>
          </a:xfrm>
          <a:prstGeom prst="roundRect">
            <a:avLst>
              <a:gd fmla="val 17601" name="adj"/>
            </a:avLst>
          </a:prstGeom>
          <a:noFill/>
          <a:ln>
            <a:noFill/>
          </a:ln>
        </p:spPr>
      </p:sp>
      <p:sp>
        <p:nvSpPr>
          <p:cNvPr id="214" name="Google Shape;214;p23"/>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215" name="Google Shape;215;p23"/>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16" name="Google Shape;216;p23"/>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17" name="Google Shape;217;p23"/>
          <p:cNvSpPr/>
          <p:nvPr>
            <p:ph idx="15" type="pic"/>
          </p:nvPr>
        </p:nvSpPr>
        <p:spPr>
          <a:xfrm>
            <a:off x="4816900" y="1896600"/>
            <a:ext cx="665400" cy="685500"/>
          </a:xfrm>
          <a:prstGeom prst="roundRect">
            <a:avLst>
              <a:gd fmla="val 17601" name="adj"/>
            </a:avLst>
          </a:prstGeom>
          <a:noFill/>
          <a:ln>
            <a:noFill/>
          </a:ln>
        </p:spPr>
      </p:sp>
      <p:sp>
        <p:nvSpPr>
          <p:cNvPr id="218" name="Google Shape;218;p23"/>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219" name="Google Shape;219;p23"/>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20" name="Google Shape;220;p23"/>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21" name="Google Shape;221;p23"/>
          <p:cNvSpPr/>
          <p:nvPr>
            <p:ph idx="19" type="pic"/>
          </p:nvPr>
        </p:nvSpPr>
        <p:spPr>
          <a:xfrm>
            <a:off x="7012000" y="1896600"/>
            <a:ext cx="665400" cy="685500"/>
          </a:xfrm>
          <a:prstGeom prst="roundRect">
            <a:avLst>
              <a:gd fmla="val 17601" name="adj"/>
            </a:avLst>
          </a:prstGeom>
          <a:noFill/>
          <a:ln>
            <a:noFill/>
          </a:ln>
        </p:spPr>
      </p:sp>
      <p:sp>
        <p:nvSpPr>
          <p:cNvPr id="222" name="Google Shape;222;p23"/>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223" name="Google Shape;223;p23"/>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24" name="Google Shape;224;p23"/>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225" name="Google Shape;225;p2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26" name="Google Shape;226;p2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7" name="Google Shape;227;p2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228" name="Shape 228"/>
        <p:cNvGrpSpPr/>
        <p:nvPr/>
      </p:nvGrpSpPr>
      <p:grpSpPr>
        <a:xfrm>
          <a:off x="0" y="0"/>
          <a:ext cx="0" cy="0"/>
          <a:chOff x="0" y="0"/>
          <a:chExt cx="0" cy="0"/>
        </a:xfrm>
      </p:grpSpPr>
      <p:pic>
        <p:nvPicPr>
          <p:cNvPr descr="Oval black shapes against a shadowy background. " id="229" name="Google Shape;229;p24"/>
          <p:cNvPicPr preferRelativeResize="0"/>
          <p:nvPr/>
        </p:nvPicPr>
        <p:blipFill rotWithShape="1">
          <a:blip r:embed="rId2">
            <a:alphaModFix/>
          </a:blip>
          <a:srcRect b="42245" l="17241" r="25039" t="35"/>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230" name="Google Shape;230;p24"/>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31" name="Google Shape;231;p2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32" name="Google Shape;232;p2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33" name="Google Shape;233;p2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34" name="Google Shape;234;p24"/>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235" name="Google Shape;235;p2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236" name="Google Shape;236;p24"/>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237" name="Google Shape;237;p24"/>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238" name="Google Shape;238;p2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39" name="Google Shape;239;p2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240" name="Shape 240"/>
        <p:cNvGrpSpPr/>
        <p:nvPr/>
      </p:nvGrpSpPr>
      <p:grpSpPr>
        <a:xfrm>
          <a:off x="0" y="0"/>
          <a:ext cx="0" cy="0"/>
          <a:chOff x="0" y="0"/>
          <a:chExt cx="0" cy="0"/>
        </a:xfrm>
      </p:grpSpPr>
      <p:sp>
        <p:nvSpPr>
          <p:cNvPr id="241" name="Google Shape;241;p25"/>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242" name="Google Shape;242;p25"/>
          <p:cNvSpPr/>
          <p:nvPr>
            <p:ph idx="2" type="pic"/>
          </p:nvPr>
        </p:nvSpPr>
        <p:spPr>
          <a:xfrm>
            <a:off x="5342000" y="457200"/>
            <a:ext cx="3573300" cy="3995400"/>
          </a:xfrm>
          <a:prstGeom prst="roundRect">
            <a:avLst>
              <a:gd fmla="val 6865" name="adj"/>
            </a:avLst>
          </a:prstGeom>
          <a:noFill/>
          <a:ln>
            <a:noFill/>
          </a:ln>
        </p:spPr>
      </p:sp>
      <p:sp>
        <p:nvSpPr>
          <p:cNvPr id="243" name="Google Shape;243;p25"/>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4" name="Google Shape;244;p25"/>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5" name="Google Shape;245;p25"/>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6" name="Google Shape;246;p25"/>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247" name="Google Shape;247;p25"/>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248" name="Google Shape;248;p2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49" name="Google Shape;249;p2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50" name="Google Shape;250;p2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251" name="Shape 251"/>
        <p:cNvGrpSpPr/>
        <p:nvPr/>
      </p:nvGrpSpPr>
      <p:grpSpPr>
        <a:xfrm>
          <a:off x="0" y="0"/>
          <a:ext cx="0" cy="0"/>
          <a:chOff x="0" y="0"/>
          <a:chExt cx="0" cy="0"/>
        </a:xfrm>
      </p:grpSpPr>
      <p:sp>
        <p:nvSpPr>
          <p:cNvPr id="252" name="Google Shape;252;p26"/>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253" name="Google Shape;253;p26"/>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54" name="Google Shape;254;p26"/>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55" name="Google Shape;255;p26"/>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56" name="Google Shape;256;p26"/>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57" name="Google Shape;257;p26"/>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58" name="Google Shape;258;p26"/>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259" name="Google Shape;259;p26"/>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260" name="Google Shape;260;p26"/>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261" name="Google Shape;261;p26"/>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2" name="Google Shape;262;p26"/>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3" name="Google Shape;263;p26"/>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64" name="Google Shape;264;p2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265" name="Google Shape;265;p26"/>
          <p:cNvGrpSpPr/>
          <p:nvPr/>
        </p:nvGrpSpPr>
        <p:grpSpPr>
          <a:xfrm rot="-5400000">
            <a:off x="4794488" y="4206993"/>
            <a:ext cx="141588" cy="73485"/>
            <a:chOff x="498725" y="2069800"/>
            <a:chExt cx="205200" cy="106500"/>
          </a:xfrm>
        </p:grpSpPr>
        <p:cxnSp>
          <p:nvCxnSpPr>
            <p:cNvPr id="266" name="Google Shape;266;p26"/>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267" name="Google Shape;267;p26"/>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268" name="Google Shape;268;p2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9" name="Google Shape;269;p2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70" name="Shape 270"/>
        <p:cNvGrpSpPr/>
        <p:nvPr/>
      </p:nvGrpSpPr>
      <p:grpSpPr>
        <a:xfrm>
          <a:off x="0" y="0"/>
          <a:ext cx="0" cy="0"/>
          <a:chOff x="0" y="0"/>
          <a:chExt cx="0" cy="0"/>
        </a:xfrm>
      </p:grpSpPr>
      <p:sp>
        <p:nvSpPr>
          <p:cNvPr id="271" name="Google Shape;271;p27"/>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72" name="Google Shape;272;p2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3" name="Google Shape;273;p2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74" name="Google Shape;274;p2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75" name="Google Shape;275;p2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76" name="Google Shape;276;p27"/>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77" name="Google Shape;277;p27"/>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78" name="Google Shape;278;p27"/>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79" name="Google Shape;279;p27"/>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80" name="Google Shape;280;p27"/>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81" name="Google Shape;281;p27"/>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82" name="Google Shape;282;p27"/>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83" name="Google Shape;283;p27"/>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84" name="Google Shape;284;p27"/>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85" name="Google Shape;285;p27"/>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86" name="Google Shape;286;p27"/>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87" name="Google Shape;287;p27"/>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88" name="Google Shape;288;p2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9" name="Google Shape;289;p2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90" name="Shape 290"/>
        <p:cNvGrpSpPr/>
        <p:nvPr/>
      </p:nvGrpSpPr>
      <p:grpSpPr>
        <a:xfrm>
          <a:off x="0" y="0"/>
          <a:ext cx="0" cy="0"/>
          <a:chOff x="0" y="0"/>
          <a:chExt cx="0" cy="0"/>
        </a:xfrm>
      </p:grpSpPr>
      <p:pic>
        <p:nvPicPr>
          <p:cNvPr id="291" name="Google Shape;291;p28"/>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92" name="Google Shape;292;p2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93" name="Google Shape;293;p28"/>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4" name="Google Shape;294;p28"/>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5" name="Google Shape;295;p28"/>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6" name="Google Shape;296;p28"/>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97" name="Google Shape;297;p28"/>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98" name="Google Shape;298;p28"/>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99" name="Google Shape;299;p28"/>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300" name="Google Shape;300;p28"/>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301" name="Google Shape;301;p28"/>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302" name="Google Shape;302;p28"/>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303" name="Google Shape;303;p28"/>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304" name="Google Shape;304;p28"/>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305" name="Google Shape;305;p28"/>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306" name="Google Shape;306;p28"/>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307" name="Google Shape;307;p28"/>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308" name="Google Shape;308;p28"/>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309" name="Google Shape;309;p28"/>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10" name="Google Shape;310;p2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1" name="Google Shape;311;p2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312" name="Shape 312"/>
        <p:cNvGrpSpPr/>
        <p:nvPr/>
      </p:nvGrpSpPr>
      <p:grpSpPr>
        <a:xfrm>
          <a:off x="0" y="0"/>
          <a:ext cx="0" cy="0"/>
          <a:chOff x="0" y="0"/>
          <a:chExt cx="0" cy="0"/>
        </a:xfrm>
      </p:grpSpPr>
      <p:sp>
        <p:nvSpPr>
          <p:cNvPr id="313" name="Google Shape;313;p29"/>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314" name="Google Shape;314;p29"/>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315" name="Google Shape;315;p29"/>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6" name="Google Shape;316;p29"/>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7" name="Google Shape;317;p29"/>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18" name="Google Shape;318;p2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19" name="Google Shape;319;p29"/>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320" name="Google Shape;320;p29"/>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321" name="Google Shape;321;p29"/>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322" name="Google Shape;322;p29"/>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323" name="Google Shape;323;p29"/>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324" name="Google Shape;324;p2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5" name="Google Shape;325;p2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326" name="Shape 326"/>
        <p:cNvGrpSpPr/>
        <p:nvPr/>
      </p:nvGrpSpPr>
      <p:grpSpPr>
        <a:xfrm>
          <a:off x="0" y="0"/>
          <a:ext cx="0" cy="0"/>
          <a:chOff x="0" y="0"/>
          <a:chExt cx="0" cy="0"/>
        </a:xfrm>
      </p:grpSpPr>
      <p:sp>
        <p:nvSpPr>
          <p:cNvPr id="327" name="Google Shape;327;p30"/>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28" name="Google Shape;328;p30"/>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29" name="Google Shape;329;p30"/>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30" name="Google Shape;330;p3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31" name="Google Shape;331;p30"/>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32" name="Google Shape;332;p30"/>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33" name="Google Shape;333;p30"/>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34" name="Google Shape;334;p30"/>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35" name="Google Shape;335;p30"/>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336" name="Google Shape;336;p30"/>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337" name="Google Shape;337;p30"/>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338" name="Google Shape;338;p30"/>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39" name="Google Shape;339;p30"/>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340" name="Google Shape;340;p30"/>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341" name="Google Shape;341;p30"/>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342" name="Google Shape;342;p30"/>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43" name="Google Shape;343;p30"/>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44" name="Google Shape;344;p30"/>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45" name="Google Shape;345;p30"/>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46" name="Google Shape;346;p30"/>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347" name="Google Shape;347;p30"/>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348" name="Google Shape;348;p30"/>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349" name="Google Shape;349;p30"/>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50" name="Google Shape;350;p30"/>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51" name="Google Shape;351;p30"/>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352" name="Google Shape;352;p30"/>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353" name="Google Shape;353;p30"/>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54" name="Google Shape;354;p3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55" name="Google Shape;355;p3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356" name="Shape 356"/>
        <p:cNvGrpSpPr/>
        <p:nvPr/>
      </p:nvGrpSpPr>
      <p:grpSpPr>
        <a:xfrm>
          <a:off x="0" y="0"/>
          <a:ext cx="0" cy="0"/>
          <a:chOff x="0" y="0"/>
          <a:chExt cx="0" cy="0"/>
        </a:xfrm>
      </p:grpSpPr>
      <p:sp>
        <p:nvSpPr>
          <p:cNvPr id="357" name="Google Shape;357;p31"/>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58" name="Google Shape;358;p31"/>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59" name="Google Shape;359;p31"/>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60" name="Google Shape;360;p31"/>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61" name="Google Shape;361;p31"/>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62" name="Google Shape;362;p31"/>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63" name="Google Shape;363;p31"/>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4" name="Google Shape;364;p31"/>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65" name="Google Shape;365;p31"/>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66" name="Google Shape;366;p3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67" name="Google Shape;367;p31"/>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68" name="Google Shape;368;p31"/>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69" name="Google Shape;369;p31"/>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70" name="Google Shape;370;p31"/>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71" name="Google Shape;371;p31"/>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72" name="Google Shape;372;p31"/>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3" name="Google Shape;373;p31"/>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74" name="Google Shape;374;p31"/>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75" name="Google Shape;375;p31"/>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76" name="Google Shape;376;p31"/>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377" name="Google Shape;377;p31"/>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78" name="Google Shape;378;p31"/>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79" name="Google Shape;379;p31"/>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80" name="Google Shape;380;p31"/>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81" name="Google Shape;381;p31"/>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82" name="Google Shape;382;p3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83" name="Google Shape;383;p3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84" name="Shape 384"/>
        <p:cNvGrpSpPr/>
        <p:nvPr/>
      </p:nvGrpSpPr>
      <p:grpSpPr>
        <a:xfrm>
          <a:off x="0" y="0"/>
          <a:ext cx="0" cy="0"/>
          <a:chOff x="0" y="0"/>
          <a:chExt cx="0" cy="0"/>
        </a:xfrm>
      </p:grpSpPr>
      <p:sp>
        <p:nvSpPr>
          <p:cNvPr id="385" name="Google Shape;385;p32"/>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86" name="Google Shape;386;p32"/>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87" name="Google Shape;387;p32"/>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88" name="Google Shape;388;p3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89" name="Google Shape;389;p3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90" name="Google Shape;390;p3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91" name="Google Shape;391;p32"/>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2" name="Google Shape;392;p32"/>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93" name="Google Shape;393;p32"/>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94" name="Google Shape;394;p32"/>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95" name="Google Shape;395;p32"/>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96" name="Google Shape;396;p32"/>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97" name="Google Shape;397;p32"/>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98" name="Google Shape;398;p32"/>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99" name="Google Shape;399;p32"/>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400" name="Google Shape;400;p32"/>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01" name="Shape 401"/>
        <p:cNvGrpSpPr/>
        <p:nvPr/>
      </p:nvGrpSpPr>
      <p:grpSpPr>
        <a:xfrm>
          <a:off x="0" y="0"/>
          <a:ext cx="0" cy="0"/>
          <a:chOff x="0" y="0"/>
          <a:chExt cx="0" cy="0"/>
        </a:xfrm>
      </p:grpSpPr>
      <p:sp>
        <p:nvSpPr>
          <p:cNvPr id="402" name="Google Shape;402;p3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03" name="Google Shape;403;p3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04" name="Shape 404"/>
        <p:cNvGrpSpPr/>
        <p:nvPr/>
      </p:nvGrpSpPr>
      <p:grpSpPr>
        <a:xfrm>
          <a:off x="0" y="0"/>
          <a:ext cx="0" cy="0"/>
          <a:chOff x="0" y="0"/>
          <a:chExt cx="0" cy="0"/>
        </a:xfrm>
      </p:grpSpPr>
      <p:sp>
        <p:nvSpPr>
          <p:cNvPr id="405" name="Google Shape;405;p3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06" name="Shape 406"/>
        <p:cNvGrpSpPr/>
        <p:nvPr/>
      </p:nvGrpSpPr>
      <p:grpSpPr>
        <a:xfrm>
          <a:off x="0" y="0"/>
          <a:ext cx="0" cy="0"/>
          <a:chOff x="0" y="0"/>
          <a:chExt cx="0" cy="0"/>
        </a:xfrm>
      </p:grpSpPr>
      <p:sp>
        <p:nvSpPr>
          <p:cNvPr id="407" name="Google Shape;407;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8" name="Google Shape;408;p3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09" name="Shape 409"/>
        <p:cNvGrpSpPr/>
        <p:nvPr/>
      </p:nvGrpSpPr>
      <p:grpSpPr>
        <a:xfrm>
          <a:off x="0" y="0"/>
          <a:ext cx="0" cy="0"/>
          <a:chOff x="0" y="0"/>
          <a:chExt cx="0" cy="0"/>
        </a:xfrm>
      </p:grpSpPr>
      <p:sp>
        <p:nvSpPr>
          <p:cNvPr id="410" name="Google Shape;410;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1" name="Google Shape;411;p3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2" name="Google Shape;412;p36"/>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13" name="Shape 413"/>
        <p:cNvGrpSpPr/>
        <p:nvPr/>
      </p:nvGrpSpPr>
      <p:grpSpPr>
        <a:xfrm>
          <a:off x="0" y="0"/>
          <a:ext cx="0" cy="0"/>
          <a:chOff x="0" y="0"/>
          <a:chExt cx="0" cy="0"/>
        </a:xfrm>
      </p:grpSpPr>
      <p:sp>
        <p:nvSpPr>
          <p:cNvPr id="414" name="Google Shape;414;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15" name="Shape 415"/>
        <p:cNvGrpSpPr/>
        <p:nvPr/>
      </p:nvGrpSpPr>
      <p:grpSpPr>
        <a:xfrm>
          <a:off x="0" y="0"/>
          <a:ext cx="0" cy="0"/>
          <a:chOff x="0" y="0"/>
          <a:chExt cx="0" cy="0"/>
        </a:xfrm>
      </p:grpSpPr>
      <p:sp>
        <p:nvSpPr>
          <p:cNvPr id="416" name="Google Shape;416;p3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17" name="Google Shape;417;p3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18" name="Shape 418"/>
        <p:cNvGrpSpPr/>
        <p:nvPr/>
      </p:nvGrpSpPr>
      <p:grpSpPr>
        <a:xfrm>
          <a:off x="0" y="0"/>
          <a:ext cx="0" cy="0"/>
          <a:chOff x="0" y="0"/>
          <a:chExt cx="0" cy="0"/>
        </a:xfrm>
      </p:grpSpPr>
      <p:sp>
        <p:nvSpPr>
          <p:cNvPr id="419" name="Google Shape;419;p3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20" name="Shape 420"/>
        <p:cNvGrpSpPr/>
        <p:nvPr/>
      </p:nvGrpSpPr>
      <p:grpSpPr>
        <a:xfrm>
          <a:off x="0" y="0"/>
          <a:ext cx="0" cy="0"/>
          <a:chOff x="0" y="0"/>
          <a:chExt cx="0" cy="0"/>
        </a:xfrm>
      </p:grpSpPr>
      <p:sp>
        <p:nvSpPr>
          <p:cNvPr id="421" name="Google Shape;421;p4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2" name="Google Shape;422;p4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23" name="Google Shape;423;p4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24" name="Shape 424"/>
        <p:cNvGrpSpPr/>
        <p:nvPr/>
      </p:nvGrpSpPr>
      <p:grpSpPr>
        <a:xfrm>
          <a:off x="0" y="0"/>
          <a:ext cx="0" cy="0"/>
          <a:chOff x="0" y="0"/>
          <a:chExt cx="0" cy="0"/>
        </a:xfrm>
      </p:grpSpPr>
      <p:sp>
        <p:nvSpPr>
          <p:cNvPr id="425" name="Google Shape;425;p4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26" name="Shape 426"/>
        <p:cNvGrpSpPr/>
        <p:nvPr/>
      </p:nvGrpSpPr>
      <p:grpSpPr>
        <a:xfrm>
          <a:off x="0" y="0"/>
          <a:ext cx="0" cy="0"/>
          <a:chOff x="0" y="0"/>
          <a:chExt cx="0" cy="0"/>
        </a:xfrm>
      </p:grpSpPr>
      <p:sp>
        <p:nvSpPr>
          <p:cNvPr id="427" name="Google Shape;427;p4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28" name="Google Shape;428;p42"/>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29" name="Shape 429"/>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30" name="Shape 430"/>
        <p:cNvGrpSpPr/>
        <p:nvPr/>
      </p:nvGrpSpPr>
      <p:grpSpPr>
        <a:xfrm>
          <a:off x="0" y="0"/>
          <a:ext cx="0" cy="0"/>
          <a:chOff x="0" y="0"/>
          <a:chExt cx="0" cy="0"/>
        </a:xfrm>
      </p:grpSpPr>
      <p:sp>
        <p:nvSpPr>
          <p:cNvPr id="431" name="Google Shape;431;p44"/>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2" name="Google Shape;432;p44"/>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3" name="Google Shape;433;p44"/>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4" name="Google Shape;434;p44"/>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5" name="Google Shape;435;p44"/>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6" name="Google Shape;436;p44"/>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7" name="Google Shape;437;p44"/>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38" name="Shape 438"/>
        <p:cNvGrpSpPr/>
        <p:nvPr/>
      </p:nvGrpSpPr>
      <p:grpSpPr>
        <a:xfrm>
          <a:off x="0" y="0"/>
          <a:ext cx="0" cy="0"/>
          <a:chOff x="0" y="0"/>
          <a:chExt cx="0" cy="0"/>
        </a:xfrm>
      </p:grpSpPr>
      <p:sp>
        <p:nvSpPr>
          <p:cNvPr id="439" name="Google Shape;439;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40" name="Google Shape;440;p45"/>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1" name="Google Shape;441;p45"/>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42" name="Shape 442"/>
        <p:cNvGrpSpPr/>
        <p:nvPr/>
      </p:nvGrpSpPr>
      <p:grpSpPr>
        <a:xfrm>
          <a:off x="0" y="0"/>
          <a:ext cx="0" cy="0"/>
          <a:chOff x="0" y="0"/>
          <a:chExt cx="0" cy="0"/>
        </a:xfrm>
      </p:grpSpPr>
      <p:sp>
        <p:nvSpPr>
          <p:cNvPr id="443" name="Google Shape;443;p4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44" name="Google Shape;444;p46"/>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5" name="Google Shape;445;p46"/>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6" name="Google Shape;446;p46"/>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7" name="Google Shape;447;p46"/>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48" name="Shape 448"/>
        <p:cNvGrpSpPr/>
        <p:nvPr/>
      </p:nvGrpSpPr>
      <p:grpSpPr>
        <a:xfrm>
          <a:off x="0" y="0"/>
          <a:ext cx="0" cy="0"/>
          <a:chOff x="0" y="0"/>
          <a:chExt cx="0" cy="0"/>
        </a:xfrm>
      </p:grpSpPr>
      <p:sp>
        <p:nvSpPr>
          <p:cNvPr id="449" name="Google Shape;449;p47"/>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0" name="Google Shape;450;p47"/>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1" name="Google Shape;451;p4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2" name="Google Shape;452;p47"/>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3" name="Google Shape;453;p47"/>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4" name="Google Shape;454;p47"/>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5" name="Google Shape;455;p47"/>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56" name="Shape 456"/>
        <p:cNvGrpSpPr/>
        <p:nvPr/>
      </p:nvGrpSpPr>
      <p:grpSpPr>
        <a:xfrm>
          <a:off x="0" y="0"/>
          <a:ext cx="0" cy="0"/>
          <a:chOff x="0" y="0"/>
          <a:chExt cx="0" cy="0"/>
        </a:xfrm>
      </p:grpSpPr>
      <p:sp>
        <p:nvSpPr>
          <p:cNvPr id="457" name="Google Shape;457;p48"/>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8" name="Google Shape;458;p48"/>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9" name="Google Shape;459;p48"/>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0" name="Google Shape;460;p48"/>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1" name="Google Shape;461;p48"/>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62" name="Google Shape;462;p48"/>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3" name="Google Shape;463;p48"/>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4" name="Google Shape;464;p48"/>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5" name="Google Shape;465;p48"/>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66" name="Shape 466"/>
        <p:cNvGrpSpPr/>
        <p:nvPr/>
      </p:nvGrpSpPr>
      <p:grpSpPr>
        <a:xfrm>
          <a:off x="0" y="0"/>
          <a:ext cx="0" cy="0"/>
          <a:chOff x="0" y="0"/>
          <a:chExt cx="0" cy="0"/>
        </a:xfrm>
      </p:grpSpPr>
      <p:sp>
        <p:nvSpPr>
          <p:cNvPr id="467" name="Google Shape;467;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68" name="Google Shape;468;p49"/>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69" name="Shape 469"/>
        <p:cNvGrpSpPr/>
        <p:nvPr/>
      </p:nvGrpSpPr>
      <p:grpSpPr>
        <a:xfrm>
          <a:off x="0" y="0"/>
          <a:ext cx="0" cy="0"/>
          <a:chOff x="0" y="0"/>
          <a:chExt cx="0" cy="0"/>
        </a:xfrm>
      </p:grpSpPr>
      <p:sp>
        <p:nvSpPr>
          <p:cNvPr id="470" name="Google Shape;470;p50"/>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71" name="Google Shape;471;p50"/>
          <p:cNvSpPr/>
          <p:nvPr>
            <p:ph idx="2" type="pic"/>
          </p:nvPr>
        </p:nvSpPr>
        <p:spPr>
          <a:xfrm>
            <a:off x="4804825" y="1133300"/>
            <a:ext cx="4027500" cy="2392800"/>
          </a:xfrm>
          <a:prstGeom prst="rect">
            <a:avLst/>
          </a:prstGeom>
          <a:noFill/>
          <a:ln>
            <a:noFill/>
          </a:ln>
        </p:spPr>
      </p:sp>
      <p:sp>
        <p:nvSpPr>
          <p:cNvPr id="472" name="Google Shape;472;p50"/>
          <p:cNvSpPr/>
          <p:nvPr>
            <p:ph idx="3" type="pic"/>
          </p:nvPr>
        </p:nvSpPr>
        <p:spPr>
          <a:xfrm>
            <a:off x="311725" y="1133300"/>
            <a:ext cx="4027500" cy="2392800"/>
          </a:xfrm>
          <a:prstGeom prst="rect">
            <a:avLst/>
          </a:prstGeom>
          <a:noFill/>
          <a:ln>
            <a:noFill/>
          </a:ln>
        </p:spPr>
      </p:sp>
      <p:sp>
        <p:nvSpPr>
          <p:cNvPr id="473" name="Google Shape;473;p50"/>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74" name="Google Shape;474;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75" name="Google Shape;475;p50"/>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76" name="Google Shape;476;p50"/>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77" name="Shape 477"/>
        <p:cNvGrpSpPr/>
        <p:nvPr/>
      </p:nvGrpSpPr>
      <p:grpSpPr>
        <a:xfrm>
          <a:off x="0" y="0"/>
          <a:ext cx="0" cy="0"/>
          <a:chOff x="0" y="0"/>
          <a:chExt cx="0" cy="0"/>
        </a:xfrm>
      </p:grpSpPr>
      <p:sp>
        <p:nvSpPr>
          <p:cNvPr id="478" name="Google Shape;478;p51"/>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79" name="Google Shape;479;p51"/>
          <p:cNvSpPr/>
          <p:nvPr>
            <p:ph idx="2" type="pic"/>
          </p:nvPr>
        </p:nvSpPr>
        <p:spPr>
          <a:xfrm>
            <a:off x="6205225" y="1128325"/>
            <a:ext cx="2627100" cy="2273100"/>
          </a:xfrm>
          <a:prstGeom prst="rect">
            <a:avLst/>
          </a:prstGeom>
          <a:noFill/>
          <a:ln>
            <a:noFill/>
          </a:ln>
        </p:spPr>
      </p:sp>
      <p:sp>
        <p:nvSpPr>
          <p:cNvPr id="480" name="Google Shape;480;p51"/>
          <p:cNvSpPr/>
          <p:nvPr>
            <p:ph idx="3" type="pic"/>
          </p:nvPr>
        </p:nvSpPr>
        <p:spPr>
          <a:xfrm>
            <a:off x="311725" y="1128325"/>
            <a:ext cx="2627100" cy="2273100"/>
          </a:xfrm>
          <a:prstGeom prst="rect">
            <a:avLst/>
          </a:prstGeom>
          <a:noFill/>
          <a:ln>
            <a:noFill/>
          </a:ln>
        </p:spPr>
      </p:sp>
      <p:sp>
        <p:nvSpPr>
          <p:cNvPr id="481" name="Google Shape;481;p51"/>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2" name="Google Shape;482;p51"/>
          <p:cNvSpPr/>
          <p:nvPr>
            <p:ph idx="5" type="pic"/>
          </p:nvPr>
        </p:nvSpPr>
        <p:spPr>
          <a:xfrm>
            <a:off x="3255250" y="1128325"/>
            <a:ext cx="2627100" cy="2273100"/>
          </a:xfrm>
          <a:prstGeom prst="rect">
            <a:avLst/>
          </a:prstGeom>
          <a:noFill/>
          <a:ln>
            <a:noFill/>
          </a:ln>
        </p:spPr>
      </p:sp>
      <p:sp>
        <p:nvSpPr>
          <p:cNvPr id="483" name="Google Shape;483;p51"/>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4" name="Google Shape;484;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85" name="Google Shape;485;p51"/>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86" name="Google Shape;486;p51"/>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87" name="Google Shape;487;p51"/>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88" name="Shape 488"/>
        <p:cNvGrpSpPr/>
        <p:nvPr/>
      </p:nvGrpSpPr>
      <p:grpSpPr>
        <a:xfrm>
          <a:off x="0" y="0"/>
          <a:ext cx="0" cy="0"/>
          <a:chOff x="0" y="0"/>
          <a:chExt cx="0" cy="0"/>
        </a:xfrm>
      </p:grpSpPr>
      <p:sp>
        <p:nvSpPr>
          <p:cNvPr id="489" name="Google Shape;489;p52"/>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90" name="Shape 490"/>
        <p:cNvGrpSpPr/>
        <p:nvPr/>
      </p:nvGrpSpPr>
      <p:grpSpPr>
        <a:xfrm>
          <a:off x="0" y="0"/>
          <a:ext cx="0" cy="0"/>
          <a:chOff x="0" y="0"/>
          <a:chExt cx="0" cy="0"/>
        </a:xfrm>
      </p:grpSpPr>
      <p:sp>
        <p:nvSpPr>
          <p:cNvPr id="491" name="Google Shape;491;p53"/>
          <p:cNvSpPr/>
          <p:nvPr>
            <p:ph idx="2" type="pic"/>
          </p:nvPr>
        </p:nvSpPr>
        <p:spPr>
          <a:xfrm>
            <a:off x="3389600" y="118913"/>
            <a:ext cx="1643700" cy="1535100"/>
          </a:xfrm>
          <a:prstGeom prst="rect">
            <a:avLst/>
          </a:prstGeom>
          <a:noFill/>
          <a:ln>
            <a:noFill/>
          </a:ln>
        </p:spPr>
      </p:sp>
      <p:sp>
        <p:nvSpPr>
          <p:cNvPr id="492" name="Google Shape;492;p53"/>
          <p:cNvSpPr/>
          <p:nvPr>
            <p:ph idx="3" type="pic"/>
          </p:nvPr>
        </p:nvSpPr>
        <p:spPr>
          <a:xfrm>
            <a:off x="5195935" y="118913"/>
            <a:ext cx="1643700" cy="1535100"/>
          </a:xfrm>
          <a:prstGeom prst="rect">
            <a:avLst/>
          </a:prstGeom>
          <a:noFill/>
          <a:ln>
            <a:noFill/>
          </a:ln>
        </p:spPr>
      </p:sp>
      <p:sp>
        <p:nvSpPr>
          <p:cNvPr id="493" name="Google Shape;493;p53"/>
          <p:cNvSpPr/>
          <p:nvPr>
            <p:ph idx="4" type="pic"/>
          </p:nvPr>
        </p:nvSpPr>
        <p:spPr>
          <a:xfrm>
            <a:off x="7002270" y="118913"/>
            <a:ext cx="1643700" cy="1535100"/>
          </a:xfrm>
          <a:prstGeom prst="rect">
            <a:avLst/>
          </a:prstGeom>
          <a:noFill/>
          <a:ln>
            <a:noFill/>
          </a:ln>
        </p:spPr>
      </p:sp>
      <p:sp>
        <p:nvSpPr>
          <p:cNvPr id="494" name="Google Shape;494;p53"/>
          <p:cNvSpPr/>
          <p:nvPr>
            <p:ph idx="5" type="pic"/>
          </p:nvPr>
        </p:nvSpPr>
        <p:spPr>
          <a:xfrm>
            <a:off x="3389588" y="1804212"/>
            <a:ext cx="1643700" cy="1535100"/>
          </a:xfrm>
          <a:prstGeom prst="rect">
            <a:avLst/>
          </a:prstGeom>
          <a:noFill/>
          <a:ln>
            <a:noFill/>
          </a:ln>
        </p:spPr>
      </p:sp>
      <p:sp>
        <p:nvSpPr>
          <p:cNvPr id="495" name="Google Shape;495;p53"/>
          <p:cNvSpPr/>
          <p:nvPr>
            <p:ph idx="6" type="pic"/>
          </p:nvPr>
        </p:nvSpPr>
        <p:spPr>
          <a:xfrm>
            <a:off x="5195922" y="1804212"/>
            <a:ext cx="1643700" cy="1535100"/>
          </a:xfrm>
          <a:prstGeom prst="rect">
            <a:avLst/>
          </a:prstGeom>
          <a:noFill/>
          <a:ln>
            <a:noFill/>
          </a:ln>
        </p:spPr>
      </p:sp>
      <p:sp>
        <p:nvSpPr>
          <p:cNvPr id="496" name="Google Shape;496;p53"/>
          <p:cNvSpPr/>
          <p:nvPr>
            <p:ph idx="7" type="pic"/>
          </p:nvPr>
        </p:nvSpPr>
        <p:spPr>
          <a:xfrm>
            <a:off x="7002257" y="1804212"/>
            <a:ext cx="1643700" cy="1535100"/>
          </a:xfrm>
          <a:prstGeom prst="rect">
            <a:avLst/>
          </a:prstGeom>
          <a:noFill/>
          <a:ln>
            <a:noFill/>
          </a:ln>
        </p:spPr>
      </p:sp>
      <p:sp>
        <p:nvSpPr>
          <p:cNvPr id="497" name="Google Shape;497;p53"/>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98" name="Google Shape;498;p53"/>
          <p:cNvSpPr/>
          <p:nvPr>
            <p:ph idx="8" type="pic"/>
          </p:nvPr>
        </p:nvSpPr>
        <p:spPr>
          <a:xfrm>
            <a:off x="3389588" y="3489487"/>
            <a:ext cx="1643700" cy="1535100"/>
          </a:xfrm>
          <a:prstGeom prst="rect">
            <a:avLst/>
          </a:prstGeom>
          <a:noFill/>
          <a:ln>
            <a:noFill/>
          </a:ln>
        </p:spPr>
      </p:sp>
      <p:sp>
        <p:nvSpPr>
          <p:cNvPr id="499" name="Google Shape;499;p53"/>
          <p:cNvSpPr/>
          <p:nvPr>
            <p:ph idx="9" type="pic"/>
          </p:nvPr>
        </p:nvSpPr>
        <p:spPr>
          <a:xfrm>
            <a:off x="5195922" y="3489487"/>
            <a:ext cx="1643700" cy="1535100"/>
          </a:xfrm>
          <a:prstGeom prst="rect">
            <a:avLst/>
          </a:prstGeom>
          <a:noFill/>
          <a:ln>
            <a:noFill/>
          </a:ln>
        </p:spPr>
      </p:sp>
      <p:sp>
        <p:nvSpPr>
          <p:cNvPr id="500" name="Google Shape;500;p53"/>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theme" Target="../theme/theme3.xml"/><Relationship Id="rId20" Type="http://schemas.openxmlformats.org/officeDocument/2006/relationships/slideLayout" Target="../slideLayouts/slideLayout32.xml"/><Relationship Id="rId22" Type="http://schemas.openxmlformats.org/officeDocument/2006/relationships/slideLayout" Target="../slideLayouts/slideLayout34.xml"/><Relationship Id="rId21" Type="http://schemas.openxmlformats.org/officeDocument/2006/relationships/slideLayout" Target="../slideLayouts/slideLayout33.xml"/><Relationship Id="rId24" Type="http://schemas.openxmlformats.org/officeDocument/2006/relationships/slideLayout" Target="../slideLayouts/slideLayout36.xml"/><Relationship Id="rId23" Type="http://schemas.openxmlformats.org/officeDocument/2006/relationships/slideLayout" Target="../slideLayouts/slideLayout35.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26" Type="http://schemas.openxmlformats.org/officeDocument/2006/relationships/slideLayout" Target="../slideLayouts/slideLayout38.xml"/><Relationship Id="rId25" Type="http://schemas.openxmlformats.org/officeDocument/2006/relationships/slideLayout" Target="../slideLayouts/slideLayout37.xml"/><Relationship Id="rId28" Type="http://schemas.openxmlformats.org/officeDocument/2006/relationships/slideLayout" Target="../slideLayouts/slideLayout40.xml"/><Relationship Id="rId27" Type="http://schemas.openxmlformats.org/officeDocument/2006/relationships/slideLayout" Target="../slideLayouts/slideLayout39.xml"/><Relationship Id="rId5" Type="http://schemas.openxmlformats.org/officeDocument/2006/relationships/slideLayout" Target="../slideLayouts/slideLayout17.xml"/><Relationship Id="rId6" Type="http://schemas.openxmlformats.org/officeDocument/2006/relationships/slideLayout" Target="../slideLayouts/slideLayout18.xml"/><Relationship Id="rId29" Type="http://schemas.openxmlformats.org/officeDocument/2006/relationships/slideLayout" Target="../slideLayouts/slideLayout41.xml"/><Relationship Id="rId7" Type="http://schemas.openxmlformats.org/officeDocument/2006/relationships/slideLayout" Target="../slideLayouts/slideLayout19.xml"/><Relationship Id="rId8" Type="http://schemas.openxmlformats.org/officeDocument/2006/relationships/slideLayout" Target="../slideLayouts/slideLayout20.xml"/><Relationship Id="rId31" Type="http://schemas.openxmlformats.org/officeDocument/2006/relationships/slideLayout" Target="../slideLayouts/slideLayout43.xml"/><Relationship Id="rId30" Type="http://schemas.openxmlformats.org/officeDocument/2006/relationships/slideLayout" Target="../slideLayouts/slideLayout42.xml"/><Relationship Id="rId11" Type="http://schemas.openxmlformats.org/officeDocument/2006/relationships/slideLayout" Target="../slideLayouts/slideLayout23.xml"/><Relationship Id="rId33" Type="http://schemas.openxmlformats.org/officeDocument/2006/relationships/slideLayout" Target="../slideLayouts/slideLayout45.xml"/><Relationship Id="rId10" Type="http://schemas.openxmlformats.org/officeDocument/2006/relationships/slideLayout" Target="../slideLayouts/slideLayout22.xml"/><Relationship Id="rId32" Type="http://schemas.openxmlformats.org/officeDocument/2006/relationships/slideLayout" Target="../slideLayouts/slideLayout44.xml"/><Relationship Id="rId13" Type="http://schemas.openxmlformats.org/officeDocument/2006/relationships/slideLayout" Target="../slideLayouts/slideLayout25.xml"/><Relationship Id="rId35" Type="http://schemas.openxmlformats.org/officeDocument/2006/relationships/slideLayout" Target="../slideLayouts/slideLayout47.xml"/><Relationship Id="rId12" Type="http://schemas.openxmlformats.org/officeDocument/2006/relationships/slideLayout" Target="../slideLayouts/slideLayout24.xml"/><Relationship Id="rId34" Type="http://schemas.openxmlformats.org/officeDocument/2006/relationships/slideLayout" Target="../slideLayouts/slideLayout46.xml"/><Relationship Id="rId15" Type="http://schemas.openxmlformats.org/officeDocument/2006/relationships/slideLayout" Target="../slideLayouts/slideLayout27.xml"/><Relationship Id="rId37" Type="http://schemas.openxmlformats.org/officeDocument/2006/relationships/slideLayout" Target="../slideLayouts/slideLayout49.xml"/><Relationship Id="rId14" Type="http://schemas.openxmlformats.org/officeDocument/2006/relationships/slideLayout" Target="../slideLayouts/slideLayout26.xml"/><Relationship Id="rId36" Type="http://schemas.openxmlformats.org/officeDocument/2006/relationships/slideLayout" Target="../slideLayouts/slideLayout48.xml"/><Relationship Id="rId17" Type="http://schemas.openxmlformats.org/officeDocument/2006/relationships/slideLayout" Target="../slideLayouts/slideLayout29.xml"/><Relationship Id="rId39" Type="http://schemas.openxmlformats.org/officeDocument/2006/relationships/slideLayout" Target="../slideLayouts/slideLayout51.xml"/><Relationship Id="rId16" Type="http://schemas.openxmlformats.org/officeDocument/2006/relationships/slideLayout" Target="../slideLayouts/slideLayout28.xml"/><Relationship Id="rId38" Type="http://schemas.openxmlformats.org/officeDocument/2006/relationships/slideLayout" Target="../slideLayouts/slideLayout50.xml"/><Relationship Id="rId19" Type="http://schemas.openxmlformats.org/officeDocument/2006/relationships/slideLayout" Target="../slideLayouts/slideLayout31.xml"/><Relationship Id="rId1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72" name="Shape 72"/>
        <p:cNvGrpSpPr/>
        <p:nvPr/>
      </p:nvGrpSpPr>
      <p:grpSpPr>
        <a:xfrm>
          <a:off x="0" y="0"/>
          <a:ext cx="0" cy="0"/>
          <a:chOff x="0" y="0"/>
          <a:chExt cx="0" cy="0"/>
        </a:xfrm>
      </p:grpSpPr>
      <p:sp>
        <p:nvSpPr>
          <p:cNvPr id="73" name="Google Shape;73;p14"/>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74" name="Google Shape;74;p14"/>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75" name="Google Shape;75;p14"/>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 Id="rId4" Type="http://schemas.openxmlformats.org/officeDocument/2006/relationships/hyperlink" Target="https://svs.gsfc.nasa.gov/13897/"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hyperlink" Target="https://chandra.harvard.edu/edu/formal/variable_stars/HR_student.html" TargetMode="External"/><Relationship Id="rId4" Type="http://schemas.openxmlformats.org/officeDocument/2006/relationships/hyperlink" Target="https://en.wikipedia.org/wiki/Red_giant" TargetMode="External"/><Relationship Id="rId5" Type="http://schemas.openxmlformats.org/officeDocument/2006/relationships/hyperlink" Target="https://en.wikipedia.org/wiki/Red_giant" TargetMode="External"/><Relationship Id="rId6"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hyperlink" Target="https://chandra.harvard.edu/edu/formal/variable_stars/HR_student.html" TargetMode="External"/><Relationship Id="rId4" Type="http://schemas.openxmlformats.org/officeDocument/2006/relationships/hyperlink" Target="https://en.wikipedia.org/wiki/Red_giant" TargetMode="External"/><Relationship Id="rId5" Type="http://schemas.openxmlformats.org/officeDocument/2006/relationships/hyperlink" Target="https://en.wikipedia.org/wiki/Red_giant" TargetMode="External"/><Relationship Id="rId6"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15.jpg"/><Relationship Id="rId4" Type="http://schemas.openxmlformats.org/officeDocument/2006/relationships/hyperlink" Target="https://docs.google.com/presentation/d/1n4gnIVjk0QskgZYAVGrrYui_9yyZ9EoGr3Z9NKOY4KY/edit?slide=id.g2feb84dece6_0_122#slide=id.g2feb84dece6_0_122" TargetMode="External"/><Relationship Id="rId5" Type="http://schemas.openxmlformats.org/officeDocument/2006/relationships/hyperlink" Target="https://iopscience.iop.org/article/10.3847/0004-637X/823/2/114/pdf" TargetMode="External"/><Relationship Id="rId6" Type="http://schemas.openxmlformats.org/officeDocument/2006/relationships/image" Target="../media/image9.png"/><Relationship Id="rId7"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hyperlink" Target="https://science.nasa.gov/universe/star-clusters-inside-the-universes-stellar-collections/" TargetMode="External"/><Relationship Id="rId4" Type="http://schemas.openxmlformats.org/officeDocument/2006/relationships/image" Target="../media/image14.jpg"/><Relationship Id="rId5" Type="http://schemas.openxmlformats.org/officeDocument/2006/relationships/image" Target="../media/image1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8.xml"/><Relationship Id="rId3" Type="http://schemas.openxmlformats.org/officeDocument/2006/relationships/image" Target="../media/image5.jpg"/><Relationship Id="rId4" Type="http://schemas.openxmlformats.org/officeDocument/2006/relationships/image" Target="../media/image22.jpg"/><Relationship Id="rId9" Type="http://schemas.openxmlformats.org/officeDocument/2006/relationships/hyperlink" Target="https://science.nasa.gov/mission/roman-space-telescope/asteroseismology-using-the-galactic-bulge-time-domain-survey/" TargetMode="External"/><Relationship Id="rId5" Type="http://schemas.openxmlformats.org/officeDocument/2006/relationships/hyperlink" Target="https://www.news.iastate.edu/news/nasas-tess-helps-astronomers-study-red-giant-stars-examine-too-close-planet" TargetMode="External"/><Relationship Id="rId6" Type="http://schemas.openxmlformats.org/officeDocument/2006/relationships/hyperlink" Target="https://www.news.iastate.edu/news/nasas-tess-helps-astronomers-study-red-giant-stars-examine-too-close-planet" TargetMode="External"/><Relationship Id="rId7" Type="http://schemas.openxmlformats.org/officeDocument/2006/relationships/hyperlink" Target="https://science.nasa.gov/mission/kepler/" TargetMode="External"/><Relationship Id="rId8" Type="http://schemas.openxmlformats.org/officeDocument/2006/relationships/hyperlink" Target="https://science.nasa.gov/mission/kepler/" TargetMode="External"/><Relationship Id="rId11" Type="http://schemas.openxmlformats.org/officeDocument/2006/relationships/hyperlink" Target="https://ui.adsabs.harvard.edu/abs/2013AAS...22130101H/abstract" TargetMode="External"/><Relationship Id="rId10" Type="http://schemas.openxmlformats.org/officeDocument/2006/relationships/hyperlink" Target="https://science.nasa.gov/mission/roman-space-telescope/asteroseismology-using-the-galactic-bulge-time-domain-survey/" TargetMode="External"/><Relationship Id="rId12" Type="http://schemas.openxmlformats.org/officeDocument/2006/relationships/hyperlink" Target="https://ui.adsabs.harvard.edu/abs/2013AAS...22130101H/abstrac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 Id="rId3" Type="http://schemas.openxmlformats.org/officeDocument/2006/relationships/hyperlink" Target="https://www.sdss4.org/dr17/irspec/" TargetMode="External"/><Relationship Id="rId4" Type="http://schemas.openxmlformats.org/officeDocument/2006/relationships/hyperlink" Target="https://www.sdss4.org/dr17/irspec/" TargetMode="External"/><Relationship Id="rId5" Type="http://schemas.openxmlformats.org/officeDocument/2006/relationships/image" Target="../media/image8.png"/><Relationship Id="rId6"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 Id="rId3" Type="http://schemas.openxmlformats.org/officeDocument/2006/relationships/image" Target="../media/image3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 Id="rId3" Type="http://schemas.openxmlformats.org/officeDocument/2006/relationships/image" Target="../media/image31.jpg"/><Relationship Id="rId4" Type="http://schemas.openxmlformats.org/officeDocument/2006/relationships/image" Target="../media/image28.png"/><Relationship Id="rId5"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 Id="rId3" Type="http://schemas.openxmlformats.org/officeDocument/2006/relationships/image" Target="../media/image1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 Id="rId3" Type="http://schemas.openxmlformats.org/officeDocument/2006/relationships/image" Target="../media/image12.jpg"/><Relationship Id="rId4" Type="http://schemas.openxmlformats.org/officeDocument/2006/relationships/image" Target="../media/image2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5.xml"/><Relationship Id="rId3" Type="http://schemas.openxmlformats.org/officeDocument/2006/relationships/image" Target="../media/image43.png"/><Relationship Id="rId4" Type="http://schemas.openxmlformats.org/officeDocument/2006/relationships/image" Target="../media/image50.png"/><Relationship Id="rId5" Type="http://schemas.openxmlformats.org/officeDocument/2006/relationships/image" Target="../media/image5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5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5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5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42.png"/><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hyperlink" Target="https://science.nasa.gov/mission/kepler/" TargetMode="External"/><Relationship Id="rId4" Type="http://schemas.openxmlformats.org/officeDocument/2006/relationships/hyperlink" Target="https://science.nasa.gov/mission/kepler/" TargetMode="External"/><Relationship Id="rId5" Type="http://schemas.openxmlformats.org/officeDocument/2006/relationships/image" Target="../media/image2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2.xml"/><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27.jpg"/><Relationship Id="rId4" Type="http://schemas.openxmlformats.org/officeDocument/2006/relationships/image" Target="../media/image26.jpg"/><Relationship Id="rId5" Type="http://schemas.openxmlformats.org/officeDocument/2006/relationships/image" Target="../media/image3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2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36.jpg"/><Relationship Id="rId4" Type="http://schemas.openxmlformats.org/officeDocument/2006/relationships/image" Target="../media/image37.jpg"/><Relationship Id="rId5" Type="http://schemas.openxmlformats.org/officeDocument/2006/relationships/image" Target="../media/image35.jpg"/><Relationship Id="rId6" Type="http://schemas.openxmlformats.org/officeDocument/2006/relationships/image" Target="../media/image34.jpg"/><Relationship Id="rId7" Type="http://schemas.openxmlformats.org/officeDocument/2006/relationships/image" Target="../media/image3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3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5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41.jpg"/><Relationship Id="rId4" Type="http://schemas.openxmlformats.org/officeDocument/2006/relationships/image" Target="../media/image4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51.jpg"/><Relationship Id="rId4" Type="http://schemas.openxmlformats.org/officeDocument/2006/relationships/image" Target="../media/image47.jpg"/><Relationship Id="rId5" Type="http://schemas.openxmlformats.org/officeDocument/2006/relationships/image" Target="../media/image49.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58.jpg"/><Relationship Id="rId4" Type="http://schemas.openxmlformats.org/officeDocument/2006/relationships/image" Target="../media/image3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54.jpg"/><Relationship Id="rId4" Type="http://schemas.openxmlformats.org/officeDocument/2006/relationships/image" Target="../media/image55.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3.xml"/><Relationship Id="rId3" Type="http://schemas.openxmlformats.org/officeDocument/2006/relationships/image" Target="../media/image36.jpg"/><Relationship Id="rId4"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4" name="Shape 504"/>
        <p:cNvGrpSpPr/>
        <p:nvPr/>
      </p:nvGrpSpPr>
      <p:grpSpPr>
        <a:xfrm>
          <a:off x="0" y="0"/>
          <a:ext cx="0" cy="0"/>
          <a:chOff x="0" y="0"/>
          <a:chExt cx="0" cy="0"/>
        </a:xfrm>
      </p:grpSpPr>
      <p:sp>
        <p:nvSpPr>
          <p:cNvPr id="505" name="Google Shape;505;p54"/>
          <p:cNvSpPr txBox="1"/>
          <p:nvPr>
            <p:ph type="ctrTitle"/>
          </p:nvPr>
        </p:nvSpPr>
        <p:spPr>
          <a:xfrm>
            <a:off x="311708" y="1078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latin typeface="Times New Roman"/>
                <a:ea typeface="Times New Roman"/>
                <a:cs typeface="Times New Roman"/>
                <a:sym typeface="Times New Roman"/>
              </a:rPr>
              <a:t>Stellar Label Estimates Through Use of Machine Learning </a:t>
            </a:r>
            <a:endParaRPr>
              <a:solidFill>
                <a:schemeClr val="lt1"/>
              </a:solidFill>
              <a:latin typeface="Times New Roman"/>
              <a:ea typeface="Times New Roman"/>
              <a:cs typeface="Times New Roman"/>
              <a:sym typeface="Times New Roman"/>
            </a:endParaRPr>
          </a:p>
        </p:txBody>
      </p:sp>
      <p:sp>
        <p:nvSpPr>
          <p:cNvPr id="506" name="Google Shape;506;p54"/>
          <p:cNvSpPr txBox="1"/>
          <p:nvPr/>
        </p:nvSpPr>
        <p:spPr>
          <a:xfrm>
            <a:off x="1441800" y="3040925"/>
            <a:ext cx="6260400" cy="64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1"/>
                </a:solidFill>
                <a:latin typeface="Times New Roman"/>
                <a:ea typeface="Times New Roman"/>
                <a:cs typeface="Times New Roman"/>
                <a:sym typeface="Times New Roman"/>
              </a:rPr>
              <a:t>Mason Beaty and Leigh Harwell </a:t>
            </a:r>
            <a:endParaRPr sz="1800">
              <a:solidFill>
                <a:schemeClr val="lt1"/>
              </a:solidFill>
              <a:latin typeface="Times New Roman"/>
              <a:ea typeface="Times New Roman"/>
              <a:cs typeface="Times New Roman"/>
              <a:sym typeface="Times New Roman"/>
            </a:endParaRPr>
          </a:p>
          <a:p>
            <a:pPr indent="0" lvl="0" marL="0" rtl="0" algn="ctr">
              <a:spcBef>
                <a:spcPts val="0"/>
              </a:spcBef>
              <a:spcAft>
                <a:spcPts val="0"/>
              </a:spcAft>
              <a:buNone/>
            </a:pPr>
            <a:r>
              <a:rPr lang="en" sz="1800">
                <a:solidFill>
                  <a:schemeClr val="lt1"/>
                </a:solidFill>
                <a:latin typeface="Times New Roman"/>
                <a:ea typeface="Times New Roman"/>
                <a:cs typeface="Times New Roman"/>
                <a:sym typeface="Times New Roman"/>
              </a:rPr>
              <a:t>Mentor: Dr. Hayden</a:t>
            </a:r>
            <a:endParaRPr sz="1800">
              <a:solidFill>
                <a:schemeClr val="lt1"/>
              </a:solidFill>
              <a:latin typeface="Times New Roman"/>
              <a:ea typeface="Times New Roman"/>
              <a:cs typeface="Times New Roman"/>
              <a:sym typeface="Times New Roman"/>
            </a:endParaRPr>
          </a:p>
        </p:txBody>
      </p:sp>
      <p:sp>
        <p:nvSpPr>
          <p:cNvPr id="507" name="Google Shape;507;p54"/>
          <p:cNvSpPr txBox="1"/>
          <p:nvPr/>
        </p:nvSpPr>
        <p:spPr>
          <a:xfrm>
            <a:off x="41325" y="4779600"/>
            <a:ext cx="4160100" cy="36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u="sng">
                <a:solidFill>
                  <a:srgbClr val="999999"/>
                </a:solidFill>
                <a:latin typeface="Times New Roman"/>
                <a:ea typeface="Times New Roman"/>
                <a:cs typeface="Times New Roman"/>
                <a:sym typeface="Times New Roman"/>
                <a:hlinkClick r:id="rId4">
                  <a:extLst>
                    <a:ext uri="{A12FA001-AC4F-418D-AE19-62706E023703}">
                      <ahyp:hlinkClr val="tx"/>
                    </a:ext>
                  </a:extLst>
                </a:hlinkClick>
              </a:rPr>
              <a:t>NASA SVS | TESS Tunes into an All-sky ‘Symphony’ of Red Giants</a:t>
            </a:r>
            <a:r>
              <a:rPr lang="en" sz="900">
                <a:solidFill>
                  <a:srgbClr val="999999"/>
                </a:solidFill>
              </a:rPr>
              <a:t> </a:t>
            </a:r>
            <a:endParaRPr sz="900">
              <a:solidFill>
                <a:srgbClr val="99999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11" name="Shape 511"/>
        <p:cNvGrpSpPr/>
        <p:nvPr/>
      </p:nvGrpSpPr>
      <p:grpSpPr>
        <a:xfrm>
          <a:off x="0" y="0"/>
          <a:ext cx="0" cy="0"/>
          <a:chOff x="0" y="0"/>
          <a:chExt cx="0" cy="0"/>
        </a:xfrm>
      </p:grpSpPr>
      <p:sp>
        <p:nvSpPr>
          <p:cNvPr id="512" name="Google Shape;512;p55"/>
          <p:cNvSpPr txBox="1"/>
          <p:nvPr/>
        </p:nvSpPr>
        <p:spPr>
          <a:xfrm>
            <a:off x="4618950" y="4681475"/>
            <a:ext cx="4257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2"/>
                </a:solidFill>
                <a:latin typeface="Times New Roman"/>
                <a:ea typeface="Times New Roman"/>
                <a:cs typeface="Times New Roman"/>
                <a:sym typeface="Times New Roman"/>
              </a:rPr>
              <a:t>Image credit: </a:t>
            </a:r>
            <a:r>
              <a:rPr lang="en" sz="700" u="sng">
                <a:solidFill>
                  <a:schemeClr val="dk2"/>
                </a:solidFill>
                <a:latin typeface="Times New Roman"/>
                <a:ea typeface="Times New Roman"/>
                <a:cs typeface="Times New Roman"/>
                <a:sym typeface="Times New Roman"/>
                <a:hlinkClick r:id="rId3">
                  <a:extLst>
                    <a:ext uri="{A12FA001-AC4F-418D-AE19-62706E023703}">
                      <ahyp:hlinkClr val="tx"/>
                    </a:ext>
                  </a:extLst>
                </a:hlinkClick>
              </a:rPr>
              <a:t>Chandra :: Educational Materials :: Pulsating Variable Stars and the Hertzsprung-Russell Diagram</a:t>
            </a:r>
            <a:endParaRPr sz="700">
              <a:solidFill>
                <a:schemeClr val="dk2"/>
              </a:solidFill>
              <a:latin typeface="Times New Roman"/>
              <a:ea typeface="Times New Roman"/>
              <a:cs typeface="Times New Roman"/>
              <a:sym typeface="Times New Roman"/>
            </a:endParaRPr>
          </a:p>
        </p:txBody>
      </p:sp>
      <p:sp>
        <p:nvSpPr>
          <p:cNvPr id="513" name="Google Shape;513;p55"/>
          <p:cNvSpPr txBox="1"/>
          <p:nvPr/>
        </p:nvSpPr>
        <p:spPr>
          <a:xfrm>
            <a:off x="228600" y="47122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2"/>
                </a:solidFill>
                <a:latin typeface="Times New Roman"/>
                <a:ea typeface="Times New Roman"/>
                <a:cs typeface="Times New Roman"/>
                <a:sym typeface="Times New Roman"/>
              </a:rPr>
              <a:t>Wikipedia contributors. (n.d.). </a:t>
            </a:r>
            <a:r>
              <a:rPr i="1" lang="en" sz="700">
                <a:solidFill>
                  <a:schemeClr val="dk2"/>
                </a:solidFill>
                <a:latin typeface="Times New Roman"/>
                <a:ea typeface="Times New Roman"/>
                <a:cs typeface="Times New Roman"/>
                <a:sym typeface="Times New Roman"/>
              </a:rPr>
              <a:t>Red giant</a:t>
            </a:r>
            <a:r>
              <a:rPr lang="en" sz="700">
                <a:solidFill>
                  <a:schemeClr val="dk2"/>
                </a:solidFill>
                <a:latin typeface="Times New Roman"/>
                <a:ea typeface="Times New Roman"/>
                <a:cs typeface="Times New Roman"/>
                <a:sym typeface="Times New Roman"/>
              </a:rPr>
              <a:t>. In </a:t>
            </a:r>
            <a:r>
              <a:rPr i="1" lang="en" sz="700">
                <a:solidFill>
                  <a:schemeClr val="dk2"/>
                </a:solidFill>
                <a:latin typeface="Times New Roman"/>
                <a:ea typeface="Times New Roman"/>
                <a:cs typeface="Times New Roman"/>
                <a:sym typeface="Times New Roman"/>
              </a:rPr>
              <a:t>Wikipedia</a:t>
            </a:r>
            <a:r>
              <a:rPr lang="en" sz="700">
                <a:solidFill>
                  <a:schemeClr val="dk2"/>
                </a:solidFill>
                <a:latin typeface="Times New Roman"/>
                <a:ea typeface="Times New Roman"/>
                <a:cs typeface="Times New Roman"/>
                <a:sym typeface="Times New Roman"/>
              </a:rPr>
              <a:t>. Retrieved July 20, 2026, from</a:t>
            </a:r>
            <a:r>
              <a:rPr lang="en" sz="700">
                <a:solidFill>
                  <a:schemeClr val="dk2"/>
                </a:solidFill>
                <a:uFill>
                  <a:noFill/>
                </a:uFill>
                <a:latin typeface="Times New Roman"/>
                <a:ea typeface="Times New Roman"/>
                <a:cs typeface="Times New Roman"/>
                <a:sym typeface="Times New Roman"/>
                <a:hlinkClick r:id="rId4">
                  <a:extLst>
                    <a:ext uri="{A12FA001-AC4F-418D-AE19-62706E023703}">
                      <ahyp:hlinkClr val="tx"/>
                    </a:ext>
                  </a:extLst>
                </a:hlinkClick>
              </a:rPr>
              <a:t> </a:t>
            </a:r>
            <a:r>
              <a:rPr lang="en" sz="700" u="sng">
                <a:solidFill>
                  <a:schemeClr val="dk2"/>
                </a:solidFill>
                <a:latin typeface="Times New Roman"/>
                <a:ea typeface="Times New Roman"/>
                <a:cs typeface="Times New Roman"/>
                <a:sym typeface="Times New Roman"/>
                <a:hlinkClick r:id="rId5">
                  <a:extLst>
                    <a:ext uri="{A12FA001-AC4F-418D-AE19-62706E023703}">
                      <ahyp:hlinkClr val="tx"/>
                    </a:ext>
                  </a:extLst>
                </a:hlinkClick>
              </a:rPr>
              <a:t>https://en.wikipedia.org/wiki/Red_giant</a:t>
            </a:r>
            <a:endParaRPr sz="700">
              <a:solidFill>
                <a:schemeClr val="dk2"/>
              </a:solidFill>
              <a:latin typeface="Times New Roman"/>
              <a:ea typeface="Times New Roman"/>
              <a:cs typeface="Times New Roman"/>
              <a:sym typeface="Times New Roman"/>
            </a:endParaRPr>
          </a:p>
        </p:txBody>
      </p:sp>
      <p:sp>
        <p:nvSpPr>
          <p:cNvPr id="514" name="Google Shape;514;p55"/>
          <p:cNvSpPr txBox="1"/>
          <p:nvPr>
            <p:ph idx="1" type="body"/>
          </p:nvPr>
        </p:nvSpPr>
        <p:spPr>
          <a:xfrm>
            <a:off x="324625" y="846775"/>
            <a:ext cx="4144800" cy="3798000"/>
          </a:xfrm>
          <a:prstGeom prst="rect">
            <a:avLst/>
          </a:prstGeom>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500">
                <a:solidFill>
                  <a:schemeClr val="lt1"/>
                </a:solidFill>
                <a:latin typeface="Times New Roman"/>
                <a:ea typeface="Times New Roman"/>
                <a:cs typeface="Times New Roman"/>
                <a:sym typeface="Times New Roman"/>
              </a:rPr>
              <a:t>Red giants are stars that exhaust the hydrogen in their core and have now started to burn it in its outer layers. Eventually these stars have a helium flash and burn helium in their core.</a:t>
            </a:r>
            <a:endParaRPr sz="1500">
              <a:solidFill>
                <a:schemeClr val="lt1"/>
              </a:solidFill>
            </a:endParaRPr>
          </a:p>
          <a:p>
            <a:pPr indent="0" lvl="0" marL="0" rtl="0" algn="l">
              <a:lnSpc>
                <a:spcPct val="115000"/>
              </a:lnSpc>
              <a:spcBef>
                <a:spcPts val="1200"/>
              </a:spcBef>
              <a:spcAft>
                <a:spcPts val="0"/>
              </a:spcAft>
              <a:buNone/>
            </a:pPr>
            <a:r>
              <a:rPr lang="en" sz="1500">
                <a:solidFill>
                  <a:schemeClr val="lt1"/>
                </a:solidFill>
                <a:latin typeface="Times New Roman"/>
                <a:ea typeface="Times New Roman"/>
                <a:cs typeface="Times New Roman"/>
                <a:sym typeface="Times New Roman"/>
              </a:rPr>
              <a:t>Red giants are significant to galactic archaeology.</a:t>
            </a:r>
            <a:endParaRPr sz="1500">
              <a:solidFill>
                <a:schemeClr val="lt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lt1"/>
              </a:buClr>
              <a:buSzPts val="1500"/>
              <a:buFont typeface="Times New Roman"/>
              <a:buChar char="●"/>
            </a:pPr>
            <a:r>
              <a:rPr lang="en" sz="1500">
                <a:solidFill>
                  <a:schemeClr val="lt1"/>
                </a:solidFill>
                <a:latin typeface="Times New Roman"/>
                <a:ea typeface="Times New Roman"/>
                <a:cs typeface="Times New Roman"/>
                <a:sym typeface="Times New Roman"/>
              </a:rPr>
              <a:t>They are very bright, allowing us to see them from large distances</a:t>
            </a:r>
            <a:endParaRPr sz="1500">
              <a:solidFill>
                <a:schemeClr val="lt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lt1"/>
              </a:buClr>
              <a:buSzPts val="1500"/>
              <a:buFont typeface="Times New Roman"/>
              <a:buChar char="●"/>
            </a:pPr>
            <a:r>
              <a:rPr lang="en" sz="1500">
                <a:solidFill>
                  <a:schemeClr val="lt1"/>
                </a:solidFill>
                <a:latin typeface="Times New Roman"/>
                <a:ea typeface="Times New Roman"/>
                <a:cs typeface="Times New Roman"/>
                <a:sym typeface="Times New Roman"/>
              </a:rPr>
              <a:t>Allow us to map out the structure of the Milky Way</a:t>
            </a:r>
            <a:endParaRPr sz="1500">
              <a:solidFill>
                <a:schemeClr val="lt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lt1"/>
              </a:buClr>
              <a:buSzPts val="1500"/>
              <a:buFont typeface="Times New Roman"/>
              <a:buChar char="●"/>
            </a:pPr>
            <a:r>
              <a:rPr lang="en" sz="1500">
                <a:solidFill>
                  <a:schemeClr val="lt1"/>
                </a:solidFill>
                <a:latin typeface="Times New Roman"/>
                <a:ea typeface="Times New Roman"/>
                <a:cs typeface="Times New Roman"/>
                <a:sym typeface="Times New Roman"/>
              </a:rPr>
              <a:t>Key observables in understanding how our Galaxy has formed and evolved </a:t>
            </a:r>
            <a:endParaRPr sz="1500">
              <a:solidFill>
                <a:schemeClr val="lt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500">
              <a:solidFill>
                <a:schemeClr val="lt1"/>
              </a:solidFill>
            </a:endParaRPr>
          </a:p>
        </p:txBody>
      </p:sp>
      <p:sp>
        <p:nvSpPr>
          <p:cNvPr id="515" name="Google Shape;515;p55"/>
          <p:cNvSpPr txBox="1"/>
          <p:nvPr>
            <p:ph type="title"/>
          </p:nvPr>
        </p:nvSpPr>
        <p:spPr>
          <a:xfrm>
            <a:off x="324625" y="91075"/>
            <a:ext cx="41448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3400">
                <a:solidFill>
                  <a:schemeClr val="lt1"/>
                </a:solidFill>
                <a:latin typeface="Times New Roman"/>
                <a:ea typeface="Times New Roman"/>
                <a:cs typeface="Times New Roman"/>
                <a:sym typeface="Times New Roman"/>
              </a:rPr>
              <a:t>Red Giant Stars</a:t>
            </a:r>
            <a:endParaRPr sz="3400">
              <a:solidFill>
                <a:schemeClr val="lt1"/>
              </a:solidFill>
              <a:latin typeface="Times New Roman"/>
              <a:ea typeface="Times New Roman"/>
              <a:cs typeface="Times New Roman"/>
              <a:sym typeface="Times New Roman"/>
            </a:endParaRPr>
          </a:p>
        </p:txBody>
      </p:sp>
      <p:pic>
        <p:nvPicPr>
          <p:cNvPr descr="Chandra :: Educational Materials :: Pulsating Variable Stars and the Hertzsprung-Russell Diagram" id="516" name="Google Shape;516;p55"/>
          <p:cNvPicPr preferRelativeResize="0"/>
          <p:nvPr/>
        </p:nvPicPr>
        <p:blipFill>
          <a:blip r:embed="rId6">
            <a:alphaModFix/>
          </a:blip>
          <a:stretch>
            <a:fillRect/>
          </a:stretch>
        </p:blipFill>
        <p:spPr>
          <a:xfrm>
            <a:off x="4469425" y="91063"/>
            <a:ext cx="4257675" cy="42576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20" name="Shape 520"/>
        <p:cNvGrpSpPr/>
        <p:nvPr/>
      </p:nvGrpSpPr>
      <p:grpSpPr>
        <a:xfrm>
          <a:off x="0" y="0"/>
          <a:ext cx="0" cy="0"/>
          <a:chOff x="0" y="0"/>
          <a:chExt cx="0" cy="0"/>
        </a:xfrm>
      </p:grpSpPr>
      <p:sp>
        <p:nvSpPr>
          <p:cNvPr id="521" name="Google Shape;521;p56"/>
          <p:cNvSpPr txBox="1"/>
          <p:nvPr/>
        </p:nvSpPr>
        <p:spPr>
          <a:xfrm>
            <a:off x="4618950" y="4681475"/>
            <a:ext cx="42576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2"/>
                </a:solidFill>
                <a:latin typeface="Times New Roman"/>
                <a:ea typeface="Times New Roman"/>
                <a:cs typeface="Times New Roman"/>
                <a:sym typeface="Times New Roman"/>
              </a:rPr>
              <a:t>Image credit: </a:t>
            </a:r>
            <a:r>
              <a:rPr lang="en" sz="700" u="sng">
                <a:solidFill>
                  <a:schemeClr val="dk2"/>
                </a:solidFill>
                <a:latin typeface="Times New Roman"/>
                <a:ea typeface="Times New Roman"/>
                <a:cs typeface="Times New Roman"/>
                <a:sym typeface="Times New Roman"/>
                <a:hlinkClick r:id="rId3">
                  <a:extLst>
                    <a:ext uri="{A12FA001-AC4F-418D-AE19-62706E023703}">
                      <ahyp:hlinkClr val="tx"/>
                    </a:ext>
                  </a:extLst>
                </a:hlinkClick>
              </a:rPr>
              <a:t>Chandra :: Educational Materials :: Pulsating Variable Stars and the Hertzsprung-Russell Diagram</a:t>
            </a:r>
            <a:endParaRPr sz="700">
              <a:solidFill>
                <a:schemeClr val="dk2"/>
              </a:solidFill>
              <a:latin typeface="Times New Roman"/>
              <a:ea typeface="Times New Roman"/>
              <a:cs typeface="Times New Roman"/>
              <a:sym typeface="Times New Roman"/>
            </a:endParaRPr>
          </a:p>
        </p:txBody>
      </p:sp>
      <p:sp>
        <p:nvSpPr>
          <p:cNvPr id="522" name="Google Shape;522;p56"/>
          <p:cNvSpPr txBox="1"/>
          <p:nvPr/>
        </p:nvSpPr>
        <p:spPr>
          <a:xfrm>
            <a:off x="228600" y="47122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dk2"/>
                </a:solidFill>
                <a:latin typeface="Times New Roman"/>
                <a:ea typeface="Times New Roman"/>
                <a:cs typeface="Times New Roman"/>
                <a:sym typeface="Times New Roman"/>
              </a:rPr>
              <a:t>Wikipedia contributors. (n.d.). </a:t>
            </a:r>
            <a:r>
              <a:rPr i="1" lang="en" sz="700">
                <a:solidFill>
                  <a:schemeClr val="dk2"/>
                </a:solidFill>
                <a:latin typeface="Times New Roman"/>
                <a:ea typeface="Times New Roman"/>
                <a:cs typeface="Times New Roman"/>
                <a:sym typeface="Times New Roman"/>
              </a:rPr>
              <a:t>Red giant</a:t>
            </a:r>
            <a:r>
              <a:rPr lang="en" sz="700">
                <a:solidFill>
                  <a:schemeClr val="dk2"/>
                </a:solidFill>
                <a:latin typeface="Times New Roman"/>
                <a:ea typeface="Times New Roman"/>
                <a:cs typeface="Times New Roman"/>
                <a:sym typeface="Times New Roman"/>
              </a:rPr>
              <a:t>. In </a:t>
            </a:r>
            <a:r>
              <a:rPr i="1" lang="en" sz="700">
                <a:solidFill>
                  <a:schemeClr val="dk2"/>
                </a:solidFill>
                <a:latin typeface="Times New Roman"/>
                <a:ea typeface="Times New Roman"/>
                <a:cs typeface="Times New Roman"/>
                <a:sym typeface="Times New Roman"/>
              </a:rPr>
              <a:t>Wikipedia</a:t>
            </a:r>
            <a:r>
              <a:rPr lang="en" sz="700">
                <a:solidFill>
                  <a:schemeClr val="dk2"/>
                </a:solidFill>
                <a:latin typeface="Times New Roman"/>
                <a:ea typeface="Times New Roman"/>
                <a:cs typeface="Times New Roman"/>
                <a:sym typeface="Times New Roman"/>
              </a:rPr>
              <a:t>. Retrieved July 20, 2026, from</a:t>
            </a:r>
            <a:r>
              <a:rPr lang="en" sz="700">
                <a:solidFill>
                  <a:schemeClr val="dk2"/>
                </a:solidFill>
                <a:uFill>
                  <a:noFill/>
                </a:uFill>
                <a:latin typeface="Times New Roman"/>
                <a:ea typeface="Times New Roman"/>
                <a:cs typeface="Times New Roman"/>
                <a:sym typeface="Times New Roman"/>
                <a:hlinkClick r:id="rId4">
                  <a:extLst>
                    <a:ext uri="{A12FA001-AC4F-418D-AE19-62706E023703}">
                      <ahyp:hlinkClr val="tx"/>
                    </a:ext>
                  </a:extLst>
                </a:hlinkClick>
              </a:rPr>
              <a:t> </a:t>
            </a:r>
            <a:r>
              <a:rPr lang="en" sz="700" u="sng">
                <a:solidFill>
                  <a:schemeClr val="dk2"/>
                </a:solidFill>
                <a:latin typeface="Times New Roman"/>
                <a:ea typeface="Times New Roman"/>
                <a:cs typeface="Times New Roman"/>
                <a:sym typeface="Times New Roman"/>
                <a:hlinkClick r:id="rId5">
                  <a:extLst>
                    <a:ext uri="{A12FA001-AC4F-418D-AE19-62706E023703}">
                      <ahyp:hlinkClr val="tx"/>
                    </a:ext>
                  </a:extLst>
                </a:hlinkClick>
              </a:rPr>
              <a:t>https://en.wikipedia.org/wiki/Red_giant</a:t>
            </a:r>
            <a:endParaRPr sz="700">
              <a:solidFill>
                <a:schemeClr val="dk2"/>
              </a:solidFill>
              <a:latin typeface="Times New Roman"/>
              <a:ea typeface="Times New Roman"/>
              <a:cs typeface="Times New Roman"/>
              <a:sym typeface="Times New Roman"/>
            </a:endParaRPr>
          </a:p>
        </p:txBody>
      </p:sp>
      <p:sp>
        <p:nvSpPr>
          <p:cNvPr id="523" name="Google Shape;523;p56"/>
          <p:cNvSpPr txBox="1"/>
          <p:nvPr>
            <p:ph idx="1" type="body"/>
          </p:nvPr>
        </p:nvSpPr>
        <p:spPr>
          <a:xfrm>
            <a:off x="324625" y="846775"/>
            <a:ext cx="4144800" cy="4063500"/>
          </a:xfrm>
          <a:prstGeom prst="rect">
            <a:avLst/>
          </a:prstGeom>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500">
                <a:solidFill>
                  <a:schemeClr val="lt1"/>
                </a:solidFill>
                <a:latin typeface="Times New Roman"/>
                <a:ea typeface="Times New Roman"/>
                <a:cs typeface="Times New Roman"/>
                <a:sym typeface="Times New Roman"/>
              </a:rPr>
              <a:t>Red giants are stars that exhaust the hydrogen in their core and have now started to burn it in its outer layers. Eventually these stars have a helium flash and burn helium in their core.</a:t>
            </a:r>
            <a:endParaRPr sz="1500">
              <a:solidFill>
                <a:schemeClr val="lt1"/>
              </a:solidFill>
            </a:endParaRPr>
          </a:p>
          <a:p>
            <a:pPr indent="0" lvl="0" marL="0" rtl="0" algn="l">
              <a:lnSpc>
                <a:spcPct val="115000"/>
              </a:lnSpc>
              <a:spcBef>
                <a:spcPts val="1200"/>
              </a:spcBef>
              <a:spcAft>
                <a:spcPts val="0"/>
              </a:spcAft>
              <a:buNone/>
            </a:pPr>
            <a:r>
              <a:rPr lang="en" sz="1500">
                <a:solidFill>
                  <a:schemeClr val="lt1"/>
                </a:solidFill>
                <a:latin typeface="Times New Roman"/>
                <a:ea typeface="Times New Roman"/>
                <a:cs typeface="Times New Roman"/>
                <a:sym typeface="Times New Roman"/>
              </a:rPr>
              <a:t>Red giants are significant to galactic archaeology.</a:t>
            </a:r>
            <a:endParaRPr sz="1500">
              <a:solidFill>
                <a:schemeClr val="lt1"/>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chemeClr val="lt1"/>
              </a:buClr>
              <a:buSzPts val="1500"/>
              <a:buFont typeface="Times New Roman"/>
              <a:buChar char="●"/>
            </a:pPr>
            <a:r>
              <a:rPr lang="en" sz="1500">
                <a:solidFill>
                  <a:schemeClr val="lt1"/>
                </a:solidFill>
                <a:latin typeface="Times New Roman"/>
                <a:ea typeface="Times New Roman"/>
                <a:cs typeface="Times New Roman"/>
                <a:sym typeface="Times New Roman"/>
              </a:rPr>
              <a:t>They are very bright, allowing us to see them from large distances</a:t>
            </a:r>
            <a:endParaRPr sz="1500">
              <a:solidFill>
                <a:schemeClr val="lt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lt1"/>
              </a:buClr>
              <a:buSzPts val="1500"/>
              <a:buFont typeface="Times New Roman"/>
              <a:buChar char="●"/>
            </a:pPr>
            <a:r>
              <a:rPr lang="en" sz="1500">
                <a:solidFill>
                  <a:schemeClr val="lt1"/>
                </a:solidFill>
                <a:latin typeface="Times New Roman"/>
                <a:ea typeface="Times New Roman"/>
                <a:cs typeface="Times New Roman"/>
                <a:sym typeface="Times New Roman"/>
              </a:rPr>
              <a:t>Allow us to map out the structure of the Milky Way</a:t>
            </a:r>
            <a:endParaRPr sz="1500">
              <a:solidFill>
                <a:schemeClr val="lt1"/>
              </a:solidFill>
              <a:latin typeface="Times New Roman"/>
              <a:ea typeface="Times New Roman"/>
              <a:cs typeface="Times New Roman"/>
              <a:sym typeface="Times New Roman"/>
            </a:endParaRPr>
          </a:p>
          <a:p>
            <a:pPr indent="-323850" lvl="0" marL="457200" rtl="0" algn="l">
              <a:lnSpc>
                <a:spcPct val="115000"/>
              </a:lnSpc>
              <a:spcBef>
                <a:spcPts val="0"/>
              </a:spcBef>
              <a:spcAft>
                <a:spcPts val="0"/>
              </a:spcAft>
              <a:buClr>
                <a:schemeClr val="lt1"/>
              </a:buClr>
              <a:buSzPts val="1500"/>
              <a:buFont typeface="Times New Roman"/>
              <a:buChar char="●"/>
            </a:pPr>
            <a:r>
              <a:rPr lang="en" sz="1500">
                <a:solidFill>
                  <a:schemeClr val="lt1"/>
                </a:solidFill>
                <a:latin typeface="Times New Roman"/>
                <a:ea typeface="Times New Roman"/>
                <a:cs typeface="Times New Roman"/>
                <a:sym typeface="Times New Roman"/>
              </a:rPr>
              <a:t>Key observables in understanding how our Galaxy has formed and evolved </a:t>
            </a:r>
            <a:endParaRPr sz="1500">
              <a:solidFill>
                <a:schemeClr val="lt1"/>
              </a:solidFill>
              <a:latin typeface="Times New Roman"/>
              <a:ea typeface="Times New Roman"/>
              <a:cs typeface="Times New Roman"/>
              <a:sym typeface="Times New Roman"/>
            </a:endParaRPr>
          </a:p>
          <a:p>
            <a:pPr indent="0" lvl="0" marL="0" rtl="0" algn="l">
              <a:spcBef>
                <a:spcPts val="1200"/>
              </a:spcBef>
              <a:spcAft>
                <a:spcPts val="0"/>
              </a:spcAft>
              <a:buNone/>
            </a:pPr>
            <a:r>
              <a:rPr lang="en" sz="1500">
                <a:solidFill>
                  <a:srgbClr val="F5F5F5"/>
                </a:solidFill>
                <a:latin typeface="Times New Roman"/>
                <a:ea typeface="Times New Roman"/>
                <a:cs typeface="Times New Roman"/>
                <a:sym typeface="Times New Roman"/>
              </a:rPr>
              <a:t>However there are two different types of Red Giants.</a:t>
            </a:r>
            <a:endParaRPr sz="1500">
              <a:solidFill>
                <a:schemeClr val="lt1"/>
              </a:solidFill>
            </a:endParaRPr>
          </a:p>
        </p:txBody>
      </p:sp>
      <p:sp>
        <p:nvSpPr>
          <p:cNvPr id="524" name="Google Shape;524;p56"/>
          <p:cNvSpPr txBox="1"/>
          <p:nvPr>
            <p:ph type="title"/>
          </p:nvPr>
        </p:nvSpPr>
        <p:spPr>
          <a:xfrm>
            <a:off x="324625" y="91075"/>
            <a:ext cx="41448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3400">
                <a:solidFill>
                  <a:schemeClr val="lt1"/>
                </a:solidFill>
                <a:latin typeface="Times New Roman"/>
                <a:ea typeface="Times New Roman"/>
                <a:cs typeface="Times New Roman"/>
                <a:sym typeface="Times New Roman"/>
              </a:rPr>
              <a:t>Red Giant Stars</a:t>
            </a:r>
            <a:endParaRPr sz="3400">
              <a:solidFill>
                <a:schemeClr val="lt1"/>
              </a:solidFill>
              <a:latin typeface="Times New Roman"/>
              <a:ea typeface="Times New Roman"/>
              <a:cs typeface="Times New Roman"/>
              <a:sym typeface="Times New Roman"/>
            </a:endParaRPr>
          </a:p>
        </p:txBody>
      </p:sp>
      <p:pic>
        <p:nvPicPr>
          <p:cNvPr descr="Chandra :: Educational Materials :: Pulsating Variable Stars and the Hertzsprung-Russell Diagram" id="525" name="Google Shape;525;p56"/>
          <p:cNvPicPr preferRelativeResize="0"/>
          <p:nvPr/>
        </p:nvPicPr>
        <p:blipFill>
          <a:blip r:embed="rId6">
            <a:alphaModFix/>
          </a:blip>
          <a:stretch>
            <a:fillRect/>
          </a:stretch>
        </p:blipFill>
        <p:spPr>
          <a:xfrm>
            <a:off x="4469425" y="91063"/>
            <a:ext cx="4257675" cy="42576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9" name="Shape 529"/>
        <p:cNvGrpSpPr/>
        <p:nvPr/>
      </p:nvGrpSpPr>
      <p:grpSpPr>
        <a:xfrm>
          <a:off x="0" y="0"/>
          <a:ext cx="0" cy="0"/>
          <a:chOff x="0" y="0"/>
          <a:chExt cx="0" cy="0"/>
        </a:xfrm>
      </p:grpSpPr>
      <p:sp>
        <p:nvSpPr>
          <p:cNvPr id="530" name="Google Shape;530;p57"/>
          <p:cNvSpPr/>
          <p:nvPr/>
        </p:nvSpPr>
        <p:spPr>
          <a:xfrm>
            <a:off x="233850" y="2383725"/>
            <a:ext cx="3536700" cy="2202600"/>
          </a:xfrm>
          <a:prstGeom prst="roundRect">
            <a:avLst>
              <a:gd fmla="val 8765"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31" name="Google Shape;531;p57"/>
          <p:cNvSpPr txBox="1"/>
          <p:nvPr>
            <p:ph type="title"/>
          </p:nvPr>
        </p:nvSpPr>
        <p:spPr>
          <a:xfrm>
            <a:off x="438950" y="2541562"/>
            <a:ext cx="1862100" cy="2931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solidFill>
                  <a:srgbClr val="EA9999"/>
                </a:solidFill>
                <a:latin typeface="Times New Roman"/>
                <a:ea typeface="Times New Roman"/>
                <a:cs typeface="Times New Roman"/>
                <a:sym typeface="Times New Roman"/>
              </a:rPr>
              <a:t>Red Giant Stars</a:t>
            </a:r>
            <a:endParaRPr>
              <a:solidFill>
                <a:srgbClr val="EA9999"/>
              </a:solidFill>
              <a:latin typeface="Times New Roman"/>
              <a:ea typeface="Times New Roman"/>
              <a:cs typeface="Times New Roman"/>
              <a:sym typeface="Times New Roman"/>
            </a:endParaRPr>
          </a:p>
        </p:txBody>
      </p:sp>
      <p:sp>
        <p:nvSpPr>
          <p:cNvPr id="532" name="Google Shape;532;p57"/>
          <p:cNvSpPr txBox="1"/>
          <p:nvPr>
            <p:ph idx="1" type="subTitle"/>
          </p:nvPr>
        </p:nvSpPr>
        <p:spPr>
          <a:xfrm>
            <a:off x="438950" y="2727544"/>
            <a:ext cx="1974600" cy="204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latin typeface="Times New Roman"/>
                <a:ea typeface="Times New Roman"/>
                <a:cs typeface="Times New Roman"/>
                <a:sym typeface="Times New Roman"/>
              </a:rPr>
              <a:t>RGB</a:t>
            </a:r>
            <a:endParaRPr>
              <a:latin typeface="Times New Roman"/>
              <a:ea typeface="Times New Roman"/>
              <a:cs typeface="Times New Roman"/>
              <a:sym typeface="Times New Roman"/>
            </a:endParaRPr>
          </a:p>
        </p:txBody>
      </p:sp>
      <p:sp>
        <p:nvSpPr>
          <p:cNvPr id="533" name="Google Shape;533;p57"/>
          <p:cNvSpPr txBox="1"/>
          <p:nvPr>
            <p:ph idx="2" type="subTitle"/>
          </p:nvPr>
        </p:nvSpPr>
        <p:spPr>
          <a:xfrm>
            <a:off x="438950" y="2972285"/>
            <a:ext cx="2444700" cy="228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100">
                <a:solidFill>
                  <a:schemeClr val="lt1"/>
                </a:solidFill>
                <a:latin typeface="Times New Roman"/>
                <a:ea typeface="Times New Roman"/>
                <a:cs typeface="Times New Roman"/>
                <a:sym typeface="Times New Roman"/>
              </a:rPr>
              <a:t>Hydrogen burning shell</a:t>
            </a:r>
            <a:endParaRPr sz="11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 sz="1100">
                <a:solidFill>
                  <a:schemeClr val="lt1"/>
                </a:solidFill>
                <a:latin typeface="Times New Roman"/>
                <a:ea typeface="Times New Roman"/>
                <a:cs typeface="Times New Roman"/>
                <a:sym typeface="Times New Roman"/>
              </a:rPr>
              <a:t>Low period spacing</a:t>
            </a:r>
            <a:endParaRPr sz="1100">
              <a:solidFill>
                <a:schemeClr val="lt1"/>
              </a:solidFill>
              <a:latin typeface="Times New Roman"/>
              <a:ea typeface="Times New Roman"/>
              <a:cs typeface="Times New Roman"/>
              <a:sym typeface="Times New Roman"/>
            </a:endParaRPr>
          </a:p>
        </p:txBody>
      </p:sp>
      <p:sp>
        <p:nvSpPr>
          <p:cNvPr id="534" name="Google Shape;534;p57"/>
          <p:cNvSpPr txBox="1"/>
          <p:nvPr>
            <p:ph idx="3" type="title"/>
          </p:nvPr>
        </p:nvSpPr>
        <p:spPr>
          <a:xfrm>
            <a:off x="438950" y="3338479"/>
            <a:ext cx="1862100" cy="2931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solidFill>
                  <a:srgbClr val="EA9999"/>
                </a:solidFill>
                <a:latin typeface="Times New Roman"/>
                <a:ea typeface="Times New Roman"/>
                <a:cs typeface="Times New Roman"/>
                <a:sym typeface="Times New Roman"/>
              </a:rPr>
              <a:t>Red Clump Stars</a:t>
            </a:r>
            <a:endParaRPr>
              <a:solidFill>
                <a:srgbClr val="EA9999"/>
              </a:solidFill>
              <a:latin typeface="Times New Roman"/>
              <a:ea typeface="Times New Roman"/>
              <a:cs typeface="Times New Roman"/>
              <a:sym typeface="Times New Roman"/>
            </a:endParaRPr>
          </a:p>
        </p:txBody>
      </p:sp>
      <p:sp>
        <p:nvSpPr>
          <p:cNvPr id="535" name="Google Shape;535;p57"/>
          <p:cNvSpPr txBox="1"/>
          <p:nvPr>
            <p:ph idx="4" type="subTitle"/>
          </p:nvPr>
        </p:nvSpPr>
        <p:spPr>
          <a:xfrm>
            <a:off x="438950" y="3546044"/>
            <a:ext cx="1974600" cy="204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latin typeface="Times New Roman"/>
                <a:ea typeface="Times New Roman"/>
                <a:cs typeface="Times New Roman"/>
                <a:sym typeface="Times New Roman"/>
              </a:rPr>
              <a:t>RC</a:t>
            </a:r>
            <a:endParaRPr>
              <a:latin typeface="Times New Roman"/>
              <a:ea typeface="Times New Roman"/>
              <a:cs typeface="Times New Roman"/>
              <a:sym typeface="Times New Roman"/>
            </a:endParaRPr>
          </a:p>
        </p:txBody>
      </p:sp>
      <p:sp>
        <p:nvSpPr>
          <p:cNvPr id="536" name="Google Shape;536;p57"/>
          <p:cNvSpPr txBox="1"/>
          <p:nvPr>
            <p:ph idx="5" type="subTitle"/>
          </p:nvPr>
        </p:nvSpPr>
        <p:spPr>
          <a:xfrm>
            <a:off x="429200" y="3750650"/>
            <a:ext cx="3227700" cy="3834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S</a:t>
            </a:r>
            <a:r>
              <a:rPr lang="en" sz="1100">
                <a:solidFill>
                  <a:schemeClr val="lt1"/>
                </a:solidFill>
                <a:latin typeface="Times New Roman"/>
                <a:ea typeface="Times New Roman"/>
                <a:cs typeface="Times New Roman"/>
                <a:sym typeface="Times New Roman"/>
              </a:rPr>
              <a:t>tar that ignites helium fusion in their cores resulting in a “helium flash”</a:t>
            </a:r>
            <a:endParaRPr sz="1100">
              <a:solidFill>
                <a:schemeClr val="lt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100">
                <a:latin typeface="Times New Roman"/>
                <a:ea typeface="Times New Roman"/>
                <a:cs typeface="Times New Roman"/>
                <a:sym typeface="Times New Roman"/>
              </a:rPr>
              <a:t>High period spacing</a:t>
            </a:r>
            <a:endParaRPr sz="11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100">
              <a:solidFill>
                <a:schemeClr val="lt1"/>
              </a:solidFill>
              <a:latin typeface="Urbanist"/>
              <a:ea typeface="Urbanist"/>
              <a:cs typeface="Urbanist"/>
              <a:sym typeface="Urbanist"/>
            </a:endParaRPr>
          </a:p>
        </p:txBody>
      </p:sp>
      <p:sp>
        <p:nvSpPr>
          <p:cNvPr id="537" name="Google Shape;537;p57"/>
          <p:cNvSpPr txBox="1"/>
          <p:nvPr>
            <p:ph idx="6" type="title"/>
          </p:nvPr>
        </p:nvSpPr>
        <p:spPr>
          <a:xfrm>
            <a:off x="233850" y="228600"/>
            <a:ext cx="2786700" cy="666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400">
                <a:latin typeface="Times New Roman"/>
                <a:ea typeface="Times New Roman"/>
                <a:cs typeface="Times New Roman"/>
                <a:sym typeface="Times New Roman"/>
              </a:rPr>
              <a:t>Red Giant Branch vs Red Clump Stars</a:t>
            </a:r>
            <a:endParaRPr sz="3400">
              <a:latin typeface="Times New Roman"/>
              <a:ea typeface="Times New Roman"/>
              <a:cs typeface="Times New Roman"/>
              <a:sym typeface="Times New Roman"/>
            </a:endParaRPr>
          </a:p>
        </p:txBody>
      </p:sp>
      <p:sp>
        <p:nvSpPr>
          <p:cNvPr id="538" name="Google Shape;538;p57"/>
          <p:cNvSpPr txBox="1"/>
          <p:nvPr>
            <p:ph idx="9" type="subTitle"/>
          </p:nvPr>
        </p:nvSpPr>
        <p:spPr>
          <a:xfrm>
            <a:off x="309775" y="4865125"/>
            <a:ext cx="8761800" cy="236400"/>
          </a:xfrm>
          <a:prstGeom prst="rect">
            <a:avLst/>
          </a:prstGeom>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None/>
            </a:pPr>
            <a:r>
              <a:rPr lang="en">
                <a:solidFill>
                  <a:srgbClr val="999999"/>
                </a:solidFill>
                <a:latin typeface="Times New Roman"/>
                <a:ea typeface="Times New Roman"/>
                <a:cs typeface="Times New Roman"/>
                <a:sym typeface="Times New Roman"/>
              </a:rPr>
              <a:t>Hawkins, K., Ting, Y.-S., &amp; Rix, H.-W. (2017). Photospheric diagnostics of core helium burning in </a:t>
            </a:r>
            <a:r>
              <a:rPr lang="en">
                <a:solidFill>
                  <a:srgbClr val="999999"/>
                </a:solidFill>
                <a:latin typeface="Times New Roman"/>
                <a:ea typeface="Times New Roman"/>
                <a:cs typeface="Times New Roman"/>
                <a:sym typeface="Times New Roman"/>
              </a:rPr>
              <a:t>giant stars</a:t>
            </a:r>
            <a:r>
              <a:rPr lang="en">
                <a:solidFill>
                  <a:srgbClr val="999999"/>
                </a:solidFill>
                <a:latin typeface="Times New Roman"/>
                <a:ea typeface="Times New Roman"/>
                <a:cs typeface="Times New Roman"/>
                <a:sym typeface="Times New Roman"/>
              </a:rPr>
              <a:t>. arXiv e-prints, arXiv:1712.02405 (Accepted to The Astrophysical Journal). </a:t>
            </a:r>
            <a:endParaRPr>
              <a:solidFill>
                <a:srgbClr val="999999"/>
              </a:solidFill>
              <a:latin typeface="Times New Roman"/>
              <a:ea typeface="Times New Roman"/>
              <a:cs typeface="Times New Roman"/>
              <a:sym typeface="Times New Roman"/>
            </a:endParaRPr>
          </a:p>
        </p:txBody>
      </p:sp>
      <p:pic>
        <p:nvPicPr>
          <p:cNvPr id="539" name="Google Shape;539;p57"/>
          <p:cNvPicPr preferRelativeResize="0"/>
          <p:nvPr/>
        </p:nvPicPr>
        <p:blipFill>
          <a:blip r:embed="rId4">
            <a:alphaModFix/>
          </a:blip>
          <a:stretch>
            <a:fillRect/>
          </a:stretch>
        </p:blipFill>
        <p:spPr>
          <a:xfrm>
            <a:off x="4195088" y="1035300"/>
            <a:ext cx="4270500" cy="3072900"/>
          </a:xfrm>
          <a:prstGeom prst="roundRect">
            <a:avLst>
              <a:gd fmla="val 16667" name="adj"/>
            </a:avLst>
          </a:prstGeom>
          <a:noFill/>
          <a:ln>
            <a:noFill/>
          </a:ln>
        </p:spPr>
      </p:pic>
      <p:sp>
        <p:nvSpPr>
          <p:cNvPr id="540" name="Google Shape;540;p57"/>
          <p:cNvSpPr txBox="1"/>
          <p:nvPr/>
        </p:nvSpPr>
        <p:spPr>
          <a:xfrm>
            <a:off x="233850" y="1811825"/>
            <a:ext cx="3680400" cy="29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The stars will pulsate differently. </a:t>
            </a:r>
            <a:r>
              <a:rPr lang="en" sz="1200">
                <a:solidFill>
                  <a:schemeClr val="lt1"/>
                </a:solidFill>
                <a:latin typeface="Times New Roman"/>
                <a:ea typeface="Times New Roman"/>
                <a:cs typeface="Times New Roman"/>
                <a:sym typeface="Times New Roman"/>
              </a:rPr>
              <a:t>Best classification method is through Asteroseismology</a:t>
            </a:r>
            <a:endParaRPr sz="1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4" name="Shape 544"/>
        <p:cNvGrpSpPr/>
        <p:nvPr/>
      </p:nvGrpSpPr>
      <p:grpSpPr>
        <a:xfrm>
          <a:off x="0" y="0"/>
          <a:ext cx="0" cy="0"/>
          <a:chOff x="0" y="0"/>
          <a:chExt cx="0" cy="0"/>
        </a:xfrm>
      </p:grpSpPr>
      <p:sp>
        <p:nvSpPr>
          <p:cNvPr id="545" name="Google Shape;545;p58"/>
          <p:cNvSpPr/>
          <p:nvPr/>
        </p:nvSpPr>
        <p:spPr>
          <a:xfrm>
            <a:off x="233850" y="2383725"/>
            <a:ext cx="3536700" cy="2202600"/>
          </a:xfrm>
          <a:prstGeom prst="roundRect">
            <a:avLst>
              <a:gd fmla="val 8765"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46" name="Google Shape;546;p58"/>
          <p:cNvSpPr txBox="1"/>
          <p:nvPr>
            <p:ph type="title"/>
          </p:nvPr>
        </p:nvSpPr>
        <p:spPr>
          <a:xfrm>
            <a:off x="438950" y="2541562"/>
            <a:ext cx="1862100" cy="2931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solidFill>
                  <a:srgbClr val="EA9999"/>
                </a:solidFill>
                <a:latin typeface="Times New Roman"/>
                <a:ea typeface="Times New Roman"/>
                <a:cs typeface="Times New Roman"/>
                <a:sym typeface="Times New Roman"/>
              </a:rPr>
              <a:t>Red Giant Stars</a:t>
            </a:r>
            <a:endParaRPr>
              <a:solidFill>
                <a:srgbClr val="EA9999"/>
              </a:solidFill>
              <a:latin typeface="Times New Roman"/>
              <a:ea typeface="Times New Roman"/>
              <a:cs typeface="Times New Roman"/>
              <a:sym typeface="Times New Roman"/>
            </a:endParaRPr>
          </a:p>
        </p:txBody>
      </p:sp>
      <p:sp>
        <p:nvSpPr>
          <p:cNvPr id="547" name="Google Shape;547;p58"/>
          <p:cNvSpPr txBox="1"/>
          <p:nvPr>
            <p:ph idx="1" type="subTitle"/>
          </p:nvPr>
        </p:nvSpPr>
        <p:spPr>
          <a:xfrm>
            <a:off x="438950" y="2727544"/>
            <a:ext cx="1974600" cy="204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latin typeface="Times New Roman"/>
                <a:ea typeface="Times New Roman"/>
                <a:cs typeface="Times New Roman"/>
                <a:sym typeface="Times New Roman"/>
              </a:rPr>
              <a:t>RGB</a:t>
            </a:r>
            <a:endParaRPr>
              <a:latin typeface="Times New Roman"/>
              <a:ea typeface="Times New Roman"/>
              <a:cs typeface="Times New Roman"/>
              <a:sym typeface="Times New Roman"/>
            </a:endParaRPr>
          </a:p>
        </p:txBody>
      </p:sp>
      <p:sp>
        <p:nvSpPr>
          <p:cNvPr id="548" name="Google Shape;548;p58"/>
          <p:cNvSpPr txBox="1"/>
          <p:nvPr>
            <p:ph idx="2" type="subTitle"/>
          </p:nvPr>
        </p:nvSpPr>
        <p:spPr>
          <a:xfrm>
            <a:off x="438950" y="2972285"/>
            <a:ext cx="2444700" cy="228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100">
                <a:solidFill>
                  <a:schemeClr val="lt1"/>
                </a:solidFill>
                <a:latin typeface="Times New Roman"/>
                <a:ea typeface="Times New Roman"/>
                <a:cs typeface="Times New Roman"/>
                <a:sym typeface="Times New Roman"/>
              </a:rPr>
              <a:t>High mass Hydrogen burning shell</a:t>
            </a:r>
            <a:endParaRPr sz="11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 sz="1100">
                <a:solidFill>
                  <a:schemeClr val="lt1"/>
                </a:solidFill>
                <a:latin typeface="Times New Roman"/>
                <a:ea typeface="Times New Roman"/>
                <a:cs typeface="Times New Roman"/>
                <a:sym typeface="Times New Roman"/>
              </a:rPr>
              <a:t>Low period spacing</a:t>
            </a:r>
            <a:endParaRPr sz="1100">
              <a:solidFill>
                <a:schemeClr val="lt1"/>
              </a:solidFill>
              <a:latin typeface="Times New Roman"/>
              <a:ea typeface="Times New Roman"/>
              <a:cs typeface="Times New Roman"/>
              <a:sym typeface="Times New Roman"/>
            </a:endParaRPr>
          </a:p>
        </p:txBody>
      </p:sp>
      <p:sp>
        <p:nvSpPr>
          <p:cNvPr id="549" name="Google Shape;549;p58"/>
          <p:cNvSpPr txBox="1"/>
          <p:nvPr>
            <p:ph idx="3" type="title"/>
          </p:nvPr>
        </p:nvSpPr>
        <p:spPr>
          <a:xfrm>
            <a:off x="438950" y="3338479"/>
            <a:ext cx="1862100" cy="2931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solidFill>
                  <a:srgbClr val="EA9999"/>
                </a:solidFill>
                <a:latin typeface="Times New Roman"/>
                <a:ea typeface="Times New Roman"/>
                <a:cs typeface="Times New Roman"/>
                <a:sym typeface="Times New Roman"/>
              </a:rPr>
              <a:t>Red Clump Stars</a:t>
            </a:r>
            <a:endParaRPr>
              <a:solidFill>
                <a:srgbClr val="EA9999"/>
              </a:solidFill>
              <a:latin typeface="Times New Roman"/>
              <a:ea typeface="Times New Roman"/>
              <a:cs typeface="Times New Roman"/>
              <a:sym typeface="Times New Roman"/>
            </a:endParaRPr>
          </a:p>
        </p:txBody>
      </p:sp>
      <p:sp>
        <p:nvSpPr>
          <p:cNvPr id="550" name="Google Shape;550;p58"/>
          <p:cNvSpPr txBox="1"/>
          <p:nvPr>
            <p:ph idx="4" type="subTitle"/>
          </p:nvPr>
        </p:nvSpPr>
        <p:spPr>
          <a:xfrm>
            <a:off x="438950" y="3546044"/>
            <a:ext cx="1974600" cy="204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latin typeface="Times New Roman"/>
                <a:ea typeface="Times New Roman"/>
                <a:cs typeface="Times New Roman"/>
                <a:sym typeface="Times New Roman"/>
              </a:rPr>
              <a:t>RC</a:t>
            </a:r>
            <a:endParaRPr>
              <a:latin typeface="Times New Roman"/>
              <a:ea typeface="Times New Roman"/>
              <a:cs typeface="Times New Roman"/>
              <a:sym typeface="Times New Roman"/>
            </a:endParaRPr>
          </a:p>
        </p:txBody>
      </p:sp>
      <p:sp>
        <p:nvSpPr>
          <p:cNvPr id="551" name="Google Shape;551;p58"/>
          <p:cNvSpPr txBox="1"/>
          <p:nvPr>
            <p:ph idx="5" type="subTitle"/>
          </p:nvPr>
        </p:nvSpPr>
        <p:spPr>
          <a:xfrm>
            <a:off x="429200" y="3750650"/>
            <a:ext cx="3227700" cy="3834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lang="en" sz="1100">
                <a:solidFill>
                  <a:schemeClr val="lt1"/>
                </a:solidFill>
                <a:latin typeface="Times New Roman"/>
                <a:ea typeface="Times New Roman"/>
                <a:cs typeface="Times New Roman"/>
                <a:sym typeface="Times New Roman"/>
              </a:rPr>
              <a:t>High-Mass star that ignites helium fusion in their cores resulting in a “helium flash”</a:t>
            </a:r>
            <a:endParaRPr sz="1100">
              <a:solidFill>
                <a:schemeClr val="lt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 sz="1100">
                <a:latin typeface="Times New Roman"/>
                <a:ea typeface="Times New Roman"/>
                <a:cs typeface="Times New Roman"/>
                <a:sym typeface="Times New Roman"/>
              </a:rPr>
              <a:t>High period spacing</a:t>
            </a:r>
            <a:endParaRPr sz="11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100">
              <a:solidFill>
                <a:schemeClr val="lt1"/>
              </a:solidFill>
              <a:latin typeface="Urbanist"/>
              <a:ea typeface="Urbanist"/>
              <a:cs typeface="Urbanist"/>
              <a:sym typeface="Urbanist"/>
            </a:endParaRPr>
          </a:p>
        </p:txBody>
      </p:sp>
      <p:sp>
        <p:nvSpPr>
          <p:cNvPr id="552" name="Google Shape;552;p58"/>
          <p:cNvSpPr txBox="1"/>
          <p:nvPr>
            <p:ph idx="6" type="title"/>
          </p:nvPr>
        </p:nvSpPr>
        <p:spPr>
          <a:xfrm>
            <a:off x="233850" y="228600"/>
            <a:ext cx="2786700" cy="666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400">
                <a:latin typeface="Times New Roman"/>
                <a:ea typeface="Times New Roman"/>
                <a:cs typeface="Times New Roman"/>
                <a:sym typeface="Times New Roman"/>
              </a:rPr>
              <a:t>Red Giant Branch vs Red Clump Stars</a:t>
            </a:r>
            <a:endParaRPr sz="3400">
              <a:latin typeface="Times New Roman"/>
              <a:ea typeface="Times New Roman"/>
              <a:cs typeface="Times New Roman"/>
              <a:sym typeface="Times New Roman"/>
            </a:endParaRPr>
          </a:p>
        </p:txBody>
      </p:sp>
      <p:sp>
        <p:nvSpPr>
          <p:cNvPr id="553" name="Google Shape;553;p58"/>
          <p:cNvSpPr txBox="1"/>
          <p:nvPr>
            <p:ph idx="9" type="subTitle"/>
          </p:nvPr>
        </p:nvSpPr>
        <p:spPr>
          <a:xfrm>
            <a:off x="309775" y="4865125"/>
            <a:ext cx="8761800" cy="236400"/>
          </a:xfrm>
          <a:prstGeom prst="rect">
            <a:avLst/>
          </a:prstGeom>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None/>
            </a:pPr>
            <a:r>
              <a:rPr lang="en">
                <a:solidFill>
                  <a:srgbClr val="999999"/>
                </a:solidFill>
                <a:latin typeface="Urbanist"/>
                <a:ea typeface="Urbanist"/>
                <a:cs typeface="Urbanist"/>
                <a:sym typeface="Urbanist"/>
              </a:rPr>
              <a:t>Hawkins, K., Ting, Y.-S., &amp; Rix, H.-W. (2017). Photospheric diagnostics of core helium burning in </a:t>
            </a:r>
            <a:r>
              <a:rPr lang="en">
                <a:solidFill>
                  <a:srgbClr val="999999"/>
                </a:solidFill>
                <a:latin typeface="Urbanist"/>
                <a:ea typeface="Urbanist"/>
                <a:cs typeface="Urbanist"/>
                <a:sym typeface="Urbanist"/>
              </a:rPr>
              <a:t>giant stars</a:t>
            </a:r>
            <a:r>
              <a:rPr lang="en">
                <a:solidFill>
                  <a:srgbClr val="999999"/>
                </a:solidFill>
                <a:latin typeface="Urbanist"/>
                <a:ea typeface="Urbanist"/>
                <a:cs typeface="Urbanist"/>
                <a:sym typeface="Urbanist"/>
              </a:rPr>
              <a:t>. arXiv e-prints, arXiv:1712.02405 (Accepted to The Astrophysical Journal). </a:t>
            </a:r>
            <a:endParaRPr>
              <a:solidFill>
                <a:srgbClr val="999999"/>
              </a:solidFill>
            </a:endParaRPr>
          </a:p>
        </p:txBody>
      </p:sp>
      <p:sp>
        <p:nvSpPr>
          <p:cNvPr id="554" name="Google Shape;554;p58"/>
          <p:cNvSpPr txBox="1"/>
          <p:nvPr/>
        </p:nvSpPr>
        <p:spPr>
          <a:xfrm>
            <a:off x="233850" y="1811825"/>
            <a:ext cx="3142200" cy="29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Best classification method through Asteroseismology (different t=lum and diff ages)</a:t>
            </a:r>
            <a:endParaRPr sz="1200">
              <a:solidFill>
                <a:schemeClr val="lt1"/>
              </a:solidFill>
              <a:latin typeface="Times New Roman"/>
              <a:ea typeface="Times New Roman"/>
              <a:cs typeface="Times New Roman"/>
              <a:sym typeface="Times New Roman"/>
            </a:endParaRPr>
          </a:p>
        </p:txBody>
      </p:sp>
      <p:pic>
        <p:nvPicPr>
          <p:cNvPr id="555" name="Google Shape;555;p58" title="Screenshot 2026-07-22 at 7.39.17 PM.png"/>
          <p:cNvPicPr preferRelativeResize="0"/>
          <p:nvPr/>
        </p:nvPicPr>
        <p:blipFill>
          <a:blip r:embed="rId4">
            <a:alphaModFix/>
          </a:blip>
          <a:stretch>
            <a:fillRect/>
          </a:stretch>
        </p:blipFill>
        <p:spPr>
          <a:xfrm>
            <a:off x="3920400" y="529000"/>
            <a:ext cx="4874751" cy="4085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9"/>
          <p:cNvSpPr/>
          <p:nvPr/>
        </p:nvSpPr>
        <p:spPr>
          <a:xfrm>
            <a:off x="4367375" y="2765788"/>
            <a:ext cx="4376400" cy="1350300"/>
          </a:xfrm>
          <a:prstGeom prst="roundRect">
            <a:avLst>
              <a:gd fmla="val 8765"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pic>
        <p:nvPicPr>
          <p:cNvPr descr="Faint shadows in near total darkness. " id="561" name="Google Shape;561;p59"/>
          <p:cNvPicPr preferRelativeResize="0"/>
          <p:nvPr/>
        </p:nvPicPr>
        <p:blipFill rotWithShape="1">
          <a:blip r:embed="rId3">
            <a:alphaModFix/>
          </a:blip>
          <a:srcRect b="35140" l="0" r="15297" t="35140"/>
          <a:stretch/>
        </p:blipFill>
        <p:spPr>
          <a:xfrm>
            <a:off x="6594575" y="853600"/>
            <a:ext cx="2164800" cy="1350300"/>
          </a:xfrm>
          <a:prstGeom prst="roundRect">
            <a:avLst>
              <a:gd fmla="val 8765" name="adj"/>
            </a:avLst>
          </a:prstGeom>
          <a:noFill/>
          <a:ln cap="flat" cmpd="sng" w="9525">
            <a:solidFill>
              <a:schemeClr val="accent1"/>
            </a:solidFill>
            <a:prstDash val="solid"/>
            <a:round/>
            <a:headEnd len="sm" w="sm" type="none"/>
            <a:tailEnd len="sm" w="sm" type="none"/>
          </a:ln>
        </p:spPr>
      </p:pic>
      <p:sp>
        <p:nvSpPr>
          <p:cNvPr id="562" name="Google Shape;562;p59"/>
          <p:cNvSpPr txBox="1"/>
          <p:nvPr>
            <p:ph type="title"/>
          </p:nvPr>
        </p:nvSpPr>
        <p:spPr>
          <a:xfrm>
            <a:off x="228600" y="457200"/>
            <a:ext cx="3848400" cy="4449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dk1"/>
              </a:buClr>
              <a:buSzPts val="1100"/>
              <a:buNone/>
            </a:pPr>
            <a:r>
              <a:rPr lang="en">
                <a:latin typeface="Times New Roman"/>
                <a:ea typeface="Times New Roman"/>
                <a:cs typeface="Times New Roman"/>
                <a:sym typeface="Times New Roman"/>
              </a:rPr>
              <a:t>Asteroseismology</a:t>
            </a:r>
            <a:endParaRPr>
              <a:latin typeface="Times New Roman"/>
              <a:ea typeface="Times New Roman"/>
              <a:cs typeface="Times New Roman"/>
              <a:sym typeface="Times New Roman"/>
            </a:endParaRPr>
          </a:p>
        </p:txBody>
      </p:sp>
      <p:sp>
        <p:nvSpPr>
          <p:cNvPr id="563" name="Google Shape;563;p59"/>
          <p:cNvSpPr txBox="1"/>
          <p:nvPr>
            <p:ph idx="1" type="body"/>
          </p:nvPr>
        </p:nvSpPr>
        <p:spPr>
          <a:xfrm>
            <a:off x="228600" y="938725"/>
            <a:ext cx="3970800" cy="3406500"/>
          </a:xfrm>
          <a:prstGeom prst="rect">
            <a:avLst/>
          </a:prstGeom>
        </p:spPr>
        <p:txBody>
          <a:bodyPr anchorCtr="0" anchor="t" bIns="0" lIns="0" spcFirstLastPara="1" rIns="0" wrap="square" tIns="0">
            <a:noAutofit/>
          </a:bodyPr>
          <a:lstStyle/>
          <a:p>
            <a:pPr indent="-323850" lvl="0" marL="457200" rtl="0" algn="l">
              <a:spcBef>
                <a:spcPts val="0"/>
              </a:spcBef>
              <a:spcAft>
                <a:spcPts val="0"/>
              </a:spcAft>
              <a:buSzPts val="1500"/>
              <a:buFont typeface="Times New Roman"/>
              <a:buChar char="●"/>
            </a:pPr>
            <a:r>
              <a:rPr lang="en" sz="1500">
                <a:latin typeface="Times New Roman"/>
                <a:ea typeface="Times New Roman"/>
                <a:cs typeface="Times New Roman"/>
                <a:sym typeface="Times New Roman"/>
              </a:rPr>
              <a:t>Oscillations in stars from near-surface convection can have either or both p-mode or g-mode characteristics</a:t>
            </a:r>
            <a:endParaRPr sz="1500">
              <a:latin typeface="Times New Roman"/>
              <a:ea typeface="Times New Roman"/>
              <a:cs typeface="Times New Roman"/>
              <a:sym typeface="Times New Roman"/>
            </a:endParaRPr>
          </a:p>
          <a:p>
            <a:pPr indent="-323850" lvl="0" marL="457200" rtl="0" algn="l">
              <a:spcBef>
                <a:spcPts val="0"/>
              </a:spcBef>
              <a:spcAft>
                <a:spcPts val="0"/>
              </a:spcAft>
              <a:buSzPts val="1500"/>
              <a:buFont typeface="Times New Roman"/>
              <a:buChar char="●"/>
            </a:pPr>
            <a:r>
              <a:rPr lang="en" sz="1500">
                <a:latin typeface="Times New Roman"/>
                <a:ea typeface="Times New Roman"/>
                <a:cs typeface="Times New Roman"/>
                <a:sym typeface="Times New Roman"/>
              </a:rPr>
              <a:t>Stronger coupling between g-mode and p-mode leading to appearance of observable mixed modes in oscillation spectrum</a:t>
            </a:r>
            <a:endParaRPr sz="1500">
              <a:latin typeface="Times New Roman"/>
              <a:ea typeface="Times New Roman"/>
              <a:cs typeface="Times New Roman"/>
              <a:sym typeface="Times New Roman"/>
            </a:endParaRPr>
          </a:p>
          <a:p>
            <a:pPr indent="-323850" lvl="1" marL="914400" rtl="0" algn="l">
              <a:spcBef>
                <a:spcPts val="0"/>
              </a:spcBef>
              <a:spcAft>
                <a:spcPts val="0"/>
              </a:spcAft>
              <a:buSzPts val="1500"/>
              <a:buFont typeface="Times New Roman"/>
              <a:buChar char="○"/>
            </a:pPr>
            <a:r>
              <a:rPr lang="en" sz="1500">
                <a:latin typeface="Times New Roman"/>
                <a:ea typeface="Times New Roman"/>
                <a:cs typeface="Times New Roman"/>
                <a:sym typeface="Times New Roman"/>
              </a:rPr>
              <a:t>This can be caused by RC stars core having lower density than a RGB star</a:t>
            </a:r>
            <a:endParaRPr sz="15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5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1500">
                <a:latin typeface="Times New Roman"/>
                <a:ea typeface="Times New Roman"/>
                <a:cs typeface="Times New Roman"/>
                <a:sym typeface="Times New Roman"/>
              </a:rPr>
              <a:t>Period spacing are the time intervals between a star's mixed modes (p-mode and g-mode), vibrations that combine the characteristics of sound waves and gravity waves inside the star. </a:t>
            </a:r>
            <a:endParaRPr sz="1500">
              <a:latin typeface="Times New Roman"/>
              <a:ea typeface="Times New Roman"/>
              <a:cs typeface="Times New Roman"/>
              <a:sym typeface="Times New Roman"/>
            </a:endParaRPr>
          </a:p>
        </p:txBody>
      </p:sp>
      <p:sp>
        <p:nvSpPr>
          <p:cNvPr id="564" name="Google Shape;564;p59"/>
          <p:cNvSpPr txBox="1"/>
          <p:nvPr>
            <p:ph idx="5" type="subTitle"/>
          </p:nvPr>
        </p:nvSpPr>
        <p:spPr>
          <a:xfrm>
            <a:off x="345750" y="4907100"/>
            <a:ext cx="8452500" cy="236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a:solidFill>
                  <a:srgbClr val="999999"/>
                </a:solidFill>
                <a:latin typeface="Times New Roman"/>
                <a:ea typeface="Times New Roman"/>
                <a:cs typeface="Times New Roman"/>
                <a:sym typeface="Times New Roman"/>
              </a:rPr>
              <a:t>Bedding Tim, Huber Daniel. “ASTR 5970 Lecture 16-Seismology.”</a:t>
            </a:r>
            <a:r>
              <a:rPr lang="en" u="sng">
                <a:solidFill>
                  <a:srgbClr val="999999"/>
                </a:solidFill>
                <a:latin typeface="Times New Roman"/>
                <a:ea typeface="Times New Roman"/>
                <a:cs typeface="Times New Roman"/>
                <a:sym typeface="Times New Roman"/>
                <a:hlinkClick r:id="rId4">
                  <a:extLst>
                    <a:ext uri="{A12FA001-AC4F-418D-AE19-62706E023703}">
                      <ahyp:hlinkClr val="tx"/>
                    </a:ext>
                  </a:extLst>
                </a:hlinkClick>
              </a:rPr>
              <a:t>https://docs.google.com/presentation/d/1n4gnIVjk0QskgZYAVGrrYui_9yyZ9EoGr3Z9NKOY4KY/edit?slide=id.g2feb84dece6_0_122#slide=id.g2feb84dece6_0_122</a:t>
            </a:r>
            <a:endParaRPr>
              <a:solidFill>
                <a:srgbClr val="999999"/>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None/>
            </a:pPr>
            <a:r>
              <a:rPr b="1" lang="en">
                <a:solidFill>
                  <a:srgbClr val="999999"/>
                </a:solidFill>
                <a:latin typeface="Times New Roman"/>
                <a:ea typeface="Times New Roman"/>
                <a:cs typeface="Times New Roman"/>
                <a:sym typeface="Times New Roman"/>
              </a:rPr>
              <a:t>Ness et al. 2016,</a:t>
            </a:r>
            <a:r>
              <a:rPr lang="en">
                <a:solidFill>
                  <a:srgbClr val="999999"/>
                </a:solidFill>
                <a:latin typeface="Times New Roman"/>
                <a:ea typeface="Times New Roman"/>
                <a:cs typeface="Times New Roman"/>
                <a:sym typeface="Times New Roman"/>
              </a:rPr>
              <a:t> "Spectroscopic Determination of Masses (and Implied Ages) for Red Giants," </a:t>
            </a:r>
            <a:r>
              <a:rPr i="1" lang="en">
                <a:solidFill>
                  <a:srgbClr val="999999"/>
                </a:solidFill>
                <a:latin typeface="Times New Roman"/>
                <a:ea typeface="Times New Roman"/>
                <a:cs typeface="Times New Roman"/>
                <a:sym typeface="Times New Roman"/>
              </a:rPr>
              <a:t>The Astrophysical Journal</a:t>
            </a:r>
            <a:r>
              <a:rPr lang="en">
                <a:solidFill>
                  <a:srgbClr val="999999"/>
                </a:solidFill>
                <a:latin typeface="Times New Roman"/>
                <a:ea typeface="Times New Roman"/>
                <a:cs typeface="Times New Roman"/>
                <a:sym typeface="Times New Roman"/>
              </a:rPr>
              <a:t>, 823:114 </a:t>
            </a:r>
            <a:r>
              <a:rPr lang="en" u="sng">
                <a:solidFill>
                  <a:srgbClr val="999999"/>
                </a:solidFill>
                <a:latin typeface="Times New Roman"/>
                <a:ea typeface="Times New Roman"/>
                <a:cs typeface="Times New Roman"/>
                <a:sym typeface="Times New Roman"/>
                <a:hlinkClick r:id="rId5">
                  <a:extLst>
                    <a:ext uri="{A12FA001-AC4F-418D-AE19-62706E023703}">
                      <ahyp:hlinkClr val="tx"/>
                    </a:ext>
                  </a:extLst>
                </a:hlinkClick>
              </a:rPr>
              <a:t>https://iopscience.iop.org/article/10.3847/0004-637X/823/2/114/pdf</a:t>
            </a:r>
            <a:endParaRPr>
              <a:solidFill>
                <a:srgbClr val="999999"/>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None/>
            </a:pPr>
            <a:r>
              <a:rPr lang="en">
                <a:latin typeface="Urbanist"/>
                <a:ea typeface="Urbanist"/>
                <a:cs typeface="Urbanist"/>
                <a:sym typeface="Urbanist"/>
              </a:rPr>
              <a:t>  </a:t>
            </a:r>
            <a:endParaRPr/>
          </a:p>
        </p:txBody>
      </p:sp>
      <p:pic>
        <p:nvPicPr>
          <p:cNvPr id="565" name="Google Shape;565;p59"/>
          <p:cNvPicPr preferRelativeResize="0"/>
          <p:nvPr/>
        </p:nvPicPr>
        <p:blipFill>
          <a:blip r:embed="rId6">
            <a:alphaModFix/>
          </a:blip>
          <a:stretch>
            <a:fillRect/>
          </a:stretch>
        </p:blipFill>
        <p:spPr>
          <a:xfrm>
            <a:off x="4414338" y="457188"/>
            <a:ext cx="2143125" cy="2143125"/>
          </a:xfrm>
          <a:prstGeom prst="rect">
            <a:avLst/>
          </a:prstGeom>
          <a:noFill/>
          <a:ln>
            <a:noFill/>
          </a:ln>
        </p:spPr>
      </p:pic>
      <p:pic>
        <p:nvPicPr>
          <p:cNvPr id="566" name="Google Shape;566;p59"/>
          <p:cNvPicPr preferRelativeResize="0"/>
          <p:nvPr/>
        </p:nvPicPr>
        <p:blipFill>
          <a:blip r:embed="rId7">
            <a:alphaModFix/>
          </a:blip>
          <a:stretch>
            <a:fillRect/>
          </a:stretch>
        </p:blipFill>
        <p:spPr>
          <a:xfrm>
            <a:off x="6610175" y="461963"/>
            <a:ext cx="2133600" cy="2133600"/>
          </a:xfrm>
          <a:prstGeom prst="rect">
            <a:avLst/>
          </a:prstGeom>
          <a:noFill/>
          <a:ln>
            <a:noFill/>
          </a:ln>
        </p:spPr>
      </p:pic>
      <p:sp>
        <p:nvSpPr>
          <p:cNvPr id="567" name="Google Shape;567;p59"/>
          <p:cNvSpPr txBox="1"/>
          <p:nvPr/>
        </p:nvSpPr>
        <p:spPr>
          <a:xfrm>
            <a:off x="4414325" y="2800938"/>
            <a:ext cx="1906800" cy="6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EA9999"/>
                </a:solidFill>
                <a:latin typeface="Times New Roman"/>
                <a:ea typeface="Times New Roman"/>
                <a:cs typeface="Times New Roman"/>
                <a:sym typeface="Times New Roman"/>
              </a:rPr>
              <a:t>P-mode</a:t>
            </a:r>
            <a:endParaRPr sz="1600">
              <a:solidFill>
                <a:srgbClr val="EA9999"/>
              </a:solidFill>
              <a:latin typeface="Times New Roman"/>
              <a:ea typeface="Times New Roman"/>
              <a:cs typeface="Times New Roman"/>
              <a:sym typeface="Times New Roman"/>
            </a:endParaRPr>
          </a:p>
        </p:txBody>
      </p:sp>
      <p:sp>
        <p:nvSpPr>
          <p:cNvPr id="568" name="Google Shape;568;p59"/>
          <p:cNvSpPr txBox="1"/>
          <p:nvPr/>
        </p:nvSpPr>
        <p:spPr>
          <a:xfrm>
            <a:off x="6623200" y="2800938"/>
            <a:ext cx="1906800" cy="6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EA9999"/>
                </a:solidFill>
                <a:latin typeface="Times New Roman"/>
                <a:ea typeface="Times New Roman"/>
                <a:cs typeface="Times New Roman"/>
                <a:sym typeface="Times New Roman"/>
              </a:rPr>
              <a:t>G-mode</a:t>
            </a:r>
            <a:endParaRPr sz="1600">
              <a:solidFill>
                <a:srgbClr val="EA9999"/>
              </a:solidFill>
              <a:latin typeface="Times New Roman"/>
              <a:ea typeface="Times New Roman"/>
              <a:cs typeface="Times New Roman"/>
              <a:sym typeface="Times New Roman"/>
            </a:endParaRPr>
          </a:p>
        </p:txBody>
      </p:sp>
      <p:sp>
        <p:nvSpPr>
          <p:cNvPr id="569" name="Google Shape;569;p59"/>
          <p:cNvSpPr txBox="1"/>
          <p:nvPr/>
        </p:nvSpPr>
        <p:spPr>
          <a:xfrm>
            <a:off x="4367375" y="3275125"/>
            <a:ext cx="1932900" cy="106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Associated with stellar envelope with pressure as a restoring force</a:t>
            </a:r>
            <a:endParaRPr sz="12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
        <p:nvSpPr>
          <p:cNvPr id="570" name="Google Shape;570;p59"/>
          <p:cNvSpPr txBox="1"/>
          <p:nvPr/>
        </p:nvSpPr>
        <p:spPr>
          <a:xfrm>
            <a:off x="6610150" y="3276613"/>
            <a:ext cx="1932900" cy="106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Probe its core with buoyancy as a restoring force.</a:t>
            </a:r>
            <a:endParaRPr sz="1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60"/>
          <p:cNvSpPr txBox="1"/>
          <p:nvPr>
            <p:ph type="title"/>
          </p:nvPr>
        </p:nvSpPr>
        <p:spPr>
          <a:xfrm>
            <a:off x="300250" y="349100"/>
            <a:ext cx="39045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How We Get Data </a:t>
            </a:r>
            <a:endParaRPr>
              <a:latin typeface="Times New Roman"/>
              <a:ea typeface="Times New Roman"/>
              <a:cs typeface="Times New Roman"/>
              <a:sym typeface="Times New Roman"/>
            </a:endParaRPr>
          </a:p>
        </p:txBody>
      </p:sp>
      <p:sp>
        <p:nvSpPr>
          <p:cNvPr id="576" name="Google Shape;576;p60"/>
          <p:cNvSpPr txBox="1"/>
          <p:nvPr>
            <p:ph idx="5" type="subTitle"/>
          </p:nvPr>
        </p:nvSpPr>
        <p:spPr>
          <a:xfrm>
            <a:off x="300250" y="4683725"/>
            <a:ext cx="49443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900" u="sng">
                <a:solidFill>
                  <a:srgbClr val="999999"/>
                </a:solidFill>
                <a:latin typeface="Times New Roman"/>
                <a:ea typeface="Times New Roman"/>
                <a:cs typeface="Times New Roman"/>
                <a:sym typeface="Times New Roman"/>
                <a:hlinkClick r:id="rId3">
                  <a:extLst>
                    <a:ext uri="{A12FA001-AC4F-418D-AE19-62706E023703}">
                      <ahyp:hlinkClr val="tx"/>
                    </a:ext>
                  </a:extLst>
                </a:hlinkClick>
              </a:rPr>
              <a:t>Star Clusters: Inside the Universe's Stellar Collections - NASA Science</a:t>
            </a:r>
            <a:r>
              <a:rPr lang="en" sz="900">
                <a:solidFill>
                  <a:srgbClr val="999999"/>
                </a:solidFill>
                <a:latin typeface="Times New Roman"/>
                <a:ea typeface="Times New Roman"/>
                <a:cs typeface="Times New Roman"/>
                <a:sym typeface="Times New Roman"/>
              </a:rPr>
              <a:t>​</a:t>
            </a:r>
            <a:r>
              <a:rPr lang="en" sz="900">
                <a:solidFill>
                  <a:srgbClr val="999999"/>
                </a:solidFill>
                <a:latin typeface="Arial"/>
                <a:ea typeface="Arial"/>
                <a:cs typeface="Arial"/>
                <a:sym typeface="Arial"/>
              </a:rPr>
              <a:t> </a:t>
            </a:r>
            <a:endParaRPr sz="900">
              <a:solidFill>
                <a:srgbClr val="999999"/>
              </a:solidFill>
            </a:endParaRPr>
          </a:p>
        </p:txBody>
      </p:sp>
      <p:pic>
        <p:nvPicPr>
          <p:cNvPr id="577" name="Google Shape;577;p60"/>
          <p:cNvPicPr preferRelativeResize="0"/>
          <p:nvPr/>
        </p:nvPicPr>
        <p:blipFill>
          <a:blip r:embed="rId4">
            <a:alphaModFix/>
          </a:blip>
          <a:stretch>
            <a:fillRect/>
          </a:stretch>
        </p:blipFill>
        <p:spPr>
          <a:xfrm>
            <a:off x="4109449" y="309675"/>
            <a:ext cx="4648673" cy="1782175"/>
          </a:xfrm>
          <a:prstGeom prst="rect">
            <a:avLst/>
          </a:prstGeom>
          <a:noFill/>
          <a:ln>
            <a:noFill/>
          </a:ln>
        </p:spPr>
      </p:pic>
      <p:sp>
        <p:nvSpPr>
          <p:cNvPr id="578" name="Google Shape;578;p60"/>
          <p:cNvSpPr txBox="1"/>
          <p:nvPr/>
        </p:nvSpPr>
        <p:spPr>
          <a:xfrm>
            <a:off x="3881789" y="553823"/>
            <a:ext cx="1902000" cy="1902000"/>
          </a:xfrm>
          <a:prstGeom prst="rect">
            <a:avLst/>
          </a:prstGeom>
          <a:noFill/>
          <a:ln>
            <a:noFill/>
          </a:ln>
        </p:spPr>
        <p:txBody>
          <a:bodyPr anchorCtr="0" anchor="ctr" bIns="57975" lIns="57975" spcFirstLastPara="1" rIns="57975" wrap="square" tIns="57975">
            <a:noAutofit/>
          </a:bodyPr>
          <a:lstStyle/>
          <a:p>
            <a:pPr indent="0" lvl="0" marL="0" rtl="0" algn="l">
              <a:spcBef>
                <a:spcPts val="0"/>
              </a:spcBef>
              <a:spcAft>
                <a:spcPts val="0"/>
              </a:spcAft>
              <a:buNone/>
            </a:pPr>
            <a:r>
              <a:rPr lang="en" sz="761">
                <a:latin typeface="Times New Roman"/>
                <a:ea typeface="Times New Roman"/>
                <a:cs typeface="Times New Roman"/>
                <a:sym typeface="Times New Roman"/>
              </a:rPr>
              <a:t> </a:t>
            </a:r>
            <a:r>
              <a:rPr lang="en" sz="697"/>
              <a:t> </a:t>
            </a:r>
            <a:endParaRPr sz="888"/>
          </a:p>
        </p:txBody>
      </p:sp>
      <p:pic>
        <p:nvPicPr>
          <p:cNvPr id="579" name="Google Shape;579;p60"/>
          <p:cNvPicPr preferRelativeResize="0"/>
          <p:nvPr/>
        </p:nvPicPr>
        <p:blipFill>
          <a:blip r:embed="rId5">
            <a:alphaModFix/>
          </a:blip>
          <a:stretch>
            <a:fillRect/>
          </a:stretch>
        </p:blipFill>
        <p:spPr>
          <a:xfrm>
            <a:off x="4109444" y="2223850"/>
            <a:ext cx="2178393" cy="2227900"/>
          </a:xfrm>
          <a:prstGeom prst="rect">
            <a:avLst/>
          </a:prstGeom>
          <a:noFill/>
          <a:ln>
            <a:noFill/>
          </a:ln>
        </p:spPr>
      </p:pic>
      <p:sp>
        <p:nvSpPr>
          <p:cNvPr id="580" name="Google Shape;580;p60"/>
          <p:cNvSpPr txBox="1"/>
          <p:nvPr/>
        </p:nvSpPr>
        <p:spPr>
          <a:xfrm>
            <a:off x="6720100" y="2147500"/>
            <a:ext cx="2178300" cy="23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Light Curve for a Kepler Star</a:t>
            </a:r>
            <a:endParaRPr sz="1200">
              <a:solidFill>
                <a:schemeClr val="lt1"/>
              </a:solidFill>
              <a:latin typeface="Times New Roman"/>
              <a:ea typeface="Times New Roman"/>
              <a:cs typeface="Times New Roman"/>
              <a:sym typeface="Times New Roman"/>
            </a:endParaRPr>
          </a:p>
        </p:txBody>
      </p:sp>
      <p:sp>
        <p:nvSpPr>
          <p:cNvPr id="581" name="Google Shape;581;p60"/>
          <p:cNvSpPr txBox="1"/>
          <p:nvPr/>
        </p:nvSpPr>
        <p:spPr>
          <a:xfrm>
            <a:off x="6343350" y="3165375"/>
            <a:ext cx="1315200" cy="5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Times New Roman"/>
                <a:ea typeface="Times New Roman"/>
                <a:cs typeface="Times New Roman"/>
                <a:sym typeface="Times New Roman"/>
              </a:rPr>
              <a:t>Solar Oscillation Power Spectrum</a:t>
            </a:r>
            <a:r>
              <a:rPr lang="en" sz="1200">
                <a:solidFill>
                  <a:schemeClr val="lt1"/>
                </a:solidFill>
                <a:latin typeface="Urbanist"/>
                <a:ea typeface="Urbanist"/>
                <a:cs typeface="Urbanist"/>
                <a:sym typeface="Urbanist"/>
              </a:rPr>
              <a:t> </a:t>
            </a:r>
            <a:endParaRPr sz="1200">
              <a:solidFill>
                <a:schemeClr val="lt1"/>
              </a:solidFill>
              <a:latin typeface="Urbanist"/>
              <a:ea typeface="Urbanist"/>
              <a:cs typeface="Urbanist"/>
              <a:sym typeface="Urbanist"/>
            </a:endParaRPr>
          </a:p>
        </p:txBody>
      </p:sp>
      <p:sp>
        <p:nvSpPr>
          <p:cNvPr id="582" name="Google Shape;582;p60"/>
          <p:cNvSpPr txBox="1"/>
          <p:nvPr/>
        </p:nvSpPr>
        <p:spPr>
          <a:xfrm>
            <a:off x="82900" y="1091025"/>
            <a:ext cx="3681900" cy="36237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chemeClr val="lt1"/>
              </a:buClr>
              <a:buSzPts val="2000"/>
              <a:buFont typeface="Times New Roman"/>
              <a:buChar char="●"/>
            </a:pPr>
            <a:r>
              <a:rPr lang="en" sz="2000">
                <a:solidFill>
                  <a:srgbClr val="FFFFFF"/>
                </a:solidFill>
                <a:latin typeface="Times New Roman"/>
                <a:ea typeface="Times New Roman"/>
                <a:cs typeface="Times New Roman"/>
                <a:sym typeface="Times New Roman"/>
              </a:rPr>
              <a:t>Asteroseismology uses the frequency of stellar oscillations which creates very small changes in the luminosity of a star, probing the interior of the star</a:t>
            </a:r>
            <a:endParaRPr sz="2000">
              <a:solidFill>
                <a:srgbClr val="FFFFFF"/>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rgbClr val="FFFFFF"/>
              </a:buClr>
              <a:buSzPts val="2000"/>
              <a:buFont typeface="Times New Roman"/>
              <a:buChar char="●"/>
            </a:pPr>
            <a:r>
              <a:rPr lang="en" sz="2000">
                <a:solidFill>
                  <a:srgbClr val="FFFFFF"/>
                </a:solidFill>
                <a:latin typeface="Times New Roman"/>
                <a:ea typeface="Times New Roman"/>
                <a:cs typeface="Times New Roman"/>
                <a:sym typeface="Times New Roman"/>
              </a:rPr>
              <a:t>Taking a fourier transform of the light curve provides a power spectrum for oscillations </a:t>
            </a:r>
            <a:endParaRPr sz="2000">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61"/>
          <p:cNvSpPr txBox="1"/>
          <p:nvPr>
            <p:ph idx="4294967295" type="body"/>
          </p:nvPr>
        </p:nvSpPr>
        <p:spPr>
          <a:xfrm>
            <a:off x="228600" y="725250"/>
            <a:ext cx="3876300" cy="3693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t/>
            </a:r>
            <a:endParaRPr sz="1500"/>
          </a:p>
          <a:p>
            <a:pPr indent="-355600" lvl="0" marL="457200" rtl="0" algn="l">
              <a:spcBef>
                <a:spcPts val="800"/>
              </a:spcBef>
              <a:spcAft>
                <a:spcPts val="0"/>
              </a:spcAft>
              <a:buSzPts val="2000"/>
              <a:buFont typeface="Times New Roman"/>
              <a:buChar char="●"/>
            </a:pPr>
            <a:r>
              <a:rPr lang="en" sz="2000">
                <a:latin typeface="Times New Roman"/>
                <a:ea typeface="Times New Roman"/>
                <a:cs typeface="Times New Roman"/>
                <a:sym typeface="Times New Roman"/>
              </a:rPr>
              <a:t>Kepler’s ultra-sensitive photometers capture the rhythmic pulses of the stars brightness. </a:t>
            </a:r>
            <a:endParaRPr sz="2000">
              <a:latin typeface="Times New Roman"/>
              <a:ea typeface="Times New Roman"/>
              <a:cs typeface="Times New Roman"/>
              <a:sym typeface="Times New Roman"/>
            </a:endParaRPr>
          </a:p>
          <a:p>
            <a:pPr indent="-355600" lvl="0" marL="457200" rtl="0" algn="l">
              <a:spcBef>
                <a:spcPts val="0"/>
              </a:spcBef>
              <a:spcAft>
                <a:spcPts val="0"/>
              </a:spcAft>
              <a:buSzPts val="2000"/>
              <a:buFont typeface="Times New Roman"/>
              <a:buChar char="●"/>
            </a:pPr>
            <a:r>
              <a:rPr lang="en" sz="2000">
                <a:latin typeface="Times New Roman"/>
                <a:ea typeface="Times New Roman"/>
                <a:cs typeface="Times New Roman"/>
                <a:sym typeface="Times New Roman"/>
              </a:rPr>
              <a:t>TESS (Transiting Exoplanet Survey Satellite) has a secondary mission for gathering continues brightness measurements of stars.</a:t>
            </a:r>
            <a:endParaRPr sz="2000">
              <a:latin typeface="Times New Roman"/>
              <a:ea typeface="Times New Roman"/>
              <a:cs typeface="Times New Roman"/>
              <a:sym typeface="Times New Roman"/>
            </a:endParaRPr>
          </a:p>
        </p:txBody>
      </p:sp>
      <p:sp>
        <p:nvSpPr>
          <p:cNvPr id="588" name="Google Shape;588;p61"/>
          <p:cNvSpPr txBox="1"/>
          <p:nvPr>
            <p:ph idx="4294967295" type="title"/>
          </p:nvPr>
        </p:nvSpPr>
        <p:spPr>
          <a:xfrm>
            <a:off x="181500" y="363875"/>
            <a:ext cx="4296600" cy="4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latin typeface="Times New Roman"/>
                <a:ea typeface="Times New Roman"/>
                <a:cs typeface="Times New Roman"/>
                <a:sym typeface="Times New Roman"/>
              </a:rPr>
              <a:t>Kepler and TESS</a:t>
            </a:r>
            <a:endParaRPr sz="3000">
              <a:latin typeface="Times New Roman"/>
              <a:ea typeface="Times New Roman"/>
              <a:cs typeface="Times New Roman"/>
              <a:sym typeface="Times New Roman"/>
            </a:endParaRPr>
          </a:p>
        </p:txBody>
      </p:sp>
      <p:pic>
        <p:nvPicPr>
          <p:cNvPr id="589" name="Google Shape;589;p61"/>
          <p:cNvPicPr preferRelativeResize="0"/>
          <p:nvPr/>
        </p:nvPicPr>
        <p:blipFill rotWithShape="1">
          <a:blip r:embed="rId3">
            <a:alphaModFix/>
          </a:blip>
          <a:srcRect b="0" l="12721" r="12713" t="0"/>
          <a:stretch/>
        </p:blipFill>
        <p:spPr>
          <a:xfrm>
            <a:off x="5664100" y="2353150"/>
            <a:ext cx="2982476" cy="2243875"/>
          </a:xfrm>
          <a:prstGeom prst="rect">
            <a:avLst/>
          </a:prstGeom>
          <a:noFill/>
          <a:ln>
            <a:noFill/>
          </a:ln>
        </p:spPr>
      </p:pic>
      <p:pic>
        <p:nvPicPr>
          <p:cNvPr descr="NASA launches TESS exoplanet-hunting satellite into space" id="590" name="Google Shape;590;p61"/>
          <p:cNvPicPr preferRelativeResize="0"/>
          <p:nvPr/>
        </p:nvPicPr>
        <p:blipFill>
          <a:blip r:embed="rId4">
            <a:alphaModFix/>
          </a:blip>
          <a:stretch>
            <a:fillRect/>
          </a:stretch>
        </p:blipFill>
        <p:spPr>
          <a:xfrm>
            <a:off x="4198001" y="310300"/>
            <a:ext cx="2616050" cy="1968184"/>
          </a:xfrm>
          <a:prstGeom prst="rect">
            <a:avLst/>
          </a:prstGeom>
          <a:noFill/>
          <a:ln>
            <a:noFill/>
          </a:ln>
        </p:spPr>
      </p:pic>
      <p:sp>
        <p:nvSpPr>
          <p:cNvPr id="591" name="Google Shape;591;p61"/>
          <p:cNvSpPr txBox="1"/>
          <p:nvPr/>
        </p:nvSpPr>
        <p:spPr>
          <a:xfrm>
            <a:off x="4198000" y="228600"/>
            <a:ext cx="1015200" cy="2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TESS</a:t>
            </a:r>
            <a:endParaRPr sz="1200">
              <a:solidFill>
                <a:schemeClr val="lt1"/>
              </a:solidFill>
              <a:latin typeface="Urbanist"/>
              <a:ea typeface="Urbanist"/>
              <a:cs typeface="Urbanist"/>
              <a:sym typeface="Urbanist"/>
            </a:endParaRPr>
          </a:p>
        </p:txBody>
      </p:sp>
      <p:sp>
        <p:nvSpPr>
          <p:cNvPr id="592" name="Google Shape;592;p61"/>
          <p:cNvSpPr txBox="1"/>
          <p:nvPr/>
        </p:nvSpPr>
        <p:spPr>
          <a:xfrm>
            <a:off x="7376775" y="4196900"/>
            <a:ext cx="879900" cy="35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Kepler</a:t>
            </a:r>
            <a:endParaRPr sz="1200">
              <a:solidFill>
                <a:schemeClr val="lt1"/>
              </a:solidFill>
              <a:latin typeface="Urbanist"/>
              <a:ea typeface="Urbanist"/>
              <a:cs typeface="Urbanist"/>
              <a:sym typeface="Urbanist"/>
            </a:endParaRPr>
          </a:p>
        </p:txBody>
      </p:sp>
      <p:sp>
        <p:nvSpPr>
          <p:cNvPr id="593" name="Google Shape;593;p61"/>
          <p:cNvSpPr txBox="1"/>
          <p:nvPr/>
        </p:nvSpPr>
        <p:spPr>
          <a:xfrm>
            <a:off x="0" y="4418250"/>
            <a:ext cx="8646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solidFill>
                  <a:srgbClr val="999999"/>
                </a:solidFill>
                <a:latin typeface="Times New Roman"/>
                <a:ea typeface="Times New Roman"/>
                <a:cs typeface="Times New Roman"/>
                <a:sym typeface="Times New Roman"/>
              </a:rPr>
              <a:t>Krapfl, M. (2019, November 19). </a:t>
            </a:r>
            <a:r>
              <a:rPr i="1" lang="en" sz="600">
                <a:solidFill>
                  <a:srgbClr val="999999"/>
                </a:solidFill>
                <a:latin typeface="Times New Roman"/>
                <a:ea typeface="Times New Roman"/>
                <a:cs typeface="Times New Roman"/>
                <a:sym typeface="Times New Roman"/>
              </a:rPr>
              <a:t>NASA's TESS helps astronomers study red-giant stars, examine a too-close planet</a:t>
            </a:r>
            <a:r>
              <a:rPr lang="en" sz="600">
                <a:solidFill>
                  <a:srgbClr val="999999"/>
                </a:solidFill>
                <a:latin typeface="Times New Roman"/>
                <a:ea typeface="Times New Roman"/>
                <a:cs typeface="Times New Roman"/>
                <a:sym typeface="Times New Roman"/>
              </a:rPr>
              <a:t>. Iowa State University News Service.</a:t>
            </a:r>
            <a:r>
              <a:rPr lang="en" sz="600">
                <a:solidFill>
                  <a:srgbClr val="999999"/>
                </a:solidFill>
                <a:uFill>
                  <a:noFill/>
                </a:uFill>
                <a:latin typeface="Times New Roman"/>
                <a:ea typeface="Times New Roman"/>
                <a:cs typeface="Times New Roman"/>
                <a:sym typeface="Times New Roman"/>
                <a:hlinkClick r:id="rId5">
                  <a:extLst>
                    <a:ext uri="{A12FA001-AC4F-418D-AE19-62706E023703}">
                      <ahyp:hlinkClr val="tx"/>
                    </a:ext>
                  </a:extLst>
                </a:hlinkClick>
              </a:rPr>
              <a:t> </a:t>
            </a:r>
            <a:r>
              <a:rPr lang="en" sz="600" u="sng">
                <a:solidFill>
                  <a:srgbClr val="999999"/>
                </a:solidFill>
                <a:latin typeface="Times New Roman"/>
                <a:ea typeface="Times New Roman"/>
                <a:cs typeface="Times New Roman"/>
                <a:sym typeface="Times New Roman"/>
                <a:hlinkClick r:id="rId6">
                  <a:extLst>
                    <a:ext uri="{A12FA001-AC4F-418D-AE19-62706E023703}">
                      <ahyp:hlinkClr val="tx"/>
                    </a:ext>
                  </a:extLst>
                </a:hlinkClick>
              </a:rPr>
              <a:t>https://www.news.iastate.edu/news/nasas-tess-helps-astronomers-study-red-giant-stars-examine-too-close-planet</a:t>
            </a:r>
            <a:endParaRPr sz="600">
              <a:solidFill>
                <a:srgbClr val="999999"/>
              </a:solidFill>
              <a:latin typeface="Times New Roman"/>
              <a:ea typeface="Times New Roman"/>
              <a:cs typeface="Times New Roman"/>
              <a:sym typeface="Times New Roman"/>
            </a:endParaRPr>
          </a:p>
          <a:p>
            <a:pPr indent="0" lvl="0" marL="0" rtl="0" algn="l">
              <a:spcBef>
                <a:spcPts val="0"/>
              </a:spcBef>
              <a:spcAft>
                <a:spcPts val="0"/>
              </a:spcAft>
              <a:buNone/>
            </a:pPr>
            <a:r>
              <a:rPr lang="en" sz="600">
                <a:solidFill>
                  <a:srgbClr val="999999"/>
                </a:solidFill>
                <a:latin typeface="Times New Roman"/>
                <a:ea typeface="Times New Roman"/>
                <a:cs typeface="Times New Roman"/>
                <a:sym typeface="Times New Roman"/>
              </a:rPr>
              <a:t>Cermak, A. (2026, January 5). </a:t>
            </a:r>
            <a:r>
              <a:rPr i="1" lang="en" sz="600">
                <a:solidFill>
                  <a:srgbClr val="999999"/>
                </a:solidFill>
                <a:latin typeface="Times New Roman"/>
                <a:ea typeface="Times New Roman"/>
                <a:cs typeface="Times New Roman"/>
                <a:sym typeface="Times New Roman"/>
              </a:rPr>
              <a:t>Kepler / K2</a:t>
            </a:r>
            <a:r>
              <a:rPr lang="en" sz="600">
                <a:solidFill>
                  <a:srgbClr val="999999"/>
                </a:solidFill>
                <a:latin typeface="Times New Roman"/>
                <a:ea typeface="Times New Roman"/>
                <a:cs typeface="Times New Roman"/>
                <a:sym typeface="Times New Roman"/>
              </a:rPr>
              <a:t>. NASA Science.</a:t>
            </a:r>
            <a:r>
              <a:rPr lang="en" sz="600">
                <a:solidFill>
                  <a:srgbClr val="999999"/>
                </a:solidFill>
                <a:uFill>
                  <a:noFill/>
                </a:uFill>
                <a:latin typeface="Times New Roman"/>
                <a:ea typeface="Times New Roman"/>
                <a:cs typeface="Times New Roman"/>
                <a:sym typeface="Times New Roman"/>
                <a:hlinkClick r:id="rId7">
                  <a:extLst>
                    <a:ext uri="{A12FA001-AC4F-418D-AE19-62706E023703}">
                      <ahyp:hlinkClr val="tx"/>
                    </a:ext>
                  </a:extLst>
                </a:hlinkClick>
              </a:rPr>
              <a:t> </a:t>
            </a:r>
            <a:r>
              <a:rPr lang="en" sz="600" u="sng">
                <a:solidFill>
                  <a:srgbClr val="999999"/>
                </a:solidFill>
                <a:latin typeface="Times New Roman"/>
                <a:ea typeface="Times New Roman"/>
                <a:cs typeface="Times New Roman"/>
                <a:sym typeface="Times New Roman"/>
                <a:hlinkClick r:id="rId8">
                  <a:extLst>
                    <a:ext uri="{A12FA001-AC4F-418D-AE19-62706E023703}">
                      <ahyp:hlinkClr val="tx"/>
                    </a:ext>
                  </a:extLst>
                </a:hlinkClick>
              </a:rPr>
              <a:t>https://science.nasa.gov/mission/kepler/</a:t>
            </a:r>
            <a:endParaRPr sz="600">
              <a:solidFill>
                <a:srgbClr val="999999"/>
              </a:solidFill>
              <a:latin typeface="Times New Roman"/>
              <a:ea typeface="Times New Roman"/>
              <a:cs typeface="Times New Roman"/>
              <a:sym typeface="Times New Roman"/>
            </a:endParaRPr>
          </a:p>
          <a:p>
            <a:pPr indent="0" lvl="0" marL="0" rtl="0" algn="l">
              <a:spcBef>
                <a:spcPts val="0"/>
              </a:spcBef>
              <a:spcAft>
                <a:spcPts val="0"/>
              </a:spcAft>
              <a:buNone/>
            </a:pPr>
            <a:r>
              <a:rPr lang="en" sz="600">
                <a:solidFill>
                  <a:srgbClr val="999999"/>
                </a:solidFill>
                <a:latin typeface="Times New Roman"/>
                <a:ea typeface="Times New Roman"/>
                <a:cs typeface="Times New Roman"/>
                <a:sym typeface="Times New Roman"/>
              </a:rPr>
              <a:t>Brill, J. (2026, February 10). </a:t>
            </a:r>
            <a:r>
              <a:rPr i="1" lang="en" sz="600">
                <a:solidFill>
                  <a:srgbClr val="999999"/>
                </a:solidFill>
                <a:latin typeface="Times New Roman"/>
                <a:ea typeface="Times New Roman"/>
                <a:cs typeface="Times New Roman"/>
                <a:sym typeface="Times New Roman"/>
              </a:rPr>
              <a:t>Asteroseismology using the Galactic Bulge Time Domain Survey</a:t>
            </a:r>
            <a:r>
              <a:rPr lang="en" sz="600">
                <a:solidFill>
                  <a:srgbClr val="999999"/>
                </a:solidFill>
                <a:latin typeface="Times New Roman"/>
                <a:ea typeface="Times New Roman"/>
                <a:cs typeface="Times New Roman"/>
                <a:sym typeface="Times New Roman"/>
              </a:rPr>
              <a:t>. NASA Science.</a:t>
            </a:r>
            <a:r>
              <a:rPr lang="en" sz="600">
                <a:solidFill>
                  <a:srgbClr val="999999"/>
                </a:solidFill>
                <a:uFill>
                  <a:noFill/>
                </a:uFill>
                <a:latin typeface="Times New Roman"/>
                <a:ea typeface="Times New Roman"/>
                <a:cs typeface="Times New Roman"/>
                <a:sym typeface="Times New Roman"/>
                <a:hlinkClick r:id="rId9">
                  <a:extLst>
                    <a:ext uri="{A12FA001-AC4F-418D-AE19-62706E023703}">
                      <ahyp:hlinkClr val="tx"/>
                    </a:ext>
                  </a:extLst>
                </a:hlinkClick>
              </a:rPr>
              <a:t> </a:t>
            </a:r>
            <a:r>
              <a:rPr lang="en" sz="600" u="sng">
                <a:solidFill>
                  <a:srgbClr val="999999"/>
                </a:solidFill>
                <a:latin typeface="Times New Roman"/>
                <a:ea typeface="Times New Roman"/>
                <a:cs typeface="Times New Roman"/>
                <a:sym typeface="Times New Roman"/>
                <a:hlinkClick r:id="rId10">
                  <a:extLst>
                    <a:ext uri="{A12FA001-AC4F-418D-AE19-62706E023703}">
                      <ahyp:hlinkClr val="tx"/>
                    </a:ext>
                  </a:extLst>
                </a:hlinkClick>
              </a:rPr>
              <a:t>https://science.nasa.gov/mission/roman-space-telescope/asteroseismology-using-the-galactic-bulge-time-domain-survey/</a:t>
            </a:r>
            <a:endParaRPr sz="600">
              <a:solidFill>
                <a:srgbClr val="999999"/>
              </a:solidFill>
              <a:latin typeface="Times New Roman"/>
              <a:ea typeface="Times New Roman"/>
              <a:cs typeface="Times New Roman"/>
              <a:sym typeface="Times New Roman"/>
            </a:endParaRPr>
          </a:p>
          <a:p>
            <a:pPr indent="0" lvl="0" marL="0" rtl="0" algn="l">
              <a:spcBef>
                <a:spcPts val="0"/>
              </a:spcBef>
              <a:spcAft>
                <a:spcPts val="0"/>
              </a:spcAft>
              <a:buNone/>
            </a:pPr>
            <a:r>
              <a:rPr lang="en" sz="600">
                <a:solidFill>
                  <a:srgbClr val="999999"/>
                </a:solidFill>
                <a:latin typeface="Times New Roman"/>
                <a:ea typeface="Times New Roman"/>
                <a:cs typeface="Times New Roman"/>
                <a:sym typeface="Times New Roman"/>
              </a:rPr>
              <a:t>Huber, D., Chaplin, W. J., Christensen-Dalsgaard, J., Gilliland, R. L., Kawaler, S. D., Kjeldsen, H., &amp; Working Groups of the Kepler Asteroseismic Science Consortium (KASC). (2013). Asteroseismology with NASA's Kepler mission. </a:t>
            </a:r>
            <a:r>
              <a:rPr i="1" lang="en" sz="600">
                <a:solidFill>
                  <a:srgbClr val="999999"/>
                </a:solidFill>
                <a:latin typeface="Times New Roman"/>
                <a:ea typeface="Times New Roman"/>
                <a:cs typeface="Times New Roman"/>
                <a:sym typeface="Times New Roman"/>
              </a:rPr>
              <a:t>American Astronomical Society Meeting Abstracts</a:t>
            </a:r>
            <a:r>
              <a:rPr lang="en" sz="600">
                <a:solidFill>
                  <a:srgbClr val="999999"/>
                </a:solidFill>
                <a:latin typeface="Times New Roman"/>
                <a:ea typeface="Times New Roman"/>
                <a:cs typeface="Times New Roman"/>
                <a:sym typeface="Times New Roman"/>
              </a:rPr>
              <a:t>, </a:t>
            </a:r>
            <a:r>
              <a:rPr i="1" lang="en" sz="600">
                <a:solidFill>
                  <a:srgbClr val="999999"/>
                </a:solidFill>
                <a:latin typeface="Times New Roman"/>
                <a:ea typeface="Times New Roman"/>
                <a:cs typeface="Times New Roman"/>
                <a:sym typeface="Times New Roman"/>
              </a:rPr>
              <a:t>221</a:t>
            </a:r>
            <a:r>
              <a:rPr lang="en" sz="600">
                <a:solidFill>
                  <a:srgbClr val="999999"/>
                </a:solidFill>
                <a:latin typeface="Times New Roman"/>
                <a:ea typeface="Times New Roman"/>
                <a:cs typeface="Times New Roman"/>
                <a:sym typeface="Times New Roman"/>
              </a:rPr>
              <a:t>, 301.01.</a:t>
            </a:r>
            <a:r>
              <a:rPr lang="en" sz="600">
                <a:solidFill>
                  <a:srgbClr val="999999"/>
                </a:solidFill>
                <a:uFill>
                  <a:noFill/>
                </a:uFill>
                <a:latin typeface="Times New Roman"/>
                <a:ea typeface="Times New Roman"/>
                <a:cs typeface="Times New Roman"/>
                <a:sym typeface="Times New Roman"/>
                <a:hlinkClick r:id="rId11">
                  <a:extLst>
                    <a:ext uri="{A12FA001-AC4F-418D-AE19-62706E023703}">
                      <ahyp:hlinkClr val="tx"/>
                    </a:ext>
                  </a:extLst>
                </a:hlinkClick>
              </a:rPr>
              <a:t> </a:t>
            </a:r>
            <a:r>
              <a:rPr lang="en" sz="600" u="sng">
                <a:solidFill>
                  <a:srgbClr val="999999"/>
                </a:solidFill>
                <a:latin typeface="Times New Roman"/>
                <a:ea typeface="Times New Roman"/>
                <a:cs typeface="Times New Roman"/>
                <a:sym typeface="Times New Roman"/>
                <a:hlinkClick r:id="rId12">
                  <a:extLst>
                    <a:ext uri="{A12FA001-AC4F-418D-AE19-62706E023703}">
                      <ahyp:hlinkClr val="tx"/>
                    </a:ext>
                  </a:extLst>
                </a:hlinkClick>
              </a:rPr>
              <a:t>https://ui.adsabs.harvard.edu/abs/2013AAS...22130101H/abstract</a:t>
            </a:r>
            <a:endParaRPr sz="600">
              <a:solidFill>
                <a:srgbClr val="999999"/>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62"/>
          <p:cNvSpPr txBox="1"/>
          <p:nvPr>
            <p:ph idx="1" type="body"/>
          </p:nvPr>
        </p:nvSpPr>
        <p:spPr>
          <a:xfrm>
            <a:off x="228600" y="1530700"/>
            <a:ext cx="4441200" cy="3099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900">
                <a:latin typeface="Times New Roman"/>
                <a:ea typeface="Times New Roman"/>
                <a:cs typeface="Times New Roman"/>
                <a:sym typeface="Times New Roman"/>
              </a:rPr>
              <a:t>A large-scale, stellar spectroscopic survey conducted in the near infrared portion of the electromagnetic spectrum.</a:t>
            </a:r>
            <a:endParaRPr sz="1900">
              <a:latin typeface="Times New Roman"/>
              <a:ea typeface="Times New Roman"/>
              <a:cs typeface="Times New Roman"/>
              <a:sym typeface="Times New Roman"/>
            </a:endParaRPr>
          </a:p>
          <a:p>
            <a:pPr indent="0" lvl="0" marL="0" rtl="0" algn="l">
              <a:spcBef>
                <a:spcPts val="800"/>
              </a:spcBef>
              <a:spcAft>
                <a:spcPts val="800"/>
              </a:spcAft>
              <a:buNone/>
            </a:pPr>
            <a:r>
              <a:rPr lang="en" sz="1900">
                <a:latin typeface="Times New Roman"/>
                <a:ea typeface="Times New Roman"/>
                <a:cs typeface="Times New Roman"/>
                <a:sym typeface="Times New Roman"/>
              </a:rPr>
              <a:t>The survey provides spectra that can then be used to derive effective temperature, surface gravity, and metallicity of the observed stars </a:t>
            </a:r>
            <a:r>
              <a:rPr lang="en" sz="1900">
                <a:solidFill>
                  <a:schemeClr val="dk2"/>
                </a:solidFill>
                <a:latin typeface="Times New Roman"/>
                <a:ea typeface="Times New Roman"/>
                <a:cs typeface="Times New Roman"/>
                <a:sym typeface="Times New Roman"/>
              </a:rPr>
              <a:t>emission and absorption lines</a:t>
            </a:r>
            <a:r>
              <a:rPr lang="en" sz="1900">
                <a:latin typeface="Times New Roman"/>
                <a:ea typeface="Times New Roman"/>
                <a:cs typeface="Times New Roman"/>
                <a:sym typeface="Times New Roman"/>
              </a:rPr>
              <a:t>.</a:t>
            </a:r>
            <a:endParaRPr sz="1900">
              <a:latin typeface="Times New Roman"/>
              <a:ea typeface="Times New Roman"/>
              <a:cs typeface="Times New Roman"/>
              <a:sym typeface="Times New Roman"/>
            </a:endParaRPr>
          </a:p>
        </p:txBody>
      </p:sp>
      <p:sp>
        <p:nvSpPr>
          <p:cNvPr id="599" name="Google Shape;599;p62"/>
          <p:cNvSpPr txBox="1"/>
          <p:nvPr>
            <p:ph type="title"/>
          </p:nvPr>
        </p:nvSpPr>
        <p:spPr>
          <a:xfrm>
            <a:off x="275400" y="563475"/>
            <a:ext cx="42966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APOGEE</a:t>
            </a:r>
            <a:endParaRPr>
              <a:latin typeface="Times New Roman"/>
              <a:ea typeface="Times New Roman"/>
              <a:cs typeface="Times New Roman"/>
              <a:sym typeface="Times New Roman"/>
            </a:endParaRPr>
          </a:p>
        </p:txBody>
      </p:sp>
      <p:sp>
        <p:nvSpPr>
          <p:cNvPr id="600" name="Google Shape;600;p62"/>
          <p:cNvSpPr txBox="1"/>
          <p:nvPr/>
        </p:nvSpPr>
        <p:spPr>
          <a:xfrm>
            <a:off x="342100" y="4705575"/>
            <a:ext cx="4593900" cy="19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700">
                <a:solidFill>
                  <a:schemeClr val="dk2"/>
                </a:solidFill>
                <a:latin typeface="Times New Roman"/>
                <a:ea typeface="Times New Roman"/>
                <a:cs typeface="Times New Roman"/>
                <a:sym typeface="Times New Roman"/>
              </a:rPr>
              <a:t>Sloan Digital Sky Survey. (n.d.). </a:t>
            </a:r>
            <a:r>
              <a:rPr i="1" lang="en" sz="700">
                <a:solidFill>
                  <a:schemeClr val="dk2"/>
                </a:solidFill>
                <a:latin typeface="Times New Roman"/>
                <a:ea typeface="Times New Roman"/>
                <a:cs typeface="Times New Roman"/>
                <a:sym typeface="Times New Roman"/>
              </a:rPr>
              <a:t>APOGEE</a:t>
            </a:r>
            <a:r>
              <a:rPr lang="en" sz="700">
                <a:solidFill>
                  <a:schemeClr val="dk2"/>
                </a:solidFill>
                <a:latin typeface="Times New Roman"/>
                <a:ea typeface="Times New Roman"/>
                <a:cs typeface="Times New Roman"/>
                <a:sym typeface="Times New Roman"/>
              </a:rPr>
              <a:t>. SDSS Data Release 17. Retrieved July 20, 2026, from</a:t>
            </a:r>
            <a:r>
              <a:rPr lang="en" sz="700">
                <a:solidFill>
                  <a:schemeClr val="dk2"/>
                </a:solidFill>
                <a:uFill>
                  <a:noFill/>
                </a:uFill>
                <a:latin typeface="Times New Roman"/>
                <a:ea typeface="Times New Roman"/>
                <a:cs typeface="Times New Roman"/>
                <a:sym typeface="Times New Roman"/>
                <a:hlinkClick r:id="rId3">
                  <a:extLst>
                    <a:ext uri="{A12FA001-AC4F-418D-AE19-62706E023703}">
                      <ahyp:hlinkClr val="tx"/>
                    </a:ext>
                  </a:extLst>
                </a:hlinkClick>
              </a:rPr>
              <a:t> </a:t>
            </a:r>
            <a:r>
              <a:rPr lang="en" sz="700" u="sng">
                <a:solidFill>
                  <a:schemeClr val="dk2"/>
                </a:solidFill>
                <a:latin typeface="Times New Roman"/>
                <a:ea typeface="Times New Roman"/>
                <a:cs typeface="Times New Roman"/>
                <a:sym typeface="Times New Roman"/>
                <a:hlinkClick r:id="rId4">
                  <a:extLst>
                    <a:ext uri="{A12FA001-AC4F-418D-AE19-62706E023703}">
                      <ahyp:hlinkClr val="tx"/>
                    </a:ext>
                  </a:extLst>
                </a:hlinkClick>
              </a:rPr>
              <a:t>https://www.sdss4.org/dr17/irspec/</a:t>
            </a:r>
            <a:endParaRPr sz="700" u="sng">
              <a:solidFill>
                <a:schemeClr val="dk2"/>
              </a:solidFill>
              <a:latin typeface="Times New Roman"/>
              <a:ea typeface="Times New Roman"/>
              <a:cs typeface="Times New Roman"/>
              <a:sym typeface="Times New Roman"/>
            </a:endParaRPr>
          </a:p>
          <a:p>
            <a:pPr indent="0" lvl="0" marL="0" rtl="0" algn="l">
              <a:spcBef>
                <a:spcPts val="1200"/>
              </a:spcBef>
              <a:spcAft>
                <a:spcPts val="0"/>
              </a:spcAft>
              <a:buNone/>
            </a:pPr>
            <a:r>
              <a:rPr lang="en" sz="700">
                <a:solidFill>
                  <a:schemeClr val="dk2"/>
                </a:solidFill>
                <a:latin typeface="Urbanist"/>
                <a:ea typeface="Urbanist"/>
                <a:cs typeface="Urbanist"/>
                <a:sym typeface="Urbanist"/>
              </a:rPr>
              <a:t> </a:t>
            </a:r>
            <a:endParaRPr sz="700">
              <a:solidFill>
                <a:schemeClr val="dk2"/>
              </a:solidFill>
              <a:latin typeface="Urbanist"/>
              <a:ea typeface="Urbanist"/>
              <a:cs typeface="Urbanist"/>
              <a:sym typeface="Urbanist"/>
            </a:endParaRPr>
          </a:p>
        </p:txBody>
      </p:sp>
      <p:pic>
        <p:nvPicPr>
          <p:cNvPr descr="APOGEE | SDSS" id="601" name="Google Shape;601;p62"/>
          <p:cNvPicPr preferRelativeResize="0"/>
          <p:nvPr/>
        </p:nvPicPr>
        <p:blipFill rotWithShape="1">
          <a:blip r:embed="rId5">
            <a:alphaModFix/>
          </a:blip>
          <a:srcRect b="0" l="0" r="58895" t="0"/>
          <a:stretch/>
        </p:blipFill>
        <p:spPr>
          <a:xfrm>
            <a:off x="2369695" y="310575"/>
            <a:ext cx="1387200" cy="1043100"/>
          </a:xfrm>
          <a:prstGeom prst="roundRect">
            <a:avLst>
              <a:gd fmla="val 16667" name="adj"/>
            </a:avLst>
          </a:prstGeom>
          <a:noFill/>
          <a:ln>
            <a:noFill/>
          </a:ln>
        </p:spPr>
      </p:pic>
      <p:pic>
        <p:nvPicPr>
          <p:cNvPr id="602" name="Google Shape;602;p62"/>
          <p:cNvPicPr preferRelativeResize="0"/>
          <p:nvPr>
            <p:ph idx="2" type="pic"/>
          </p:nvPr>
        </p:nvPicPr>
        <p:blipFill rotWithShape="1">
          <a:blip r:embed="rId6">
            <a:alphaModFix/>
          </a:blip>
          <a:srcRect b="16966" l="0" r="0" t="13787"/>
          <a:stretch/>
        </p:blipFill>
        <p:spPr>
          <a:xfrm>
            <a:off x="5342000" y="162775"/>
            <a:ext cx="3573300" cy="4383900"/>
          </a:xfrm>
          <a:prstGeom prst="roundRect">
            <a:avLst>
              <a:gd fmla="val 16667" name="adj"/>
            </a:avLst>
          </a:prstGeom>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63"/>
          <p:cNvSpPr txBox="1"/>
          <p:nvPr>
            <p:ph type="title"/>
          </p:nvPr>
        </p:nvSpPr>
        <p:spPr>
          <a:xfrm>
            <a:off x="228600" y="390175"/>
            <a:ext cx="42966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Main Problem</a:t>
            </a:r>
            <a:endParaRPr>
              <a:latin typeface="Times New Roman"/>
              <a:ea typeface="Times New Roman"/>
              <a:cs typeface="Times New Roman"/>
              <a:sym typeface="Times New Roman"/>
            </a:endParaRPr>
          </a:p>
        </p:txBody>
      </p:sp>
      <p:sp>
        <p:nvSpPr>
          <p:cNvPr id="608" name="Google Shape;608;p63"/>
          <p:cNvSpPr txBox="1"/>
          <p:nvPr>
            <p:ph idx="1" type="body"/>
          </p:nvPr>
        </p:nvSpPr>
        <p:spPr>
          <a:xfrm>
            <a:off x="138700" y="823400"/>
            <a:ext cx="3911100" cy="3619200"/>
          </a:xfrm>
          <a:prstGeom prst="rect">
            <a:avLst/>
          </a:prstGeom>
        </p:spPr>
        <p:txBody>
          <a:bodyPr anchorCtr="0" anchor="t" bIns="0" lIns="0" spcFirstLastPara="1" rIns="91425" wrap="square" tIns="91425">
            <a:noAutofit/>
          </a:bodyPr>
          <a:lstStyle/>
          <a:p>
            <a:pPr indent="-323850" lvl="0" marL="457200" rtl="0" algn="l">
              <a:spcBef>
                <a:spcPts val="0"/>
              </a:spcBef>
              <a:spcAft>
                <a:spcPts val="0"/>
              </a:spcAft>
              <a:buClr>
                <a:schemeClr val="dk2"/>
              </a:buClr>
              <a:buSzPts val="1500"/>
              <a:buFont typeface="Times New Roman"/>
              <a:buChar char="●"/>
            </a:pPr>
            <a:r>
              <a:rPr lang="en" sz="1500">
                <a:solidFill>
                  <a:schemeClr val="dk2"/>
                </a:solidFill>
                <a:latin typeface="Times New Roman"/>
                <a:ea typeface="Times New Roman"/>
                <a:cs typeface="Times New Roman"/>
                <a:sym typeface="Times New Roman"/>
              </a:rPr>
              <a:t>There are millions of spectral data, with emission and absorption lines containing information about temperature, surface gravity, elemental abundances, and more </a:t>
            </a:r>
            <a:endParaRPr sz="1500">
              <a:solidFill>
                <a:schemeClr val="dk2"/>
              </a:solidFill>
              <a:latin typeface="Times New Roman"/>
              <a:ea typeface="Times New Roman"/>
              <a:cs typeface="Times New Roman"/>
              <a:sym typeface="Times New Roman"/>
            </a:endParaRPr>
          </a:p>
          <a:p>
            <a:pPr indent="-323850" lvl="1" marL="914400" rtl="0" algn="l">
              <a:spcBef>
                <a:spcPts val="0"/>
              </a:spcBef>
              <a:spcAft>
                <a:spcPts val="0"/>
              </a:spcAft>
              <a:buClr>
                <a:schemeClr val="dk2"/>
              </a:buClr>
              <a:buSzPts val="1500"/>
              <a:buFont typeface="Times New Roman"/>
              <a:buChar char="○"/>
            </a:pPr>
            <a:r>
              <a:rPr lang="en" sz="1500">
                <a:solidFill>
                  <a:schemeClr val="dk2"/>
                </a:solidFill>
                <a:latin typeface="Times New Roman"/>
                <a:ea typeface="Times New Roman"/>
                <a:cs typeface="Times New Roman"/>
                <a:sym typeface="Times New Roman"/>
              </a:rPr>
              <a:t>Goal: link spectra and seismic data</a:t>
            </a:r>
            <a:endParaRPr sz="1500">
              <a:solidFill>
                <a:schemeClr val="dk2"/>
              </a:solidFill>
              <a:latin typeface="Times New Roman"/>
              <a:ea typeface="Times New Roman"/>
              <a:cs typeface="Times New Roman"/>
              <a:sym typeface="Times New Roman"/>
            </a:endParaRPr>
          </a:p>
          <a:p>
            <a:pPr indent="0" lvl="0" marL="457200" rtl="0" algn="l">
              <a:spcBef>
                <a:spcPts val="0"/>
              </a:spcBef>
              <a:spcAft>
                <a:spcPts val="0"/>
              </a:spcAft>
              <a:buNone/>
            </a:pPr>
            <a:r>
              <a:rPr lang="en" sz="1500">
                <a:solidFill>
                  <a:schemeClr val="dk2"/>
                </a:solidFill>
                <a:latin typeface="Times New Roman"/>
                <a:ea typeface="Times New Roman"/>
                <a:cs typeface="Times New Roman"/>
                <a:sym typeface="Times New Roman"/>
              </a:rPr>
              <a:t>​</a:t>
            </a:r>
            <a:endParaRPr sz="1500">
              <a:solidFill>
                <a:schemeClr val="dk2"/>
              </a:solidFill>
              <a:latin typeface="Times New Roman"/>
              <a:ea typeface="Times New Roman"/>
              <a:cs typeface="Times New Roman"/>
              <a:sym typeface="Times New Roman"/>
            </a:endParaRPr>
          </a:p>
          <a:p>
            <a:pPr indent="-323850" lvl="0" marL="457200" rtl="0" algn="l">
              <a:spcBef>
                <a:spcPts val="0"/>
              </a:spcBef>
              <a:spcAft>
                <a:spcPts val="0"/>
              </a:spcAft>
              <a:buClr>
                <a:schemeClr val="dk2"/>
              </a:buClr>
              <a:buSzPts val="1500"/>
              <a:buFont typeface="Times New Roman"/>
              <a:buChar char="●"/>
            </a:pPr>
            <a:r>
              <a:rPr lang="en" sz="1500">
                <a:latin typeface="Times New Roman"/>
                <a:ea typeface="Times New Roman"/>
                <a:cs typeface="Times New Roman"/>
                <a:sym typeface="Times New Roman"/>
              </a:rPr>
              <a:t>This however this does not help us when it comes to differentiating between stars in the Red Giant Branch and in the Red Clump of the HR diagram</a:t>
            </a:r>
            <a:endParaRPr sz="1500">
              <a:latin typeface="Times New Roman"/>
              <a:ea typeface="Times New Roman"/>
              <a:cs typeface="Times New Roman"/>
              <a:sym typeface="Times New Roman"/>
            </a:endParaRPr>
          </a:p>
          <a:p>
            <a:pPr indent="-323850" lvl="1" marL="914400" rtl="0" algn="l">
              <a:spcBef>
                <a:spcPts val="0"/>
              </a:spcBef>
              <a:spcAft>
                <a:spcPts val="0"/>
              </a:spcAft>
              <a:buSzPts val="1500"/>
              <a:buFont typeface="Times New Roman"/>
              <a:buChar char="○"/>
            </a:pPr>
            <a:r>
              <a:rPr lang="en" sz="1500">
                <a:latin typeface="Times New Roman"/>
                <a:ea typeface="Times New Roman"/>
                <a:cs typeface="Times New Roman"/>
                <a:sym typeface="Times New Roman"/>
              </a:rPr>
              <a:t>More luminous therefore more data</a:t>
            </a:r>
            <a:endParaRPr sz="1500">
              <a:latin typeface="Times New Roman"/>
              <a:ea typeface="Times New Roman"/>
              <a:cs typeface="Times New Roman"/>
              <a:sym typeface="Times New Roman"/>
            </a:endParaRPr>
          </a:p>
          <a:p>
            <a:pPr indent="-323850" lvl="1" marL="914400" rtl="0" algn="l">
              <a:spcBef>
                <a:spcPts val="0"/>
              </a:spcBef>
              <a:spcAft>
                <a:spcPts val="0"/>
              </a:spcAft>
              <a:buSzPts val="1500"/>
              <a:buFont typeface="Times New Roman"/>
              <a:buChar char="○"/>
            </a:pPr>
            <a:r>
              <a:rPr lang="en" sz="1500">
                <a:latin typeface="Times New Roman"/>
                <a:ea typeface="Times New Roman"/>
                <a:cs typeface="Times New Roman"/>
                <a:sym typeface="Times New Roman"/>
              </a:rPr>
              <a:t>These are two different stages in a giants life cycle.</a:t>
            </a:r>
            <a:endParaRPr sz="1500">
              <a:latin typeface="Times New Roman"/>
              <a:ea typeface="Times New Roman"/>
              <a:cs typeface="Times New Roman"/>
              <a:sym typeface="Times New Roman"/>
            </a:endParaRPr>
          </a:p>
          <a:p>
            <a:pPr indent="-323850" lvl="1" marL="914400" rtl="0" algn="l">
              <a:spcBef>
                <a:spcPts val="0"/>
              </a:spcBef>
              <a:spcAft>
                <a:spcPts val="0"/>
              </a:spcAft>
              <a:buSzPts val="1500"/>
              <a:buFont typeface="Times New Roman"/>
              <a:buChar char="○"/>
            </a:pPr>
            <a:r>
              <a:rPr lang="en" sz="1500">
                <a:latin typeface="Times New Roman"/>
                <a:ea typeface="Times New Roman"/>
                <a:cs typeface="Times New Roman"/>
                <a:sym typeface="Times New Roman"/>
              </a:rPr>
              <a:t>I</a:t>
            </a:r>
            <a:r>
              <a:rPr lang="en" sz="1500">
                <a:latin typeface="Times New Roman"/>
                <a:ea typeface="Times New Roman"/>
                <a:cs typeface="Times New Roman"/>
                <a:sym typeface="Times New Roman"/>
              </a:rPr>
              <a:t>mportant for: Stellar ages and Mass loss</a:t>
            </a:r>
            <a:endParaRPr sz="1500">
              <a:latin typeface="Times New Roman"/>
              <a:ea typeface="Times New Roman"/>
              <a:cs typeface="Times New Roman"/>
              <a:sym typeface="Times New Roman"/>
            </a:endParaRPr>
          </a:p>
          <a:p>
            <a:pPr indent="0" lvl="0" marL="0" rtl="0" algn="l">
              <a:spcBef>
                <a:spcPts val="800"/>
              </a:spcBef>
              <a:spcAft>
                <a:spcPts val="800"/>
              </a:spcAft>
              <a:buNone/>
            </a:pPr>
            <a:r>
              <a:t/>
            </a:r>
            <a:endParaRPr sz="1500"/>
          </a:p>
        </p:txBody>
      </p:sp>
      <p:pic>
        <p:nvPicPr>
          <p:cNvPr descr="&#10;Distribution of APOGEE fields in DR17 overlaid on an all-sky image from 2MASS. Each field is color-coded by the number of targets in that field. &lt;em&gt;Image credit: C. Hayes&lt;/em&gt;&#10;" id="609" name="Google Shape;609;p63"/>
          <p:cNvPicPr preferRelativeResize="0"/>
          <p:nvPr/>
        </p:nvPicPr>
        <p:blipFill>
          <a:blip r:embed="rId3">
            <a:alphaModFix/>
          </a:blip>
          <a:stretch>
            <a:fillRect/>
          </a:stretch>
        </p:blipFill>
        <p:spPr>
          <a:xfrm>
            <a:off x="4237225" y="1220400"/>
            <a:ext cx="4504500" cy="2702700"/>
          </a:xfrm>
          <a:prstGeom prst="rect">
            <a:avLst/>
          </a:prstGeom>
          <a:noFill/>
          <a:ln>
            <a:noFill/>
          </a:ln>
        </p:spPr>
      </p:pic>
      <p:sp>
        <p:nvSpPr>
          <p:cNvPr id="610" name="Google Shape;610;p63"/>
          <p:cNvSpPr txBox="1"/>
          <p:nvPr/>
        </p:nvSpPr>
        <p:spPr>
          <a:xfrm>
            <a:off x="4237075" y="3923100"/>
            <a:ext cx="4504500" cy="48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Times New Roman"/>
                <a:ea typeface="Times New Roman"/>
                <a:cs typeface="Times New Roman"/>
                <a:sym typeface="Times New Roman"/>
              </a:rPr>
              <a:t>APOGEE observation fields on an all-sky image. Each field is color-coded by the number of targets in that field.</a:t>
            </a:r>
            <a:endParaRPr sz="1000">
              <a:solidFill>
                <a:schemeClr val="lt1"/>
              </a:solidFill>
              <a:latin typeface="Times New Roman"/>
              <a:ea typeface="Times New Roman"/>
              <a:cs typeface="Times New Roman"/>
              <a:sym typeface="Times New Roman"/>
            </a:endParaRPr>
          </a:p>
        </p:txBody>
      </p:sp>
      <p:sp>
        <p:nvSpPr>
          <p:cNvPr id="611" name="Google Shape;611;p63"/>
          <p:cNvSpPr txBox="1"/>
          <p:nvPr/>
        </p:nvSpPr>
        <p:spPr>
          <a:xfrm>
            <a:off x="4884075" y="823400"/>
            <a:ext cx="1567800" cy="33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
        <p:nvSpPr>
          <p:cNvPr id="612" name="Google Shape;612;p63"/>
          <p:cNvSpPr/>
          <p:nvPr/>
        </p:nvSpPr>
        <p:spPr>
          <a:xfrm rot="2537093">
            <a:off x="4300479" y="1397205"/>
            <a:ext cx="1343455" cy="432804"/>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Urbanist"/>
                <a:ea typeface="Urbanist"/>
                <a:cs typeface="Urbanist"/>
                <a:sym typeface="Urbanist"/>
              </a:rPr>
              <a:t>Kepler Field</a:t>
            </a:r>
            <a:endParaRPr>
              <a:solidFill>
                <a:schemeClr val="lt1"/>
              </a:solidFill>
              <a:latin typeface="Urbanist"/>
              <a:ea typeface="Urbanist"/>
              <a:cs typeface="Urbanist"/>
              <a:sym typeface="Urbanist"/>
            </a:endParaRPr>
          </a:p>
        </p:txBody>
      </p:sp>
      <p:sp>
        <p:nvSpPr>
          <p:cNvPr id="613" name="Google Shape;613;p63"/>
          <p:cNvSpPr/>
          <p:nvPr/>
        </p:nvSpPr>
        <p:spPr>
          <a:xfrm>
            <a:off x="5425475" y="2041600"/>
            <a:ext cx="259500" cy="237000"/>
          </a:xfrm>
          <a:prstGeom prst="ellipse">
            <a:avLst/>
          </a:prstGeom>
          <a:no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64"/>
          <p:cNvSpPr txBox="1"/>
          <p:nvPr>
            <p:ph type="title"/>
          </p:nvPr>
        </p:nvSpPr>
        <p:spPr>
          <a:xfrm>
            <a:off x="181500" y="334500"/>
            <a:ext cx="42966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Main Problem </a:t>
            </a:r>
            <a:endParaRPr>
              <a:latin typeface="Times New Roman"/>
              <a:ea typeface="Times New Roman"/>
              <a:cs typeface="Times New Roman"/>
              <a:sym typeface="Times New Roman"/>
            </a:endParaRPr>
          </a:p>
        </p:txBody>
      </p:sp>
      <p:pic>
        <p:nvPicPr>
          <p:cNvPr descr="Asteroseismology reveals magnetic fields deep within stars – Astronomy Now" id="619" name="Google Shape;619;p64"/>
          <p:cNvPicPr preferRelativeResize="0"/>
          <p:nvPr/>
        </p:nvPicPr>
        <p:blipFill>
          <a:blip r:embed="rId3">
            <a:alphaModFix/>
          </a:blip>
          <a:stretch>
            <a:fillRect/>
          </a:stretch>
        </p:blipFill>
        <p:spPr>
          <a:xfrm>
            <a:off x="5031062" y="175500"/>
            <a:ext cx="3884338" cy="3252000"/>
          </a:xfrm>
          <a:prstGeom prst="rect">
            <a:avLst/>
          </a:prstGeom>
          <a:noFill/>
          <a:ln>
            <a:noFill/>
          </a:ln>
        </p:spPr>
      </p:pic>
      <p:sp>
        <p:nvSpPr>
          <p:cNvPr id="620" name="Google Shape;620;p64"/>
          <p:cNvSpPr txBox="1"/>
          <p:nvPr/>
        </p:nvSpPr>
        <p:spPr>
          <a:xfrm>
            <a:off x="111600" y="945750"/>
            <a:ext cx="4226100" cy="32520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Mass can be estimated through seismic scaling relations in asteroseismology</a:t>
            </a:r>
            <a:endParaRPr sz="16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lt1"/>
              </a:solidFill>
              <a:latin typeface="Times New Roman"/>
              <a:ea typeface="Times New Roman"/>
              <a:cs typeface="Times New Roman"/>
              <a:sym typeface="Times New Roman"/>
            </a:endParaRPr>
          </a:p>
          <a:p>
            <a:pPr indent="-330200" lvl="0" marL="457200" rtl="0" algn="l">
              <a:spcBef>
                <a:spcPts val="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Age is one of the hardest </a:t>
            </a:r>
            <a:r>
              <a:rPr lang="en" sz="1600">
                <a:solidFill>
                  <a:schemeClr val="lt1"/>
                </a:solidFill>
                <a:latin typeface="Times New Roman"/>
                <a:ea typeface="Times New Roman"/>
                <a:cs typeface="Times New Roman"/>
                <a:sym typeface="Times New Roman"/>
              </a:rPr>
              <a:t>characteristics</a:t>
            </a:r>
            <a:r>
              <a:rPr lang="en" sz="1600">
                <a:solidFill>
                  <a:schemeClr val="lt1"/>
                </a:solidFill>
                <a:latin typeface="Times New Roman"/>
                <a:ea typeface="Times New Roman"/>
                <a:cs typeface="Times New Roman"/>
                <a:sym typeface="Times New Roman"/>
              </a:rPr>
              <a:t> to determine about a star</a:t>
            </a:r>
            <a:endParaRPr sz="16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lt1"/>
              </a:solidFill>
              <a:latin typeface="Times New Roman"/>
              <a:ea typeface="Times New Roman"/>
              <a:cs typeface="Times New Roman"/>
              <a:sym typeface="Times New Roman"/>
            </a:endParaRPr>
          </a:p>
          <a:p>
            <a:pPr indent="-330200" lvl="0" marL="457200" rtl="0" algn="l">
              <a:spcBef>
                <a:spcPts val="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Different masses (along with their evolutionary phases) can provide information on how fast </a:t>
            </a:r>
            <a:r>
              <a:rPr lang="en" sz="1600">
                <a:solidFill>
                  <a:schemeClr val="lt1"/>
                </a:solidFill>
                <a:latin typeface="Times New Roman"/>
                <a:ea typeface="Times New Roman"/>
                <a:cs typeface="Times New Roman"/>
                <a:sym typeface="Times New Roman"/>
              </a:rPr>
              <a:t>stars burn their fuel, giving </a:t>
            </a:r>
            <a:r>
              <a:rPr lang="en" sz="1600">
                <a:solidFill>
                  <a:schemeClr val="lt1"/>
                </a:solidFill>
                <a:latin typeface="Times New Roman"/>
                <a:ea typeface="Times New Roman"/>
                <a:cs typeface="Times New Roman"/>
                <a:sym typeface="Times New Roman"/>
              </a:rPr>
              <a:t>a huge constraint on stellar age </a:t>
            </a:r>
            <a:endParaRPr sz="16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sp>
        <p:nvSpPr>
          <p:cNvPr id="621" name="Google Shape;621;p64"/>
          <p:cNvSpPr txBox="1"/>
          <p:nvPr/>
        </p:nvSpPr>
        <p:spPr>
          <a:xfrm>
            <a:off x="228600" y="4597025"/>
            <a:ext cx="7907700" cy="31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rgbClr val="828282"/>
                </a:solidFill>
                <a:latin typeface="Times New Roman"/>
                <a:ea typeface="Times New Roman"/>
                <a:cs typeface="Times New Roman"/>
                <a:sym typeface="Times New Roman"/>
              </a:rPr>
              <a:t>Ness, M., Hogg, D. W., Rix, H.-W., Martig, M., Pinsonneault, M. H., &amp; Ho, A. Y. Q. (2016). Spectroscopic</a:t>
            </a:r>
            <a:endParaRPr sz="900">
              <a:solidFill>
                <a:srgbClr val="82828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900">
                <a:solidFill>
                  <a:srgbClr val="828282"/>
                </a:solidFill>
                <a:latin typeface="Times New Roman"/>
                <a:ea typeface="Times New Roman"/>
                <a:cs typeface="Times New Roman"/>
                <a:sym typeface="Times New Roman"/>
              </a:rPr>
              <a:t>determination of masses (and implied ages) for red giants. The Astrophysical Journal, 823(2), 114.</a:t>
            </a:r>
            <a:endParaRPr sz="900">
              <a:solidFill>
                <a:srgbClr val="82828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rgbClr val="828282"/>
              </a:solidFill>
              <a:highlight>
                <a:srgbClr val="F5F5F5"/>
              </a:highlight>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100">
              <a:solidFill>
                <a:srgbClr val="828282"/>
              </a:solidFill>
              <a:highlight>
                <a:srgbClr val="F5F5F5"/>
              </a:highlight>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
        <p:nvSpPr>
          <p:cNvPr id="622" name="Google Shape;622;p64"/>
          <p:cNvSpPr txBox="1"/>
          <p:nvPr/>
        </p:nvSpPr>
        <p:spPr>
          <a:xfrm>
            <a:off x="5178125" y="4597025"/>
            <a:ext cx="3925800" cy="48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900">
                <a:solidFill>
                  <a:srgbClr val="828282"/>
                </a:solidFill>
                <a:latin typeface="Times New Roman"/>
                <a:ea typeface="Times New Roman"/>
                <a:cs typeface="Times New Roman"/>
                <a:sym typeface="Times New Roman"/>
              </a:rPr>
              <a:t>Image credit: Rafael A.García (SAp CEA),Kyle Augustson (HAO), Jim Fuller (Caltech) &amp; Gabriel Pérez (SMM,IAC), Photograph from AIA/SDO.​</a:t>
            </a:r>
            <a:endParaRPr sz="900">
              <a:solidFill>
                <a:srgbClr val="828282"/>
              </a:solidFill>
              <a:latin typeface="Times New Roman"/>
              <a:ea typeface="Times New Roman"/>
              <a:cs typeface="Times New Roman"/>
              <a:sym typeface="Times New Roman"/>
            </a:endParaRPr>
          </a:p>
        </p:txBody>
      </p:sp>
      <p:pic>
        <p:nvPicPr>
          <p:cNvPr id="623" name="Google Shape;623;p64"/>
          <p:cNvPicPr preferRelativeResize="0"/>
          <p:nvPr/>
        </p:nvPicPr>
        <p:blipFill>
          <a:blip r:embed="rId4">
            <a:alphaModFix/>
          </a:blip>
          <a:stretch>
            <a:fillRect/>
          </a:stretch>
        </p:blipFill>
        <p:spPr>
          <a:xfrm>
            <a:off x="5034225" y="3594650"/>
            <a:ext cx="2293398" cy="482400"/>
          </a:xfrm>
          <a:prstGeom prst="rect">
            <a:avLst/>
          </a:prstGeom>
          <a:noFill/>
          <a:ln>
            <a:noFill/>
          </a:ln>
        </p:spPr>
      </p:pic>
      <p:sp>
        <p:nvSpPr>
          <p:cNvPr id="624" name="Google Shape;624;p64"/>
          <p:cNvSpPr txBox="1"/>
          <p:nvPr/>
        </p:nvSpPr>
        <p:spPr>
          <a:xfrm>
            <a:off x="319425" y="3836950"/>
            <a:ext cx="4714800" cy="5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Times New Roman"/>
                <a:ea typeface="Times New Roman"/>
                <a:cs typeface="Times New Roman"/>
                <a:sym typeface="Times New Roman"/>
              </a:rPr>
              <a:t>Can we use spectra to encode this information? </a:t>
            </a:r>
            <a:endParaRPr sz="1800">
              <a:solidFill>
                <a:schemeClr val="lt1"/>
              </a:solidFill>
              <a:latin typeface="Times New Roman"/>
              <a:ea typeface="Times New Roman"/>
              <a:cs typeface="Times New Roman"/>
              <a:sym typeface="Times New Roman"/>
            </a:endParaRPr>
          </a:p>
        </p:txBody>
      </p:sp>
      <p:pic>
        <p:nvPicPr>
          <p:cNvPr id="625" name="Google Shape;625;p64"/>
          <p:cNvPicPr preferRelativeResize="0"/>
          <p:nvPr/>
        </p:nvPicPr>
        <p:blipFill>
          <a:blip r:embed="rId5">
            <a:alphaModFix/>
          </a:blip>
          <a:stretch>
            <a:fillRect/>
          </a:stretch>
        </p:blipFill>
        <p:spPr>
          <a:xfrm>
            <a:off x="7653331" y="3594650"/>
            <a:ext cx="1262069" cy="482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65"/>
          <p:cNvSpPr txBox="1"/>
          <p:nvPr>
            <p:ph idx="3" type="subTitle"/>
          </p:nvPr>
        </p:nvSpPr>
        <p:spPr>
          <a:xfrm>
            <a:off x="320625" y="4912325"/>
            <a:ext cx="6733500" cy="236400"/>
          </a:xfrm>
          <a:prstGeom prst="rect">
            <a:avLst/>
          </a:prstGeom>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900">
                <a:solidFill>
                  <a:srgbClr val="828282"/>
                </a:solidFill>
                <a:latin typeface="Times New Roman"/>
                <a:ea typeface="Times New Roman"/>
                <a:cs typeface="Times New Roman"/>
                <a:sym typeface="Times New Roman"/>
              </a:rPr>
              <a:t>Masseron, T., &amp; Gilmore, G. (2015). “Carbon, nitrogen and α-element abundances determine the formation sequence of the Galactic thick and thin discs.” </a:t>
            </a:r>
            <a:r>
              <a:rPr i="1" lang="en" sz="900">
                <a:solidFill>
                  <a:srgbClr val="828282"/>
                </a:solidFill>
                <a:latin typeface="Times New Roman"/>
                <a:ea typeface="Times New Roman"/>
                <a:cs typeface="Times New Roman"/>
                <a:sym typeface="Times New Roman"/>
              </a:rPr>
              <a:t>Monthly Notices of the Royal Astronomical Society</a:t>
            </a:r>
            <a:r>
              <a:rPr lang="en" sz="900">
                <a:solidFill>
                  <a:srgbClr val="828282"/>
                </a:solidFill>
                <a:latin typeface="Times New Roman"/>
                <a:ea typeface="Times New Roman"/>
                <a:cs typeface="Times New Roman"/>
                <a:sym typeface="Times New Roman"/>
              </a:rPr>
              <a:t>, </a:t>
            </a:r>
            <a:r>
              <a:rPr b="1" lang="en" sz="900">
                <a:solidFill>
                  <a:srgbClr val="828282"/>
                </a:solidFill>
                <a:latin typeface="Times New Roman"/>
                <a:ea typeface="Times New Roman"/>
                <a:cs typeface="Times New Roman"/>
                <a:sym typeface="Times New Roman"/>
              </a:rPr>
              <a:t>453</a:t>
            </a:r>
            <a:r>
              <a:rPr lang="en" sz="900">
                <a:solidFill>
                  <a:srgbClr val="828282"/>
                </a:solidFill>
                <a:latin typeface="Times New Roman"/>
                <a:ea typeface="Times New Roman"/>
                <a:cs typeface="Times New Roman"/>
                <a:sym typeface="Times New Roman"/>
              </a:rPr>
              <a:t>(2), 1855–1866.</a:t>
            </a:r>
            <a:endParaRPr sz="900">
              <a:solidFill>
                <a:srgbClr val="828282"/>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631" name="Google Shape;631;p65"/>
          <p:cNvSpPr txBox="1"/>
          <p:nvPr>
            <p:ph type="title"/>
          </p:nvPr>
        </p:nvSpPr>
        <p:spPr>
          <a:xfrm>
            <a:off x="228600" y="305650"/>
            <a:ext cx="64914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Other Indicators and Methods </a:t>
            </a:r>
            <a:endParaRPr>
              <a:latin typeface="Times New Roman"/>
              <a:ea typeface="Times New Roman"/>
              <a:cs typeface="Times New Roman"/>
              <a:sym typeface="Times New Roman"/>
            </a:endParaRPr>
          </a:p>
        </p:txBody>
      </p:sp>
      <p:pic>
        <p:nvPicPr>
          <p:cNvPr id="632" name="Google Shape;632;p65"/>
          <p:cNvPicPr preferRelativeResize="0"/>
          <p:nvPr/>
        </p:nvPicPr>
        <p:blipFill>
          <a:blip r:embed="rId3">
            <a:alphaModFix/>
          </a:blip>
          <a:stretch>
            <a:fillRect/>
          </a:stretch>
        </p:blipFill>
        <p:spPr>
          <a:xfrm>
            <a:off x="2104248" y="2571748"/>
            <a:ext cx="5298815" cy="1874199"/>
          </a:xfrm>
          <a:prstGeom prst="rect">
            <a:avLst/>
          </a:prstGeom>
          <a:noFill/>
          <a:ln>
            <a:noFill/>
          </a:ln>
        </p:spPr>
      </p:pic>
      <p:sp>
        <p:nvSpPr>
          <p:cNvPr id="633" name="Google Shape;633;p65"/>
          <p:cNvSpPr txBox="1"/>
          <p:nvPr/>
        </p:nvSpPr>
        <p:spPr>
          <a:xfrm>
            <a:off x="339750" y="758150"/>
            <a:ext cx="8370600" cy="15972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lt1"/>
              </a:buClr>
              <a:buSzPts val="1800"/>
              <a:buFont typeface="Times New Roman"/>
              <a:buChar char="●"/>
            </a:pPr>
            <a:r>
              <a:rPr lang="en" sz="1800">
                <a:solidFill>
                  <a:srgbClr val="FFFFFF"/>
                </a:solidFill>
                <a:latin typeface="Times New Roman"/>
                <a:ea typeface="Times New Roman"/>
                <a:cs typeface="Times New Roman"/>
                <a:sym typeface="Times New Roman"/>
              </a:rPr>
              <a:t>Dredge-ups mix CN-processed material to the surface, lowering [C/N] over time</a:t>
            </a:r>
            <a:r>
              <a:rPr lang="e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rgbClr val="FFFFFF"/>
              </a:buClr>
              <a:buSzPts val="1800"/>
              <a:buFont typeface="Times New Roman"/>
              <a:buChar char="●"/>
            </a:pPr>
            <a:r>
              <a:rPr lang="en" sz="1800">
                <a:solidFill>
                  <a:srgbClr val="FFFFFF"/>
                </a:solidFill>
                <a:latin typeface="Times New Roman"/>
                <a:ea typeface="Times New Roman"/>
                <a:cs typeface="Times New Roman"/>
                <a:sym typeface="Times New Roman"/>
              </a:rPr>
              <a:t>Different evolutionary states will have different types of CN mixing due to things such as a helium flash </a:t>
            </a:r>
            <a:r>
              <a:rPr lang="e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lt1"/>
              </a:buClr>
              <a:buSzPts val="1800"/>
              <a:buFont typeface="Times New Roman"/>
              <a:buChar char="●"/>
            </a:pPr>
            <a:r>
              <a:rPr lang="en" sz="1800">
                <a:solidFill>
                  <a:srgbClr val="FFFFFF"/>
                </a:solidFill>
                <a:latin typeface="Times New Roman"/>
                <a:ea typeface="Times New Roman"/>
                <a:cs typeface="Times New Roman"/>
                <a:sym typeface="Times New Roman"/>
              </a:rPr>
              <a:t>Age can also be estimated through gyrochronology or isochrone fitting</a:t>
            </a:r>
            <a:r>
              <a:rPr lang="e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rgbClr val="FFFFFF"/>
              </a:buClr>
              <a:buSzPts val="1800"/>
              <a:buFont typeface="Times New Roman"/>
              <a:buChar char="●"/>
            </a:pPr>
            <a:r>
              <a:rPr lang="en" sz="1800">
                <a:solidFill>
                  <a:srgbClr val="FFFFFF"/>
                </a:solidFill>
                <a:latin typeface="Times New Roman"/>
                <a:ea typeface="Times New Roman"/>
                <a:cs typeface="Times New Roman"/>
                <a:sym typeface="Times New Roman"/>
              </a:rPr>
              <a:t>Asteroseismology is a better method, reducing uncertainty gaps that are up to 1-2 GYA</a:t>
            </a:r>
            <a:endParaRPr sz="1800">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66"/>
          <p:cNvSpPr txBox="1"/>
          <p:nvPr>
            <p:ph type="title"/>
          </p:nvPr>
        </p:nvSpPr>
        <p:spPr>
          <a:xfrm>
            <a:off x="228600" y="390175"/>
            <a:ext cx="42966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TheCannon</a:t>
            </a:r>
            <a:endParaRPr>
              <a:latin typeface="Times New Roman"/>
              <a:ea typeface="Times New Roman"/>
              <a:cs typeface="Times New Roman"/>
              <a:sym typeface="Times New Roman"/>
            </a:endParaRPr>
          </a:p>
        </p:txBody>
      </p:sp>
      <p:sp>
        <p:nvSpPr>
          <p:cNvPr id="639" name="Google Shape;639;p66"/>
          <p:cNvSpPr txBox="1"/>
          <p:nvPr>
            <p:ph idx="1" type="body"/>
          </p:nvPr>
        </p:nvSpPr>
        <p:spPr>
          <a:xfrm>
            <a:off x="228600" y="809100"/>
            <a:ext cx="4903500" cy="3525300"/>
          </a:xfrm>
          <a:prstGeom prst="rect">
            <a:avLst/>
          </a:prstGeom>
        </p:spPr>
        <p:txBody>
          <a:bodyPr anchorCtr="0" anchor="t" bIns="91425" lIns="0"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latin typeface="Times New Roman"/>
                <a:ea typeface="Times New Roman"/>
                <a:cs typeface="Times New Roman"/>
                <a:sym typeface="Times New Roman"/>
              </a:rPr>
              <a:t>TheCannon is a machine learning tool that can learn the</a:t>
            </a:r>
            <a:endParaRPr sz="15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500">
                <a:latin typeface="Times New Roman"/>
                <a:ea typeface="Times New Roman"/>
                <a:cs typeface="Times New Roman"/>
                <a:sym typeface="Times New Roman"/>
              </a:rPr>
              <a:t>relationship between a star's spectra and its known</a:t>
            </a:r>
            <a:endParaRPr sz="15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500">
                <a:latin typeface="Times New Roman"/>
                <a:ea typeface="Times New Roman"/>
                <a:cs typeface="Times New Roman"/>
                <a:sym typeface="Times New Roman"/>
              </a:rPr>
              <a:t>physical properties</a:t>
            </a:r>
            <a:endParaRPr sz="15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500">
                <a:latin typeface="Times New Roman"/>
                <a:ea typeface="Times New Roman"/>
                <a:cs typeface="Times New Roman"/>
                <a:sym typeface="Times New Roman"/>
              </a:rPr>
              <a:t>The training set is Kepler seismic data and APOGEE spectra</a:t>
            </a:r>
            <a:endParaRPr sz="15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5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500">
                <a:latin typeface="Times New Roman"/>
                <a:ea typeface="Times New Roman"/>
                <a:cs typeface="Times New Roman"/>
                <a:sym typeface="Times New Roman"/>
              </a:rPr>
              <a:t>Steps of use:</a:t>
            </a:r>
            <a:endParaRPr sz="1500">
              <a:latin typeface="Times New Roman"/>
              <a:ea typeface="Times New Roman"/>
              <a:cs typeface="Times New Roman"/>
              <a:sym typeface="Times New Roman"/>
            </a:endParaRPr>
          </a:p>
          <a:p>
            <a:pPr indent="-323850" lvl="0" marL="457200" rtl="0" algn="l">
              <a:spcBef>
                <a:spcPts val="0"/>
              </a:spcBef>
              <a:spcAft>
                <a:spcPts val="0"/>
              </a:spcAft>
              <a:buSzPts val="1500"/>
              <a:buFont typeface="Times New Roman"/>
              <a:buAutoNum type="arabicPeriod"/>
            </a:pPr>
            <a:r>
              <a:rPr lang="en" sz="1500">
                <a:latin typeface="Times New Roman"/>
                <a:ea typeface="Times New Roman"/>
                <a:cs typeface="Times New Roman"/>
                <a:sym typeface="Times New Roman"/>
              </a:rPr>
              <a:t>Get and format data</a:t>
            </a:r>
            <a:endParaRPr sz="1500">
              <a:latin typeface="Times New Roman"/>
              <a:ea typeface="Times New Roman"/>
              <a:cs typeface="Times New Roman"/>
              <a:sym typeface="Times New Roman"/>
            </a:endParaRPr>
          </a:p>
          <a:p>
            <a:pPr indent="-323850" lvl="0" marL="457200" rtl="0" algn="l">
              <a:spcBef>
                <a:spcPts val="0"/>
              </a:spcBef>
              <a:spcAft>
                <a:spcPts val="0"/>
              </a:spcAft>
              <a:buSzPts val="1500"/>
              <a:buFont typeface="Times New Roman"/>
              <a:buAutoNum type="arabicPeriod"/>
            </a:pPr>
            <a:r>
              <a:rPr lang="en" sz="1500">
                <a:latin typeface="Times New Roman"/>
                <a:ea typeface="Times New Roman"/>
                <a:cs typeface="Times New Roman"/>
                <a:sym typeface="Times New Roman"/>
              </a:rPr>
              <a:t>Use reference set to fit a spectral model (training)</a:t>
            </a:r>
            <a:endParaRPr sz="1500">
              <a:latin typeface="Times New Roman"/>
              <a:ea typeface="Times New Roman"/>
              <a:cs typeface="Times New Roman"/>
              <a:sym typeface="Times New Roman"/>
            </a:endParaRPr>
          </a:p>
          <a:p>
            <a:pPr indent="-323850" lvl="0" marL="457200" rtl="0" algn="l">
              <a:spcBef>
                <a:spcPts val="0"/>
              </a:spcBef>
              <a:spcAft>
                <a:spcPts val="0"/>
              </a:spcAft>
              <a:buSzPts val="1500"/>
              <a:buFont typeface="Times New Roman"/>
              <a:buAutoNum type="arabicPeriod"/>
            </a:pPr>
            <a:r>
              <a:rPr lang="en" sz="1500">
                <a:latin typeface="Times New Roman"/>
                <a:ea typeface="Times New Roman"/>
                <a:cs typeface="Times New Roman"/>
                <a:sym typeface="Times New Roman"/>
              </a:rPr>
              <a:t>Make sure the model is sensible, perform a leave-n-out cross-validation</a:t>
            </a:r>
            <a:endParaRPr sz="1500">
              <a:latin typeface="Times New Roman"/>
              <a:ea typeface="Times New Roman"/>
              <a:cs typeface="Times New Roman"/>
              <a:sym typeface="Times New Roman"/>
            </a:endParaRPr>
          </a:p>
          <a:p>
            <a:pPr indent="-323850" lvl="0" marL="457200" rtl="0" algn="l">
              <a:spcBef>
                <a:spcPts val="0"/>
              </a:spcBef>
              <a:spcAft>
                <a:spcPts val="0"/>
              </a:spcAft>
              <a:buSzPts val="1500"/>
              <a:buFont typeface="Times New Roman"/>
              <a:buAutoNum type="arabicPeriod"/>
            </a:pPr>
            <a:r>
              <a:rPr lang="en" sz="1500">
                <a:latin typeface="Times New Roman"/>
                <a:ea typeface="Times New Roman"/>
                <a:cs typeface="Times New Roman"/>
                <a:sym typeface="Times New Roman"/>
              </a:rPr>
              <a:t>Then use it to infer labels from all the other spectra in the dataset (testing)</a:t>
            </a:r>
            <a:endParaRPr sz="15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5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500">
                <a:latin typeface="Times New Roman"/>
                <a:ea typeface="Times New Roman"/>
                <a:cs typeface="Times New Roman"/>
                <a:sym typeface="Times New Roman"/>
              </a:rPr>
              <a:t>Once seismic masses are found for a few stars, those</a:t>
            </a:r>
            <a:endParaRPr sz="15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1500">
                <a:latin typeface="Times New Roman"/>
                <a:ea typeface="Times New Roman"/>
                <a:cs typeface="Times New Roman"/>
                <a:sym typeface="Times New Roman"/>
              </a:rPr>
              <a:t>stars can then train stars with no mass data</a:t>
            </a:r>
            <a:endParaRPr sz="15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t/>
            </a:r>
            <a:endParaRPr sz="1500">
              <a:latin typeface="Urbanist Medium"/>
              <a:ea typeface="Urbanist Medium"/>
              <a:cs typeface="Urbanist Medium"/>
              <a:sym typeface="Urbanist Medium"/>
            </a:endParaRPr>
          </a:p>
          <a:p>
            <a:pPr indent="0" lvl="0" marL="0" rtl="0" algn="l">
              <a:lnSpc>
                <a:spcPct val="115000"/>
              </a:lnSpc>
              <a:spcBef>
                <a:spcPts val="0"/>
              </a:spcBef>
              <a:spcAft>
                <a:spcPts val="800"/>
              </a:spcAft>
              <a:buNone/>
            </a:pPr>
            <a:r>
              <a:t/>
            </a:r>
            <a:endParaRPr sz="1500"/>
          </a:p>
        </p:txBody>
      </p:sp>
      <p:pic>
        <p:nvPicPr>
          <p:cNvPr descr="A diagram of a number of colored dots&#10;&#10;AI-generated content may be incorrect." id="640" name="Google Shape;640;p66"/>
          <p:cNvPicPr preferRelativeResize="0"/>
          <p:nvPr/>
        </p:nvPicPr>
        <p:blipFill>
          <a:blip r:embed="rId3">
            <a:alphaModFix/>
          </a:blip>
          <a:stretch>
            <a:fillRect/>
          </a:stretch>
        </p:blipFill>
        <p:spPr>
          <a:xfrm>
            <a:off x="5608351" y="228600"/>
            <a:ext cx="2962230" cy="2200125"/>
          </a:xfrm>
          <a:prstGeom prst="rect">
            <a:avLst/>
          </a:prstGeom>
          <a:noFill/>
          <a:ln>
            <a:noFill/>
          </a:ln>
        </p:spPr>
      </p:pic>
      <p:pic>
        <p:nvPicPr>
          <p:cNvPr id="641" name="Google Shape;641;p66"/>
          <p:cNvPicPr preferRelativeResize="0"/>
          <p:nvPr/>
        </p:nvPicPr>
        <p:blipFill>
          <a:blip r:embed="rId4">
            <a:alphaModFix/>
          </a:blip>
          <a:stretch>
            <a:fillRect/>
          </a:stretch>
        </p:blipFill>
        <p:spPr>
          <a:xfrm>
            <a:off x="5239750" y="2474975"/>
            <a:ext cx="3610476" cy="2200134"/>
          </a:xfrm>
          <a:prstGeom prst="rect">
            <a:avLst/>
          </a:prstGeom>
          <a:noFill/>
          <a:ln>
            <a:noFill/>
          </a:ln>
        </p:spPr>
      </p:pic>
      <p:sp>
        <p:nvSpPr>
          <p:cNvPr id="642" name="Google Shape;642;p66"/>
          <p:cNvSpPr txBox="1"/>
          <p:nvPr/>
        </p:nvSpPr>
        <p:spPr>
          <a:xfrm>
            <a:off x="300200" y="4675100"/>
            <a:ext cx="5780400" cy="26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828282"/>
                </a:solidFill>
                <a:latin typeface="Times New Roman"/>
                <a:ea typeface="Times New Roman"/>
                <a:cs typeface="Times New Roman"/>
                <a:sym typeface="Times New Roman"/>
              </a:rPr>
              <a:t>M. Martig et al. 2015 Red giant masses and ages derived from carbon and nitrogen abundances</a:t>
            </a:r>
            <a:r>
              <a:rPr lang="en" sz="900">
                <a:solidFill>
                  <a:schemeClr val="dk1"/>
                </a:solidFill>
              </a:rPr>
              <a:t> </a:t>
            </a:r>
            <a:endParaRPr sz="900">
              <a:solidFill>
                <a:schemeClr val="lt1"/>
              </a:solidFill>
              <a:latin typeface="Urbanist"/>
              <a:ea typeface="Urbanist"/>
              <a:cs typeface="Urbanist"/>
              <a:sym typeface="Urbanis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67"/>
          <p:cNvSpPr txBox="1"/>
          <p:nvPr>
            <p:ph type="title"/>
          </p:nvPr>
        </p:nvSpPr>
        <p:spPr>
          <a:xfrm>
            <a:off x="275400" y="353750"/>
            <a:ext cx="42966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latin typeface="Times New Roman"/>
                <a:ea typeface="Times New Roman"/>
                <a:cs typeface="Times New Roman"/>
                <a:sym typeface="Times New Roman"/>
              </a:rPr>
              <a:t>Goal of TheCannon</a:t>
            </a:r>
            <a:endParaRPr>
              <a:latin typeface="Times New Roman"/>
              <a:ea typeface="Times New Roman"/>
              <a:cs typeface="Times New Roman"/>
              <a:sym typeface="Times New Roman"/>
            </a:endParaRPr>
          </a:p>
        </p:txBody>
      </p:sp>
      <p:sp>
        <p:nvSpPr>
          <p:cNvPr id="648" name="Google Shape;648;p67"/>
          <p:cNvSpPr txBox="1"/>
          <p:nvPr/>
        </p:nvSpPr>
        <p:spPr>
          <a:xfrm>
            <a:off x="241500" y="837050"/>
            <a:ext cx="8567100" cy="1318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rgbClr val="FFFFFF"/>
                </a:solidFill>
                <a:latin typeface="Times New Roman"/>
                <a:ea typeface="Times New Roman"/>
                <a:cs typeface="Times New Roman"/>
                <a:sym typeface="Times New Roman"/>
              </a:rPr>
              <a:t>Spectra should therefore be able to encode information regarding the evolutionary states,  masses, and ages of stars </a:t>
            </a:r>
            <a:endParaRPr sz="1800">
              <a:solidFill>
                <a:srgbClr val="FFFFFF"/>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800">
                <a:solidFill>
                  <a:schemeClr val="dk1"/>
                </a:solidFill>
                <a:latin typeface="Times New Roman"/>
                <a:ea typeface="Times New Roman"/>
                <a:cs typeface="Times New Roman"/>
                <a:sym typeface="Times New Roman"/>
              </a:rPr>
              <a:t>​</a:t>
            </a:r>
            <a:endParaRPr sz="1800">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
        <p:nvSpPr>
          <p:cNvPr id="649" name="Google Shape;649;p67"/>
          <p:cNvSpPr txBox="1"/>
          <p:nvPr/>
        </p:nvSpPr>
        <p:spPr>
          <a:xfrm>
            <a:off x="3154650" y="1650000"/>
            <a:ext cx="3579000" cy="4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Times New Roman"/>
                <a:ea typeface="Times New Roman"/>
                <a:cs typeface="Times New Roman"/>
                <a:sym typeface="Times New Roman"/>
              </a:rPr>
              <a:t>Machine Learning Process </a:t>
            </a:r>
            <a:endParaRPr sz="2000">
              <a:solidFill>
                <a:schemeClr val="lt1"/>
              </a:solidFill>
              <a:latin typeface="Times New Roman"/>
              <a:ea typeface="Times New Roman"/>
              <a:cs typeface="Times New Roman"/>
              <a:sym typeface="Times New Roman"/>
            </a:endParaRPr>
          </a:p>
        </p:txBody>
      </p:sp>
      <p:sp>
        <p:nvSpPr>
          <p:cNvPr id="650" name="Google Shape;650;p67"/>
          <p:cNvSpPr/>
          <p:nvPr/>
        </p:nvSpPr>
        <p:spPr>
          <a:xfrm>
            <a:off x="338200" y="2297550"/>
            <a:ext cx="2307000" cy="1047600"/>
          </a:xfrm>
          <a:prstGeom prst="flowChartAlternateProcess">
            <a:avLst/>
          </a:prstGeom>
          <a:solidFill>
            <a:srgbClr val="3C78D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651" name="Google Shape;651;p67"/>
          <p:cNvSpPr/>
          <p:nvPr/>
        </p:nvSpPr>
        <p:spPr>
          <a:xfrm>
            <a:off x="6504050" y="3440350"/>
            <a:ext cx="2307000" cy="1047600"/>
          </a:xfrm>
          <a:prstGeom prst="flowChartAlternateProcess">
            <a:avLst/>
          </a:prstGeom>
          <a:solidFill>
            <a:srgbClr val="3C78D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652" name="Google Shape;652;p67"/>
          <p:cNvSpPr/>
          <p:nvPr/>
        </p:nvSpPr>
        <p:spPr>
          <a:xfrm>
            <a:off x="3391050" y="3425900"/>
            <a:ext cx="2307000" cy="1047600"/>
          </a:xfrm>
          <a:prstGeom prst="flowChartAlternateProcess">
            <a:avLst/>
          </a:prstGeom>
          <a:solidFill>
            <a:srgbClr val="3C78D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653" name="Google Shape;653;p67"/>
          <p:cNvSpPr/>
          <p:nvPr/>
        </p:nvSpPr>
        <p:spPr>
          <a:xfrm>
            <a:off x="338200" y="3440350"/>
            <a:ext cx="2307000" cy="1047600"/>
          </a:xfrm>
          <a:prstGeom prst="flowChartAlternateProcess">
            <a:avLst/>
          </a:prstGeom>
          <a:solidFill>
            <a:srgbClr val="3C78D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654" name="Google Shape;654;p67"/>
          <p:cNvSpPr/>
          <p:nvPr/>
        </p:nvSpPr>
        <p:spPr>
          <a:xfrm>
            <a:off x="3421125" y="2290325"/>
            <a:ext cx="2307000" cy="1047600"/>
          </a:xfrm>
          <a:prstGeom prst="flowChartAlternateProcess">
            <a:avLst/>
          </a:prstGeom>
          <a:solidFill>
            <a:srgbClr val="3C78D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655" name="Google Shape;655;p67"/>
          <p:cNvSpPr/>
          <p:nvPr/>
        </p:nvSpPr>
        <p:spPr>
          <a:xfrm>
            <a:off x="6504050" y="2297550"/>
            <a:ext cx="2307000" cy="1047600"/>
          </a:xfrm>
          <a:prstGeom prst="flowChartAlternateProcess">
            <a:avLst/>
          </a:prstGeom>
          <a:solidFill>
            <a:srgbClr val="3C78D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656" name="Google Shape;656;p67"/>
          <p:cNvSpPr/>
          <p:nvPr/>
        </p:nvSpPr>
        <p:spPr>
          <a:xfrm>
            <a:off x="2753600" y="2624675"/>
            <a:ext cx="492600" cy="365700"/>
          </a:xfrm>
          <a:prstGeom prst="rightArrow">
            <a:avLst>
              <a:gd fmla="val 50000" name="adj1"/>
              <a:gd fmla="val 50000" name="adj2"/>
            </a:avLst>
          </a:prstGeom>
          <a:solidFill>
            <a:srgbClr val="3C78D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657" name="Google Shape;657;p67"/>
          <p:cNvSpPr/>
          <p:nvPr/>
        </p:nvSpPr>
        <p:spPr>
          <a:xfrm>
            <a:off x="5885500" y="3743300"/>
            <a:ext cx="492600" cy="365700"/>
          </a:xfrm>
          <a:prstGeom prst="rightArrow">
            <a:avLst>
              <a:gd fmla="val 50000" name="adj1"/>
              <a:gd fmla="val 50000" name="adj2"/>
            </a:avLst>
          </a:prstGeom>
          <a:solidFill>
            <a:srgbClr val="3C78D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658" name="Google Shape;658;p67"/>
          <p:cNvSpPr/>
          <p:nvPr/>
        </p:nvSpPr>
        <p:spPr>
          <a:xfrm>
            <a:off x="2739425" y="3743300"/>
            <a:ext cx="492600" cy="365700"/>
          </a:xfrm>
          <a:prstGeom prst="rightArrow">
            <a:avLst>
              <a:gd fmla="val 50000" name="adj1"/>
              <a:gd fmla="val 50000" name="adj2"/>
            </a:avLst>
          </a:prstGeom>
          <a:solidFill>
            <a:srgbClr val="3C78D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659" name="Google Shape;659;p67"/>
          <p:cNvSpPr/>
          <p:nvPr/>
        </p:nvSpPr>
        <p:spPr>
          <a:xfrm>
            <a:off x="5885500" y="2624675"/>
            <a:ext cx="492600" cy="365700"/>
          </a:xfrm>
          <a:prstGeom prst="rightArrow">
            <a:avLst>
              <a:gd fmla="val 50000" name="adj1"/>
              <a:gd fmla="val 50000" name="adj2"/>
            </a:avLst>
          </a:prstGeom>
          <a:solidFill>
            <a:srgbClr val="3C78D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660" name="Google Shape;660;p67"/>
          <p:cNvSpPr txBox="1"/>
          <p:nvPr/>
        </p:nvSpPr>
        <p:spPr>
          <a:xfrm>
            <a:off x="423475" y="2439575"/>
            <a:ext cx="2155200" cy="73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Times New Roman"/>
                <a:ea typeface="Times New Roman"/>
                <a:cs typeface="Times New Roman"/>
                <a:sym typeface="Times New Roman"/>
              </a:rPr>
              <a:t>Training data with known spectral and seismic data </a:t>
            </a:r>
            <a:endParaRPr>
              <a:solidFill>
                <a:schemeClr val="lt1"/>
              </a:solidFill>
              <a:latin typeface="Times New Roman"/>
              <a:ea typeface="Times New Roman"/>
              <a:cs typeface="Times New Roman"/>
              <a:sym typeface="Times New Roman"/>
            </a:endParaRPr>
          </a:p>
        </p:txBody>
      </p:sp>
      <p:sp>
        <p:nvSpPr>
          <p:cNvPr id="661" name="Google Shape;661;p67"/>
          <p:cNvSpPr txBox="1"/>
          <p:nvPr/>
        </p:nvSpPr>
        <p:spPr>
          <a:xfrm>
            <a:off x="3350538" y="2394925"/>
            <a:ext cx="2430600" cy="695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a:solidFill>
                  <a:srgbClr val="FFFFFF"/>
                </a:solidFill>
                <a:latin typeface="Times New Roman"/>
                <a:ea typeface="Times New Roman"/>
                <a:cs typeface="Times New Roman"/>
                <a:sym typeface="Times New Roman"/>
              </a:rPr>
              <a:t>TheCannon fits a generative</a:t>
            </a:r>
            <a:endParaRPr>
              <a:solidFill>
                <a:srgbClr val="FFFFFF"/>
              </a:solidFill>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
                <a:solidFill>
                  <a:srgbClr val="FFFFFF"/>
                </a:solidFill>
                <a:latin typeface="Times New Roman"/>
                <a:ea typeface="Times New Roman"/>
                <a:cs typeface="Times New Roman"/>
                <a:sym typeface="Times New Roman"/>
              </a:rPr>
              <a:t>model, learning how each pixel</a:t>
            </a:r>
            <a:endParaRPr>
              <a:solidFill>
                <a:srgbClr val="FFFFFF"/>
              </a:solidFill>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
                <a:solidFill>
                  <a:srgbClr val="FFFFFF"/>
                </a:solidFill>
                <a:latin typeface="Times New Roman"/>
                <a:ea typeface="Times New Roman"/>
                <a:cs typeface="Times New Roman"/>
                <a:sym typeface="Times New Roman"/>
              </a:rPr>
              <a:t>fits each label</a:t>
            </a:r>
            <a:r>
              <a:rPr lang="e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lt1"/>
              </a:solidFill>
              <a:latin typeface="Urbanist"/>
              <a:ea typeface="Urbanist"/>
              <a:cs typeface="Urbanist"/>
              <a:sym typeface="Urbanist"/>
            </a:endParaRPr>
          </a:p>
        </p:txBody>
      </p:sp>
      <p:sp>
        <p:nvSpPr>
          <p:cNvPr id="662" name="Google Shape;662;p67"/>
          <p:cNvSpPr txBox="1"/>
          <p:nvPr/>
        </p:nvSpPr>
        <p:spPr>
          <a:xfrm>
            <a:off x="6659800" y="2489975"/>
            <a:ext cx="2030100" cy="735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a:solidFill>
                  <a:srgbClr val="FFFFFF"/>
                </a:solidFill>
                <a:latin typeface="Times New Roman"/>
                <a:ea typeface="Times New Roman"/>
                <a:cs typeface="Times New Roman"/>
                <a:sym typeface="Times New Roman"/>
              </a:rPr>
              <a:t>A new trained model is</a:t>
            </a:r>
            <a:endParaRPr>
              <a:solidFill>
                <a:srgbClr val="FFFFFF"/>
              </a:solidFill>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
                <a:solidFill>
                  <a:srgbClr val="FFFFFF"/>
                </a:solidFill>
                <a:latin typeface="Times New Roman"/>
                <a:ea typeface="Times New Roman"/>
                <a:cs typeface="Times New Roman"/>
                <a:sym typeface="Times New Roman"/>
              </a:rPr>
              <a:t>produced </a:t>
            </a:r>
            <a:r>
              <a:rPr lang="e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
        <p:nvSpPr>
          <p:cNvPr id="663" name="Google Shape;663;p67"/>
          <p:cNvSpPr txBox="1"/>
          <p:nvPr/>
        </p:nvSpPr>
        <p:spPr>
          <a:xfrm>
            <a:off x="476650" y="3574450"/>
            <a:ext cx="2030100" cy="779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a:solidFill>
                  <a:srgbClr val="FFFFFF"/>
                </a:solidFill>
                <a:latin typeface="Times New Roman"/>
                <a:ea typeface="Times New Roman"/>
                <a:cs typeface="Times New Roman"/>
                <a:sym typeface="Times New Roman"/>
              </a:rPr>
              <a:t>Data with unknown</a:t>
            </a:r>
            <a:endParaRPr>
              <a:solidFill>
                <a:srgbClr val="FFFFFF"/>
              </a:solidFill>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
                <a:solidFill>
                  <a:srgbClr val="FFFFFF"/>
                </a:solidFill>
                <a:latin typeface="Times New Roman"/>
                <a:ea typeface="Times New Roman"/>
                <a:cs typeface="Times New Roman"/>
                <a:sym typeface="Times New Roman"/>
              </a:rPr>
              <a:t>labels is introduced </a:t>
            </a:r>
            <a:r>
              <a:rPr lang="e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
        <p:nvSpPr>
          <p:cNvPr id="664" name="Google Shape;664;p67"/>
          <p:cNvSpPr txBox="1"/>
          <p:nvPr/>
        </p:nvSpPr>
        <p:spPr>
          <a:xfrm>
            <a:off x="3191163" y="3581750"/>
            <a:ext cx="2766900" cy="7359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a:solidFill>
                  <a:srgbClr val="FFFFFF"/>
                </a:solidFill>
                <a:latin typeface="Times New Roman"/>
                <a:ea typeface="Times New Roman"/>
                <a:cs typeface="Times New Roman"/>
                <a:sym typeface="Times New Roman"/>
              </a:rPr>
              <a:t>"Which labels best reproduce</a:t>
            </a:r>
            <a:endParaRPr>
              <a:solidFill>
                <a:srgbClr val="FFFFFF"/>
              </a:solidFill>
              <a:latin typeface="Times New Roman"/>
              <a:ea typeface="Times New Roman"/>
              <a:cs typeface="Times New Roman"/>
              <a:sym typeface="Times New Roman"/>
            </a:endParaRPr>
          </a:p>
          <a:p>
            <a:pPr indent="0" lvl="0" marL="0" rtl="0" algn="ctr">
              <a:lnSpc>
                <a:spcPct val="115000"/>
              </a:lnSpc>
              <a:spcBef>
                <a:spcPts val="0"/>
              </a:spcBef>
              <a:spcAft>
                <a:spcPts val="0"/>
              </a:spcAft>
              <a:buClr>
                <a:schemeClr val="dk1"/>
              </a:buClr>
              <a:buSzPts val="1100"/>
              <a:buFont typeface="Arial"/>
              <a:buNone/>
            </a:pPr>
            <a:r>
              <a:rPr lang="en">
                <a:solidFill>
                  <a:srgbClr val="FFFFFF"/>
                </a:solidFill>
                <a:latin typeface="Times New Roman"/>
                <a:ea typeface="Times New Roman"/>
                <a:cs typeface="Times New Roman"/>
                <a:sym typeface="Times New Roman"/>
              </a:rPr>
              <a:t>this star using the trained model?"</a:t>
            </a:r>
            <a:r>
              <a:rPr lang="e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lt1"/>
              </a:solidFill>
              <a:latin typeface="Urbanist"/>
              <a:ea typeface="Urbanist"/>
              <a:cs typeface="Urbanist"/>
              <a:sym typeface="Urbanist"/>
            </a:endParaRPr>
          </a:p>
        </p:txBody>
      </p:sp>
      <p:sp>
        <p:nvSpPr>
          <p:cNvPr id="665" name="Google Shape;665;p67"/>
          <p:cNvSpPr txBox="1"/>
          <p:nvPr/>
        </p:nvSpPr>
        <p:spPr>
          <a:xfrm>
            <a:off x="6679000" y="3560600"/>
            <a:ext cx="1991700" cy="824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a:solidFill>
                  <a:srgbClr val="FFFFFF"/>
                </a:solidFill>
                <a:latin typeface="Times New Roman"/>
                <a:ea typeface="Times New Roman"/>
                <a:cs typeface="Times New Roman"/>
                <a:sym typeface="Times New Roman"/>
              </a:rPr>
              <a:t>TheCannon infers new labels for this new data </a:t>
            </a:r>
            <a:r>
              <a:rPr lang="e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lt1"/>
              </a:solidFill>
              <a:latin typeface="Urbanist"/>
              <a:ea typeface="Urbanist"/>
              <a:cs typeface="Urbanist"/>
              <a:sym typeface="Urbanis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68"/>
          <p:cNvSpPr txBox="1"/>
          <p:nvPr>
            <p:ph idx="1" type="body"/>
          </p:nvPr>
        </p:nvSpPr>
        <p:spPr>
          <a:xfrm>
            <a:off x="148700" y="379313"/>
            <a:ext cx="5070600" cy="2136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Times New Roman"/>
                <a:ea typeface="Times New Roman"/>
                <a:cs typeface="Times New Roman"/>
                <a:sym typeface="Times New Roman"/>
              </a:rPr>
              <a:t>S</a:t>
            </a:r>
            <a:r>
              <a:rPr lang="en" sz="1500">
                <a:latin typeface="Times New Roman"/>
                <a:ea typeface="Times New Roman"/>
                <a:cs typeface="Times New Roman"/>
                <a:sym typeface="Times New Roman"/>
              </a:rPr>
              <a:t>ome of the 1-to-1 plots from TheCannon of labels that I chose to train it on to help constrain the label estimates of period spacing to be more accurate.</a:t>
            </a:r>
            <a:endParaRPr sz="1500">
              <a:latin typeface="Times New Roman"/>
              <a:ea typeface="Times New Roman"/>
              <a:cs typeface="Times New Roman"/>
              <a:sym typeface="Times New Roman"/>
            </a:endParaRPr>
          </a:p>
          <a:p>
            <a:pPr indent="0" lvl="0" marL="0" rtl="0" algn="l">
              <a:spcBef>
                <a:spcPts val="800"/>
              </a:spcBef>
              <a:spcAft>
                <a:spcPts val="0"/>
              </a:spcAft>
              <a:buNone/>
            </a:pPr>
            <a:r>
              <a:rPr lang="en" sz="1500">
                <a:latin typeface="Times New Roman"/>
                <a:ea typeface="Times New Roman"/>
                <a:cs typeface="Times New Roman"/>
                <a:sym typeface="Times New Roman"/>
              </a:rPr>
              <a:t>Trained on effective temperature, surface gravity (log scaled), and iron and magnesium ratio from the stars spectra. This is how well TheCannon predicted these labels.</a:t>
            </a:r>
            <a:endParaRPr sz="1500">
              <a:latin typeface="Times New Roman"/>
              <a:ea typeface="Times New Roman"/>
              <a:cs typeface="Times New Roman"/>
              <a:sym typeface="Times New Roman"/>
            </a:endParaRPr>
          </a:p>
          <a:p>
            <a:pPr indent="0" lvl="0" marL="0" rtl="0" algn="l">
              <a:spcBef>
                <a:spcPts val="800"/>
              </a:spcBef>
              <a:spcAft>
                <a:spcPts val="800"/>
              </a:spcAft>
              <a:buNone/>
            </a:pPr>
            <a:r>
              <a:t/>
            </a:r>
            <a:endParaRPr sz="1000">
              <a:latin typeface="Times New Roman"/>
              <a:ea typeface="Times New Roman"/>
              <a:cs typeface="Times New Roman"/>
              <a:sym typeface="Times New Roman"/>
            </a:endParaRPr>
          </a:p>
        </p:txBody>
      </p:sp>
      <p:pic>
        <p:nvPicPr>
          <p:cNvPr id="671" name="Google Shape;671;p68" title="Screenshot 2026-07-19 at 6.36.48 PM.png"/>
          <p:cNvPicPr preferRelativeResize="0"/>
          <p:nvPr>
            <p:ph idx="3" type="pic"/>
          </p:nvPr>
        </p:nvPicPr>
        <p:blipFill rotWithShape="1">
          <a:blip r:embed="rId3">
            <a:alphaModFix/>
          </a:blip>
          <a:srcRect b="0" l="2055" r="1447" t="5069"/>
          <a:stretch/>
        </p:blipFill>
        <p:spPr>
          <a:xfrm>
            <a:off x="5153894" y="434851"/>
            <a:ext cx="3616230" cy="2136900"/>
          </a:xfrm>
          <a:prstGeom prst="rect">
            <a:avLst/>
          </a:prstGeom>
        </p:spPr>
      </p:pic>
      <p:pic>
        <p:nvPicPr>
          <p:cNvPr id="672" name="Google Shape;672;p68" title="Screenshot 2026-07-19 at 6.37.38 PM.png"/>
          <p:cNvPicPr preferRelativeResize="0"/>
          <p:nvPr/>
        </p:nvPicPr>
        <p:blipFill rotWithShape="1">
          <a:blip r:embed="rId4">
            <a:alphaModFix/>
          </a:blip>
          <a:srcRect b="0" l="2913" r="0" t="4726"/>
          <a:stretch/>
        </p:blipFill>
        <p:spPr>
          <a:xfrm>
            <a:off x="5153900" y="2648232"/>
            <a:ext cx="3616223" cy="2126467"/>
          </a:xfrm>
          <a:prstGeom prst="rect">
            <a:avLst/>
          </a:prstGeom>
          <a:noFill/>
          <a:ln>
            <a:noFill/>
          </a:ln>
        </p:spPr>
      </p:pic>
      <p:pic>
        <p:nvPicPr>
          <p:cNvPr id="673" name="Google Shape;673;p68" title="Screenshot 2026-07-19 at 6.37.53 PM.png"/>
          <p:cNvPicPr preferRelativeResize="0"/>
          <p:nvPr/>
        </p:nvPicPr>
        <p:blipFill rotWithShape="1">
          <a:blip r:embed="rId5">
            <a:alphaModFix/>
          </a:blip>
          <a:srcRect b="0" l="1594" r="636" t="4707"/>
          <a:stretch/>
        </p:blipFill>
        <p:spPr>
          <a:xfrm>
            <a:off x="1312275" y="2731400"/>
            <a:ext cx="3502049" cy="2043300"/>
          </a:xfrm>
          <a:prstGeom prst="rect">
            <a:avLst/>
          </a:prstGeom>
          <a:noFill/>
          <a:ln>
            <a:noFill/>
          </a:ln>
        </p:spPr>
      </p:pic>
      <p:sp>
        <p:nvSpPr>
          <p:cNvPr id="674" name="Google Shape;674;p68"/>
          <p:cNvSpPr txBox="1"/>
          <p:nvPr>
            <p:ph idx="4294967295" type="title"/>
          </p:nvPr>
        </p:nvSpPr>
        <p:spPr>
          <a:xfrm>
            <a:off x="212100" y="-341925"/>
            <a:ext cx="4235400" cy="6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latin typeface="Times New Roman"/>
                <a:ea typeface="Times New Roman"/>
                <a:cs typeface="Times New Roman"/>
                <a:sym typeface="Times New Roman"/>
              </a:rPr>
              <a:t>Results </a:t>
            </a:r>
            <a:endParaRPr sz="3400">
              <a:latin typeface="Times New Roman"/>
              <a:ea typeface="Times New Roman"/>
              <a:cs typeface="Times New Roman"/>
              <a:sym typeface="Times New Roman"/>
            </a:endParaRPr>
          </a:p>
        </p:txBody>
      </p:sp>
      <p:sp>
        <p:nvSpPr>
          <p:cNvPr id="675" name="Google Shape;675;p68"/>
          <p:cNvSpPr txBox="1"/>
          <p:nvPr/>
        </p:nvSpPr>
        <p:spPr>
          <a:xfrm>
            <a:off x="5928609" y="1801500"/>
            <a:ext cx="11865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Reference Values</a:t>
            </a:r>
            <a:endParaRPr sz="800">
              <a:solidFill>
                <a:schemeClr val="dk1"/>
              </a:solidFill>
              <a:highlight>
                <a:schemeClr val="lt1"/>
              </a:highlight>
              <a:latin typeface="Times New Roman"/>
              <a:ea typeface="Times New Roman"/>
              <a:cs typeface="Times New Roman"/>
              <a:sym typeface="Times New Roman"/>
            </a:endParaRPr>
          </a:p>
        </p:txBody>
      </p:sp>
      <p:sp>
        <p:nvSpPr>
          <p:cNvPr id="676" name="Google Shape;676;p68"/>
          <p:cNvSpPr txBox="1"/>
          <p:nvPr/>
        </p:nvSpPr>
        <p:spPr>
          <a:xfrm rot="-5400000">
            <a:off x="4525775" y="840675"/>
            <a:ext cx="14109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Cannon Test Value</a:t>
            </a:r>
            <a:endParaRPr sz="800">
              <a:solidFill>
                <a:schemeClr val="dk1"/>
              </a:solidFill>
              <a:highlight>
                <a:schemeClr val="lt1"/>
              </a:highlight>
              <a:latin typeface="Times New Roman"/>
              <a:ea typeface="Times New Roman"/>
              <a:cs typeface="Times New Roman"/>
              <a:sym typeface="Times New Roman"/>
            </a:endParaRPr>
          </a:p>
        </p:txBody>
      </p:sp>
      <p:sp>
        <p:nvSpPr>
          <p:cNvPr id="677" name="Google Shape;677;p68"/>
          <p:cNvSpPr txBox="1"/>
          <p:nvPr/>
        </p:nvSpPr>
        <p:spPr>
          <a:xfrm>
            <a:off x="5759425" y="353550"/>
            <a:ext cx="16815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highlight>
                  <a:schemeClr val="lt1"/>
                </a:highlight>
                <a:latin typeface="Times New Roman"/>
                <a:ea typeface="Times New Roman"/>
                <a:cs typeface="Times New Roman"/>
                <a:sym typeface="Times New Roman"/>
              </a:rPr>
              <a:t>1-1 Plot of Label T_eff (K)</a:t>
            </a:r>
            <a:endParaRPr sz="900">
              <a:solidFill>
                <a:schemeClr val="dk1"/>
              </a:solidFill>
              <a:highlight>
                <a:schemeClr val="lt1"/>
              </a:highlight>
              <a:latin typeface="Times New Roman"/>
              <a:ea typeface="Times New Roman"/>
              <a:cs typeface="Times New Roman"/>
              <a:sym typeface="Times New Roman"/>
            </a:endParaRPr>
          </a:p>
        </p:txBody>
      </p:sp>
      <p:sp>
        <p:nvSpPr>
          <p:cNvPr id="678" name="Google Shape;678;p68"/>
          <p:cNvSpPr txBox="1"/>
          <p:nvPr/>
        </p:nvSpPr>
        <p:spPr>
          <a:xfrm>
            <a:off x="5652025" y="2571750"/>
            <a:ext cx="16815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highlight>
                  <a:schemeClr val="lt1"/>
                </a:highlight>
                <a:latin typeface="Times New Roman"/>
                <a:ea typeface="Times New Roman"/>
                <a:cs typeface="Times New Roman"/>
                <a:sym typeface="Times New Roman"/>
              </a:rPr>
              <a:t>1-1 Plot of Label Log g</a:t>
            </a:r>
            <a:endParaRPr sz="900">
              <a:solidFill>
                <a:schemeClr val="dk1"/>
              </a:solidFill>
              <a:highlight>
                <a:schemeClr val="lt1"/>
              </a:highlight>
              <a:latin typeface="Times New Roman"/>
              <a:ea typeface="Times New Roman"/>
              <a:cs typeface="Times New Roman"/>
              <a:sym typeface="Times New Roman"/>
            </a:endParaRPr>
          </a:p>
        </p:txBody>
      </p:sp>
      <p:sp>
        <p:nvSpPr>
          <p:cNvPr id="679" name="Google Shape;679;p68"/>
          <p:cNvSpPr txBox="1"/>
          <p:nvPr/>
        </p:nvSpPr>
        <p:spPr>
          <a:xfrm>
            <a:off x="5811384" y="4020550"/>
            <a:ext cx="11865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Reference Values</a:t>
            </a:r>
            <a:endParaRPr sz="800">
              <a:solidFill>
                <a:schemeClr val="dk1"/>
              </a:solidFill>
              <a:highlight>
                <a:schemeClr val="lt1"/>
              </a:highlight>
              <a:latin typeface="Times New Roman"/>
              <a:ea typeface="Times New Roman"/>
              <a:cs typeface="Times New Roman"/>
              <a:sym typeface="Times New Roman"/>
            </a:endParaRPr>
          </a:p>
        </p:txBody>
      </p:sp>
      <p:sp>
        <p:nvSpPr>
          <p:cNvPr id="680" name="Google Shape;680;p68"/>
          <p:cNvSpPr txBox="1"/>
          <p:nvPr/>
        </p:nvSpPr>
        <p:spPr>
          <a:xfrm rot="-5400000">
            <a:off x="4525775" y="3082825"/>
            <a:ext cx="14109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Cannon Test Value</a:t>
            </a:r>
            <a:endParaRPr sz="800">
              <a:solidFill>
                <a:schemeClr val="dk1"/>
              </a:solidFill>
              <a:highlight>
                <a:schemeClr val="lt1"/>
              </a:highlight>
              <a:latin typeface="Times New Roman"/>
              <a:ea typeface="Times New Roman"/>
              <a:cs typeface="Times New Roman"/>
              <a:sym typeface="Times New Roman"/>
            </a:endParaRPr>
          </a:p>
        </p:txBody>
      </p:sp>
      <p:sp>
        <p:nvSpPr>
          <p:cNvPr id="681" name="Google Shape;681;p68"/>
          <p:cNvSpPr txBox="1"/>
          <p:nvPr/>
        </p:nvSpPr>
        <p:spPr>
          <a:xfrm rot="-5400000">
            <a:off x="665500" y="3209850"/>
            <a:ext cx="14109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Cannon Test Value</a:t>
            </a:r>
            <a:endParaRPr sz="800">
              <a:solidFill>
                <a:schemeClr val="dk1"/>
              </a:solidFill>
              <a:highlight>
                <a:schemeClr val="lt1"/>
              </a:highlight>
              <a:latin typeface="Times New Roman"/>
              <a:ea typeface="Times New Roman"/>
              <a:cs typeface="Times New Roman"/>
              <a:sym typeface="Times New Roman"/>
            </a:endParaRPr>
          </a:p>
        </p:txBody>
      </p:sp>
      <p:sp>
        <p:nvSpPr>
          <p:cNvPr id="682" name="Google Shape;682;p68"/>
          <p:cNvSpPr txBox="1"/>
          <p:nvPr/>
        </p:nvSpPr>
        <p:spPr>
          <a:xfrm>
            <a:off x="1968159" y="4043250"/>
            <a:ext cx="11865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Reference Values</a:t>
            </a:r>
            <a:endParaRPr sz="800">
              <a:solidFill>
                <a:schemeClr val="dk1"/>
              </a:solidFill>
              <a:highlight>
                <a:schemeClr val="lt1"/>
              </a:highlight>
              <a:latin typeface="Times New Roman"/>
              <a:ea typeface="Times New Roman"/>
              <a:cs typeface="Times New Roman"/>
              <a:sym typeface="Times New Roman"/>
            </a:endParaRPr>
          </a:p>
        </p:txBody>
      </p:sp>
      <p:sp>
        <p:nvSpPr>
          <p:cNvPr id="683" name="Google Shape;683;p68"/>
          <p:cNvSpPr txBox="1"/>
          <p:nvPr/>
        </p:nvSpPr>
        <p:spPr>
          <a:xfrm>
            <a:off x="1843250" y="2648225"/>
            <a:ext cx="16815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highlight>
                  <a:schemeClr val="lt1"/>
                </a:highlight>
                <a:latin typeface="Times New Roman"/>
                <a:ea typeface="Times New Roman"/>
                <a:cs typeface="Times New Roman"/>
                <a:sym typeface="Times New Roman"/>
              </a:rPr>
              <a:t>1-1 Plot of Label [Fe/H]</a:t>
            </a:r>
            <a:endParaRPr sz="900">
              <a:solidFill>
                <a:schemeClr val="dk1"/>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69"/>
          <p:cNvSpPr txBox="1"/>
          <p:nvPr>
            <p:ph idx="4294967295" type="title"/>
          </p:nvPr>
        </p:nvSpPr>
        <p:spPr>
          <a:xfrm>
            <a:off x="212100" y="286700"/>
            <a:ext cx="4235400" cy="6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latin typeface="Times New Roman"/>
                <a:ea typeface="Times New Roman"/>
                <a:cs typeface="Times New Roman"/>
                <a:sym typeface="Times New Roman"/>
              </a:rPr>
              <a:t>Results </a:t>
            </a:r>
            <a:endParaRPr sz="3400">
              <a:latin typeface="Times New Roman"/>
              <a:ea typeface="Times New Roman"/>
              <a:cs typeface="Times New Roman"/>
              <a:sym typeface="Times New Roman"/>
            </a:endParaRPr>
          </a:p>
        </p:txBody>
      </p:sp>
      <p:sp>
        <p:nvSpPr>
          <p:cNvPr id="689" name="Google Shape;689;p69"/>
          <p:cNvSpPr txBox="1"/>
          <p:nvPr>
            <p:ph idx="2" type="subTitle"/>
          </p:nvPr>
        </p:nvSpPr>
        <p:spPr>
          <a:xfrm>
            <a:off x="228600" y="891800"/>
            <a:ext cx="3159300" cy="2274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latin typeface="Times New Roman"/>
                <a:ea typeface="Times New Roman"/>
                <a:cs typeface="Times New Roman"/>
                <a:sym typeface="Times New Roman"/>
              </a:rPr>
              <a:t>I was able to end up with an accurate model with the original cannon model where the separation between the RGB and RC stars being pretty evident and the histogram presenting like a gaussian. However the scattering of this one is bad.</a:t>
            </a:r>
            <a:endParaRPr sz="1800">
              <a:latin typeface="Times New Roman"/>
              <a:ea typeface="Times New Roman"/>
              <a:cs typeface="Times New Roman"/>
              <a:sym typeface="Times New Roman"/>
            </a:endParaRPr>
          </a:p>
        </p:txBody>
      </p:sp>
      <p:pic>
        <p:nvPicPr>
          <p:cNvPr id="690" name="Google Shape;690;p69" title="Screenshot 2026-04-30 at 11.56.10 AM.png"/>
          <p:cNvPicPr preferRelativeResize="0"/>
          <p:nvPr/>
        </p:nvPicPr>
        <p:blipFill rotWithShape="1">
          <a:blip r:embed="rId3">
            <a:alphaModFix/>
          </a:blip>
          <a:srcRect b="0" l="2229" r="0" t="0"/>
          <a:stretch/>
        </p:blipFill>
        <p:spPr>
          <a:xfrm>
            <a:off x="4282800" y="1206900"/>
            <a:ext cx="4441800" cy="2729700"/>
          </a:xfrm>
          <a:prstGeom prst="roundRect">
            <a:avLst>
              <a:gd fmla="val 16667" name="adj"/>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pic>
        <p:nvPicPr>
          <p:cNvPr id="695" name="Google Shape;695;p70" title="Screenshot 2026-04-30 at 11.56.10 AM.png"/>
          <p:cNvPicPr preferRelativeResize="0"/>
          <p:nvPr/>
        </p:nvPicPr>
        <p:blipFill rotWithShape="1">
          <a:blip r:embed="rId3">
            <a:alphaModFix/>
          </a:blip>
          <a:srcRect b="0" l="2229" r="0" t="0"/>
          <a:stretch/>
        </p:blipFill>
        <p:spPr>
          <a:xfrm>
            <a:off x="4282800" y="1206900"/>
            <a:ext cx="4441800" cy="2729700"/>
          </a:xfrm>
          <a:prstGeom prst="roundRect">
            <a:avLst>
              <a:gd fmla="val 16667" name="adj"/>
            </a:avLst>
          </a:prstGeom>
          <a:noFill/>
          <a:ln>
            <a:noFill/>
          </a:ln>
        </p:spPr>
      </p:pic>
      <p:sp>
        <p:nvSpPr>
          <p:cNvPr id="696" name="Google Shape;696;p70"/>
          <p:cNvSpPr txBox="1"/>
          <p:nvPr>
            <p:ph idx="4294967295" type="title"/>
          </p:nvPr>
        </p:nvSpPr>
        <p:spPr>
          <a:xfrm>
            <a:off x="212100" y="286700"/>
            <a:ext cx="4235400" cy="6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latin typeface="Times New Roman"/>
                <a:ea typeface="Times New Roman"/>
                <a:cs typeface="Times New Roman"/>
                <a:sym typeface="Times New Roman"/>
              </a:rPr>
              <a:t>Results </a:t>
            </a:r>
            <a:endParaRPr sz="3400">
              <a:latin typeface="Times New Roman"/>
              <a:ea typeface="Times New Roman"/>
              <a:cs typeface="Times New Roman"/>
              <a:sym typeface="Times New Roman"/>
            </a:endParaRPr>
          </a:p>
        </p:txBody>
      </p:sp>
      <p:sp>
        <p:nvSpPr>
          <p:cNvPr id="697" name="Google Shape;697;p70"/>
          <p:cNvSpPr txBox="1"/>
          <p:nvPr>
            <p:ph idx="2" type="subTitle"/>
          </p:nvPr>
        </p:nvSpPr>
        <p:spPr>
          <a:xfrm>
            <a:off x="228600" y="891800"/>
            <a:ext cx="3159300" cy="2274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800">
                <a:latin typeface="Times New Roman"/>
                <a:ea typeface="Times New Roman"/>
                <a:cs typeface="Times New Roman"/>
                <a:sym typeface="Times New Roman"/>
              </a:rPr>
              <a:t>I was able to end up with an accurate model with the original cannon model where the separation between the RGB and RC stars being pretty evident and the histogram presenting like a gaussian. However the scattering of this one is bad.</a:t>
            </a:r>
            <a:endParaRPr sz="1800">
              <a:latin typeface="Times New Roman"/>
              <a:ea typeface="Times New Roman"/>
              <a:cs typeface="Times New Roman"/>
              <a:sym typeface="Times New Roman"/>
            </a:endParaRPr>
          </a:p>
        </p:txBody>
      </p:sp>
      <p:sp>
        <p:nvSpPr>
          <p:cNvPr id="698" name="Google Shape;698;p70"/>
          <p:cNvSpPr/>
          <p:nvPr/>
        </p:nvSpPr>
        <p:spPr>
          <a:xfrm rot="-967">
            <a:off x="4572003" y="1781248"/>
            <a:ext cx="1066800" cy="538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Urbanist"/>
                <a:ea typeface="Urbanist"/>
                <a:cs typeface="Urbanist"/>
                <a:sym typeface="Urbanist"/>
              </a:rPr>
              <a:t>RC stars</a:t>
            </a:r>
            <a:endParaRPr>
              <a:solidFill>
                <a:schemeClr val="lt1"/>
              </a:solidFill>
              <a:latin typeface="Urbanist"/>
              <a:ea typeface="Urbanist"/>
              <a:cs typeface="Urbanist"/>
              <a:sym typeface="Urbanist"/>
            </a:endParaRPr>
          </a:p>
        </p:txBody>
      </p:sp>
      <p:sp>
        <p:nvSpPr>
          <p:cNvPr id="699" name="Google Shape;699;p70"/>
          <p:cNvSpPr/>
          <p:nvPr/>
        </p:nvSpPr>
        <p:spPr>
          <a:xfrm>
            <a:off x="3792240" y="2468051"/>
            <a:ext cx="1157700" cy="538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Urbanist"/>
                <a:ea typeface="Urbanist"/>
                <a:cs typeface="Urbanist"/>
                <a:sym typeface="Urbanist"/>
              </a:rPr>
              <a:t>RGB Stars</a:t>
            </a:r>
            <a:endParaRPr>
              <a:solidFill>
                <a:schemeClr val="lt1"/>
              </a:solidFill>
              <a:latin typeface="Urbanist"/>
              <a:ea typeface="Urbanist"/>
              <a:cs typeface="Urbanist"/>
              <a:sym typeface="Urbanis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71"/>
          <p:cNvSpPr txBox="1"/>
          <p:nvPr>
            <p:ph idx="4294967295" type="title"/>
          </p:nvPr>
        </p:nvSpPr>
        <p:spPr>
          <a:xfrm>
            <a:off x="259200" y="286700"/>
            <a:ext cx="3216000" cy="104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latin typeface="Times New Roman"/>
                <a:ea typeface="Times New Roman"/>
                <a:cs typeface="Times New Roman"/>
                <a:sym typeface="Times New Roman"/>
              </a:rPr>
              <a:t>Results Right After Training</a:t>
            </a:r>
            <a:endParaRPr sz="3400">
              <a:latin typeface="Times New Roman"/>
              <a:ea typeface="Times New Roman"/>
              <a:cs typeface="Times New Roman"/>
              <a:sym typeface="Times New Roman"/>
            </a:endParaRPr>
          </a:p>
        </p:txBody>
      </p:sp>
      <p:sp>
        <p:nvSpPr>
          <p:cNvPr id="705" name="Google Shape;705;p71"/>
          <p:cNvSpPr txBox="1"/>
          <p:nvPr>
            <p:ph idx="4294967295" type="subTitle"/>
          </p:nvPr>
        </p:nvSpPr>
        <p:spPr>
          <a:xfrm>
            <a:off x="306900" y="4794125"/>
            <a:ext cx="8436300" cy="23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None/>
            </a:pPr>
            <a:r>
              <a:rPr lang="en" sz="700">
                <a:solidFill>
                  <a:srgbClr val="FFFFFF"/>
                </a:solidFill>
                <a:latin typeface="Times New Roman"/>
                <a:ea typeface="Times New Roman"/>
                <a:cs typeface="Times New Roman"/>
                <a:sym typeface="Times New Roman"/>
              </a:rPr>
              <a:t>Hawkins, K., Ting, Y.-S., &amp; Rix, H.-W. (2017). Photospheric diagnostics of core helium burning in </a:t>
            </a:r>
            <a:r>
              <a:rPr lang="en" sz="700">
                <a:solidFill>
                  <a:srgbClr val="FFFFFF"/>
                </a:solidFill>
                <a:latin typeface="Times New Roman"/>
                <a:ea typeface="Times New Roman"/>
                <a:cs typeface="Times New Roman"/>
                <a:sym typeface="Times New Roman"/>
              </a:rPr>
              <a:t>giant stars</a:t>
            </a:r>
            <a:r>
              <a:rPr lang="en" sz="700">
                <a:solidFill>
                  <a:srgbClr val="FFFFFF"/>
                </a:solidFill>
                <a:latin typeface="Times New Roman"/>
                <a:ea typeface="Times New Roman"/>
                <a:cs typeface="Times New Roman"/>
                <a:sym typeface="Times New Roman"/>
              </a:rPr>
              <a:t>. arXiv e-prints, arXiv:1712.02405 (Accepted to The Astrophysical Journal). </a:t>
            </a:r>
            <a:endParaRPr sz="700">
              <a:solidFill>
                <a:srgbClr val="FFFFFF"/>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None/>
            </a:pPr>
            <a:r>
              <a:t/>
            </a:r>
            <a:endParaRPr sz="700"/>
          </a:p>
        </p:txBody>
      </p:sp>
      <p:sp>
        <p:nvSpPr>
          <p:cNvPr id="706" name="Google Shape;706;p71"/>
          <p:cNvSpPr txBox="1"/>
          <p:nvPr>
            <p:ph idx="4294967295" type="body"/>
          </p:nvPr>
        </p:nvSpPr>
        <p:spPr>
          <a:xfrm>
            <a:off x="228600" y="1334700"/>
            <a:ext cx="3520200" cy="3113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Times New Roman"/>
                <a:ea typeface="Times New Roman"/>
                <a:cs typeface="Times New Roman"/>
                <a:sym typeface="Times New Roman"/>
              </a:rPr>
              <a:t>I then tried to recreate a plot from Hawkins to see how well TheCannon model can predict the labels for period spacing. Unlike the the papers, TheCannon models our predictions a little less accurate as shown with how low some of the values for period spacing are.</a:t>
            </a:r>
            <a:endParaRPr sz="1500">
              <a:latin typeface="Times New Roman"/>
              <a:ea typeface="Times New Roman"/>
              <a:cs typeface="Times New Roman"/>
              <a:sym typeface="Times New Roman"/>
            </a:endParaRPr>
          </a:p>
          <a:p>
            <a:pPr indent="0" lvl="0" marL="0" rtl="0" algn="l">
              <a:spcBef>
                <a:spcPts val="800"/>
              </a:spcBef>
              <a:spcAft>
                <a:spcPts val="0"/>
              </a:spcAft>
              <a:buNone/>
            </a:pPr>
            <a:r>
              <a:rPr lang="en" sz="1500">
                <a:latin typeface="Times New Roman"/>
                <a:ea typeface="Times New Roman"/>
                <a:cs typeface="Times New Roman"/>
                <a:sym typeface="Times New Roman"/>
              </a:rPr>
              <a:t>Predicted RGB: 413   True num RGB: 582</a:t>
            </a:r>
            <a:endParaRPr sz="1500">
              <a:latin typeface="Times New Roman"/>
              <a:ea typeface="Times New Roman"/>
              <a:cs typeface="Times New Roman"/>
              <a:sym typeface="Times New Roman"/>
            </a:endParaRPr>
          </a:p>
          <a:p>
            <a:pPr indent="0" lvl="0" marL="0" rtl="0" algn="l">
              <a:spcBef>
                <a:spcPts val="800"/>
              </a:spcBef>
              <a:spcAft>
                <a:spcPts val="0"/>
              </a:spcAft>
              <a:buNone/>
            </a:pPr>
            <a:r>
              <a:rPr lang="en" sz="1500">
                <a:latin typeface="Times New Roman"/>
                <a:ea typeface="Times New Roman"/>
                <a:cs typeface="Times New Roman"/>
                <a:sym typeface="Times New Roman"/>
              </a:rPr>
              <a:t>Predicted RC: 944      True num RC: 840</a:t>
            </a:r>
            <a:endParaRPr sz="1500">
              <a:latin typeface="Times New Roman"/>
              <a:ea typeface="Times New Roman"/>
              <a:cs typeface="Times New Roman"/>
              <a:sym typeface="Times New Roman"/>
            </a:endParaRPr>
          </a:p>
          <a:p>
            <a:pPr indent="0" lvl="0" marL="0" rtl="0" algn="l">
              <a:spcBef>
                <a:spcPts val="800"/>
              </a:spcBef>
              <a:spcAft>
                <a:spcPts val="800"/>
              </a:spcAft>
              <a:buNone/>
            </a:pPr>
            <a:r>
              <a:rPr lang="en" sz="1500">
                <a:latin typeface="Times New Roman"/>
                <a:ea typeface="Times New Roman"/>
                <a:cs typeface="Times New Roman"/>
                <a:sym typeface="Times New Roman"/>
              </a:rPr>
              <a:t>169 under RGB and over 104 for RC</a:t>
            </a:r>
            <a:endParaRPr sz="1500">
              <a:latin typeface="Times New Roman"/>
              <a:ea typeface="Times New Roman"/>
              <a:cs typeface="Times New Roman"/>
              <a:sym typeface="Times New Roman"/>
            </a:endParaRPr>
          </a:p>
        </p:txBody>
      </p:sp>
      <p:pic>
        <p:nvPicPr>
          <p:cNvPr id="707" name="Google Shape;707;p71"/>
          <p:cNvPicPr preferRelativeResize="0"/>
          <p:nvPr/>
        </p:nvPicPr>
        <p:blipFill>
          <a:blip r:embed="rId3">
            <a:alphaModFix/>
          </a:blip>
          <a:stretch>
            <a:fillRect/>
          </a:stretch>
        </p:blipFill>
        <p:spPr>
          <a:xfrm>
            <a:off x="3811775" y="547313"/>
            <a:ext cx="5055889" cy="1995575"/>
          </a:xfrm>
          <a:prstGeom prst="rect">
            <a:avLst/>
          </a:prstGeom>
          <a:noFill/>
          <a:ln>
            <a:noFill/>
          </a:ln>
        </p:spPr>
      </p:pic>
      <p:pic>
        <p:nvPicPr>
          <p:cNvPr id="708" name="Google Shape;708;p71" title="Screenshot 2026-07-19 at 6.04.12 PM.png"/>
          <p:cNvPicPr preferRelativeResize="0"/>
          <p:nvPr/>
        </p:nvPicPr>
        <p:blipFill>
          <a:blip r:embed="rId4">
            <a:alphaModFix/>
          </a:blip>
          <a:stretch>
            <a:fillRect/>
          </a:stretch>
        </p:blipFill>
        <p:spPr>
          <a:xfrm>
            <a:off x="4122050" y="2600649"/>
            <a:ext cx="4435348" cy="19955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72"/>
          <p:cNvSpPr txBox="1"/>
          <p:nvPr>
            <p:ph idx="1" type="subTitle"/>
          </p:nvPr>
        </p:nvSpPr>
        <p:spPr>
          <a:xfrm>
            <a:off x="228600" y="1175800"/>
            <a:ext cx="3624300" cy="24639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a:latin typeface="Times New Roman"/>
                <a:ea typeface="Times New Roman"/>
                <a:cs typeface="Times New Roman"/>
                <a:sym typeface="Times New Roman"/>
              </a:rPr>
              <a:t>The spectral region area shows that the differences between RGB and RC stars lie mostly around molecular CN and CO line features. </a:t>
            </a:r>
            <a:endParaRPr>
              <a:latin typeface="Times New Roman"/>
              <a:ea typeface="Times New Roman"/>
              <a:cs typeface="Times New Roman"/>
              <a:sym typeface="Times New Roman"/>
            </a:endParaRPr>
          </a:p>
          <a:p>
            <a:pPr indent="-330200" lvl="0" marL="457200" rtl="0" algn="l">
              <a:lnSpc>
                <a:spcPct val="115000"/>
              </a:lnSpc>
              <a:spcBef>
                <a:spcPts val="0"/>
              </a:spcBef>
              <a:spcAft>
                <a:spcPts val="0"/>
              </a:spcAft>
              <a:buSzPts val="1600"/>
              <a:buFont typeface="Times New Roman"/>
              <a:buChar char="●"/>
            </a:pPr>
            <a:r>
              <a:rPr lang="en">
                <a:latin typeface="Times New Roman"/>
                <a:ea typeface="Times New Roman"/>
                <a:cs typeface="Times New Roman"/>
                <a:sym typeface="Times New Roman"/>
              </a:rPr>
              <a:t>Likely a result of extra mixing from the red giant branch bump to the helium flash causing RC stars to be lower in their carbon to nitrogen ratio compared to RGB stars of similar parameters.</a:t>
            </a:r>
            <a:endParaRPr>
              <a:latin typeface="Times New Roman"/>
              <a:ea typeface="Times New Roman"/>
              <a:cs typeface="Times New Roman"/>
              <a:sym typeface="Times New Roman"/>
            </a:endParaRPr>
          </a:p>
        </p:txBody>
      </p:sp>
      <p:sp>
        <p:nvSpPr>
          <p:cNvPr id="714" name="Google Shape;714;p72"/>
          <p:cNvSpPr txBox="1"/>
          <p:nvPr>
            <p:ph type="title"/>
          </p:nvPr>
        </p:nvSpPr>
        <p:spPr>
          <a:xfrm>
            <a:off x="228600" y="578175"/>
            <a:ext cx="6658800" cy="501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400">
                <a:latin typeface="Times New Roman"/>
                <a:ea typeface="Times New Roman"/>
                <a:cs typeface="Times New Roman"/>
                <a:sym typeface="Times New Roman"/>
              </a:rPr>
              <a:t>Why does this work?</a:t>
            </a:r>
            <a:endParaRPr sz="3400">
              <a:latin typeface="Times New Roman"/>
              <a:ea typeface="Times New Roman"/>
              <a:cs typeface="Times New Roman"/>
              <a:sym typeface="Times New Roman"/>
            </a:endParaRPr>
          </a:p>
        </p:txBody>
      </p:sp>
      <p:pic>
        <p:nvPicPr>
          <p:cNvPr id="715" name="Google Shape;715;p72" title="Screenshot 2026-07-17 at 1.51.19 PM.png"/>
          <p:cNvPicPr preferRelativeResize="0"/>
          <p:nvPr/>
        </p:nvPicPr>
        <p:blipFill>
          <a:blip r:embed="rId3">
            <a:alphaModFix/>
          </a:blip>
          <a:stretch>
            <a:fillRect/>
          </a:stretch>
        </p:blipFill>
        <p:spPr>
          <a:xfrm>
            <a:off x="4266875" y="2571750"/>
            <a:ext cx="4618249" cy="1977650"/>
          </a:xfrm>
          <a:prstGeom prst="rect">
            <a:avLst/>
          </a:prstGeom>
          <a:noFill/>
          <a:ln>
            <a:noFill/>
          </a:ln>
        </p:spPr>
      </p:pic>
      <p:pic>
        <p:nvPicPr>
          <p:cNvPr id="716" name="Google Shape;716;p72" title="Screenshot 2026-07-19 at 2.51.19 PM.png"/>
          <p:cNvPicPr preferRelativeResize="0"/>
          <p:nvPr/>
        </p:nvPicPr>
        <p:blipFill>
          <a:blip r:embed="rId4">
            <a:alphaModFix/>
          </a:blip>
          <a:stretch>
            <a:fillRect/>
          </a:stretch>
        </p:blipFill>
        <p:spPr>
          <a:xfrm>
            <a:off x="4236600" y="578174"/>
            <a:ext cx="4678802" cy="1825607"/>
          </a:xfrm>
          <a:prstGeom prst="rect">
            <a:avLst/>
          </a:prstGeom>
          <a:noFill/>
          <a:ln>
            <a:noFill/>
          </a:ln>
        </p:spPr>
      </p:pic>
      <p:sp>
        <p:nvSpPr>
          <p:cNvPr id="717" name="Google Shape;717;p72"/>
          <p:cNvSpPr txBox="1"/>
          <p:nvPr>
            <p:ph idx="2" type="subTitle"/>
          </p:nvPr>
        </p:nvSpPr>
        <p:spPr>
          <a:xfrm>
            <a:off x="353850" y="4912325"/>
            <a:ext cx="8436300" cy="236400"/>
          </a:xfrm>
          <a:prstGeom prst="rect">
            <a:avLst/>
          </a:prstGeom>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None/>
            </a:pPr>
            <a:r>
              <a:rPr lang="en">
                <a:solidFill>
                  <a:srgbClr val="FFFFFF"/>
                </a:solidFill>
                <a:latin typeface="Urbanist"/>
                <a:ea typeface="Urbanist"/>
                <a:cs typeface="Urbanist"/>
                <a:sym typeface="Urbanist"/>
              </a:rPr>
              <a:t>Hawkins, K., Ting, Y.-S., &amp; Rix, H.-W. (2017). Photospheric diagnostics of core helium burning in </a:t>
            </a:r>
            <a:r>
              <a:rPr lang="en">
                <a:solidFill>
                  <a:srgbClr val="FFFFFF"/>
                </a:solidFill>
                <a:latin typeface="Urbanist"/>
                <a:ea typeface="Urbanist"/>
                <a:cs typeface="Urbanist"/>
                <a:sym typeface="Urbanist"/>
              </a:rPr>
              <a:t>giant stars</a:t>
            </a:r>
            <a:r>
              <a:rPr lang="en">
                <a:solidFill>
                  <a:srgbClr val="FFFFFF"/>
                </a:solidFill>
                <a:latin typeface="Urbanist"/>
                <a:ea typeface="Urbanist"/>
                <a:cs typeface="Urbanist"/>
                <a:sym typeface="Urbanist"/>
              </a:rPr>
              <a:t>. arXiv e-prints, arXiv:1712.02405 (Accepted to The Astrophysical Journal). </a:t>
            </a:r>
            <a:endParaRPr>
              <a:solidFill>
                <a:srgbClr val="FFFFFF"/>
              </a:solidFill>
              <a:latin typeface="Urbanist"/>
              <a:ea typeface="Urbanist"/>
              <a:cs typeface="Urbanist"/>
              <a:sym typeface="Urbanist"/>
            </a:endParaRPr>
          </a:p>
          <a:p>
            <a:pPr indent="0" lvl="0" marL="0" rtl="0" algn="l">
              <a:spcBef>
                <a:spcPts val="0"/>
              </a:spcBef>
              <a:spcAft>
                <a:spcPts val="0"/>
              </a:spcAft>
              <a:buClr>
                <a:schemeClr val="dk1"/>
              </a:buClr>
              <a:buSzPts val="11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pic>
        <p:nvPicPr>
          <p:cNvPr id="722" name="Google Shape;722;p73"/>
          <p:cNvPicPr preferRelativeResize="0"/>
          <p:nvPr/>
        </p:nvPicPr>
        <p:blipFill>
          <a:blip r:embed="rId3">
            <a:alphaModFix/>
          </a:blip>
          <a:stretch>
            <a:fillRect/>
          </a:stretch>
        </p:blipFill>
        <p:spPr>
          <a:xfrm>
            <a:off x="-27025" y="0"/>
            <a:ext cx="9198048" cy="5143500"/>
          </a:xfrm>
          <a:prstGeom prst="rect">
            <a:avLst/>
          </a:prstGeom>
          <a:noFill/>
          <a:ln>
            <a:noFill/>
          </a:ln>
        </p:spPr>
      </p:pic>
      <p:sp>
        <p:nvSpPr>
          <p:cNvPr id="723" name="Google Shape;723;p73"/>
          <p:cNvSpPr/>
          <p:nvPr/>
        </p:nvSpPr>
        <p:spPr>
          <a:xfrm>
            <a:off x="280925" y="228600"/>
            <a:ext cx="3405900" cy="4541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724" name="Google Shape;724;p73"/>
          <p:cNvSpPr txBox="1"/>
          <p:nvPr>
            <p:ph type="title"/>
          </p:nvPr>
        </p:nvSpPr>
        <p:spPr>
          <a:xfrm>
            <a:off x="773675" y="350350"/>
            <a:ext cx="6658800" cy="920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4000">
                <a:latin typeface="Times New Roman"/>
                <a:ea typeface="Times New Roman"/>
                <a:cs typeface="Times New Roman"/>
                <a:sym typeface="Times New Roman"/>
              </a:rPr>
              <a:t>K2 Data </a:t>
            </a:r>
            <a:endParaRPr sz="4000">
              <a:latin typeface="Times New Roman"/>
              <a:ea typeface="Times New Roman"/>
              <a:cs typeface="Times New Roman"/>
              <a:sym typeface="Times New Roman"/>
            </a:endParaRPr>
          </a:p>
        </p:txBody>
      </p:sp>
      <p:sp>
        <p:nvSpPr>
          <p:cNvPr id="725" name="Google Shape;725;p73"/>
          <p:cNvSpPr txBox="1"/>
          <p:nvPr/>
        </p:nvSpPr>
        <p:spPr>
          <a:xfrm>
            <a:off x="78875" y="969725"/>
            <a:ext cx="3540600" cy="3483000"/>
          </a:xfrm>
          <a:prstGeom prst="rect">
            <a:avLst/>
          </a:prstGeom>
          <a:noFill/>
          <a:ln>
            <a:noFill/>
          </a:ln>
        </p:spPr>
        <p:txBody>
          <a:bodyPr anchorCtr="0" anchor="t" bIns="91425" lIns="91425" spcFirstLastPara="1" rIns="91425" wrap="square" tIns="91425">
            <a:noAutofit/>
          </a:bodyPr>
          <a:lstStyle/>
          <a:p>
            <a:pPr indent="-342900" lvl="0" marL="635000" rtl="0" algn="l">
              <a:lnSpc>
                <a:spcPct val="115000"/>
              </a:lnSpc>
              <a:spcBef>
                <a:spcPts val="0"/>
              </a:spcBef>
              <a:spcAft>
                <a:spcPts val="0"/>
              </a:spcAft>
              <a:buClr>
                <a:schemeClr val="lt1"/>
              </a:buClr>
              <a:buSzPts val="1800"/>
              <a:buFont typeface="Arial"/>
              <a:buChar char="●"/>
            </a:pPr>
            <a:r>
              <a:rPr lang="en" sz="1800">
                <a:solidFill>
                  <a:srgbClr val="FFFFFF"/>
                </a:solidFill>
                <a:latin typeface="Times New Roman"/>
                <a:ea typeface="Times New Roman"/>
                <a:cs typeface="Times New Roman"/>
                <a:sym typeface="Times New Roman"/>
              </a:rPr>
              <a:t>Kepler mission was repurposed into Kepler 2, using the pressure of sunlight to maintain observations of different fields along the ecliptic plane</a:t>
            </a:r>
            <a:r>
              <a:rPr lang="e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635000" rtl="0" algn="l">
              <a:lnSpc>
                <a:spcPct val="115000"/>
              </a:lnSpc>
              <a:spcBef>
                <a:spcPts val="0"/>
              </a:spcBef>
              <a:spcAft>
                <a:spcPts val="0"/>
              </a:spcAft>
              <a:buClr>
                <a:schemeClr val="lt1"/>
              </a:buClr>
              <a:buSzPts val="1800"/>
              <a:buFont typeface="Arial"/>
              <a:buChar char="●"/>
            </a:pPr>
            <a:r>
              <a:rPr lang="en" sz="1800">
                <a:solidFill>
                  <a:srgbClr val="FFFFFF"/>
                </a:solidFill>
                <a:latin typeface="Times New Roman"/>
                <a:ea typeface="Times New Roman"/>
                <a:cs typeface="Times New Roman"/>
                <a:sym typeface="Times New Roman"/>
              </a:rPr>
              <a:t>Would greatly increase training set size for asteroseismic data  </a:t>
            </a:r>
            <a:r>
              <a:rPr lang="e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lt1"/>
              </a:solidFill>
              <a:latin typeface="Urbanist"/>
              <a:ea typeface="Urbanist"/>
              <a:cs typeface="Urbanist"/>
              <a:sym typeface="Urbanist"/>
            </a:endParaRPr>
          </a:p>
        </p:txBody>
      </p:sp>
      <p:sp>
        <p:nvSpPr>
          <p:cNvPr id="726" name="Google Shape;726;p73"/>
          <p:cNvSpPr txBox="1"/>
          <p:nvPr/>
        </p:nvSpPr>
        <p:spPr>
          <a:xfrm>
            <a:off x="6492650" y="4843325"/>
            <a:ext cx="2705400" cy="2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FFFFFF"/>
                </a:solidFill>
                <a:latin typeface="Times New Roman"/>
                <a:ea typeface="Times New Roman"/>
                <a:cs typeface="Times New Roman"/>
                <a:sym typeface="Times New Roman"/>
              </a:rPr>
              <a:t>NASA/Ames Research Center/W. Stenzel/D. Rutter</a:t>
            </a:r>
            <a:r>
              <a:rPr lang="en" sz="900">
                <a:solidFill>
                  <a:schemeClr val="dk1"/>
                </a:solidFill>
                <a:latin typeface="Times New Roman"/>
                <a:ea typeface="Times New Roman"/>
                <a:cs typeface="Times New Roman"/>
                <a:sym typeface="Times New Roman"/>
              </a:rPr>
              <a:t>​</a:t>
            </a:r>
            <a:r>
              <a:rPr lang="en" sz="900">
                <a:solidFill>
                  <a:schemeClr val="dk1"/>
                </a:solidFill>
              </a:rPr>
              <a:t> </a:t>
            </a:r>
            <a:endParaRPr sz="900">
              <a:solidFill>
                <a:schemeClr val="lt1"/>
              </a:solidFill>
              <a:latin typeface="Urbanist"/>
              <a:ea typeface="Urbanist"/>
              <a:cs typeface="Urbanist"/>
              <a:sym typeface="Urbanis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74"/>
          <p:cNvSpPr txBox="1"/>
          <p:nvPr>
            <p:ph idx="4294967295" type="title"/>
          </p:nvPr>
        </p:nvSpPr>
        <p:spPr>
          <a:xfrm>
            <a:off x="111900" y="348925"/>
            <a:ext cx="4235400" cy="64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Times New Roman"/>
                <a:ea typeface="Times New Roman"/>
                <a:cs typeface="Times New Roman"/>
                <a:sym typeface="Times New Roman"/>
              </a:rPr>
              <a:t>Now going further</a:t>
            </a:r>
            <a:endParaRPr sz="3400">
              <a:solidFill>
                <a:schemeClr val="lt1"/>
              </a:solidFill>
              <a:latin typeface="Times New Roman"/>
              <a:ea typeface="Times New Roman"/>
              <a:cs typeface="Times New Roman"/>
              <a:sym typeface="Times New Roman"/>
            </a:endParaRPr>
          </a:p>
        </p:txBody>
      </p:sp>
      <p:sp>
        <p:nvSpPr>
          <p:cNvPr id="732" name="Google Shape;732;p74"/>
          <p:cNvSpPr txBox="1"/>
          <p:nvPr>
            <p:ph idx="2" type="subTitle"/>
          </p:nvPr>
        </p:nvSpPr>
        <p:spPr>
          <a:xfrm>
            <a:off x="228600" y="994525"/>
            <a:ext cx="3189000" cy="29838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600">
                <a:latin typeface="Times New Roman"/>
                <a:ea typeface="Times New Roman"/>
                <a:cs typeface="Times New Roman"/>
                <a:sym typeface="Times New Roman"/>
              </a:rPr>
              <a:t>W</a:t>
            </a:r>
            <a:r>
              <a:rPr lang="en" sz="1600">
                <a:latin typeface="Times New Roman"/>
                <a:ea typeface="Times New Roman"/>
                <a:cs typeface="Times New Roman"/>
                <a:sym typeface="Times New Roman"/>
              </a:rPr>
              <a:t>e plan to compare TheCannon’s predicted labels with the data that the K2 telescope found to see if TheCannon can predict these labels more accurately rather than a short (3 month long) observation mission. We can use our current model to check how well this works!</a:t>
            </a:r>
            <a:endParaRPr sz="1600">
              <a:latin typeface="Times New Roman"/>
              <a:ea typeface="Times New Roman"/>
              <a:cs typeface="Times New Roman"/>
              <a:sym typeface="Times New Roman"/>
            </a:endParaRPr>
          </a:p>
        </p:txBody>
      </p:sp>
      <p:sp>
        <p:nvSpPr>
          <p:cNvPr id="733" name="Google Shape;733;p74"/>
          <p:cNvSpPr txBox="1"/>
          <p:nvPr/>
        </p:nvSpPr>
        <p:spPr>
          <a:xfrm>
            <a:off x="300750" y="4741175"/>
            <a:ext cx="3857700" cy="4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latin typeface="Times New Roman"/>
                <a:ea typeface="Times New Roman"/>
                <a:cs typeface="Times New Roman"/>
                <a:sym typeface="Times New Roman"/>
              </a:rPr>
              <a:t>Cermak, A. (2026, January 5). </a:t>
            </a:r>
            <a:r>
              <a:rPr i="1" lang="en" sz="700">
                <a:solidFill>
                  <a:schemeClr val="dk2"/>
                </a:solidFill>
                <a:latin typeface="Times New Roman"/>
                <a:ea typeface="Times New Roman"/>
                <a:cs typeface="Times New Roman"/>
                <a:sym typeface="Times New Roman"/>
              </a:rPr>
              <a:t>Kepler / K2</a:t>
            </a:r>
            <a:r>
              <a:rPr lang="en" sz="700">
                <a:solidFill>
                  <a:schemeClr val="dk2"/>
                </a:solidFill>
                <a:latin typeface="Times New Roman"/>
                <a:ea typeface="Times New Roman"/>
                <a:cs typeface="Times New Roman"/>
                <a:sym typeface="Times New Roman"/>
              </a:rPr>
              <a:t>. NASA Science.</a:t>
            </a:r>
            <a:r>
              <a:rPr lang="en" sz="700">
                <a:solidFill>
                  <a:schemeClr val="dk2"/>
                </a:solidFill>
                <a:uFill>
                  <a:noFill/>
                </a:uFill>
                <a:latin typeface="Times New Roman"/>
                <a:ea typeface="Times New Roman"/>
                <a:cs typeface="Times New Roman"/>
                <a:sym typeface="Times New Roman"/>
                <a:hlinkClick r:id="rId3">
                  <a:extLst>
                    <a:ext uri="{A12FA001-AC4F-418D-AE19-62706E023703}">
                      <ahyp:hlinkClr val="tx"/>
                    </a:ext>
                  </a:extLst>
                </a:hlinkClick>
              </a:rPr>
              <a:t> </a:t>
            </a:r>
            <a:r>
              <a:rPr lang="en" sz="700" u="sng">
                <a:solidFill>
                  <a:schemeClr val="dk2"/>
                </a:solidFill>
                <a:latin typeface="Times New Roman"/>
                <a:ea typeface="Times New Roman"/>
                <a:cs typeface="Times New Roman"/>
                <a:sym typeface="Times New Roman"/>
                <a:hlinkClick r:id="rId4">
                  <a:extLst>
                    <a:ext uri="{A12FA001-AC4F-418D-AE19-62706E023703}">
                      <ahyp:hlinkClr val="tx"/>
                    </a:ext>
                  </a:extLst>
                </a:hlinkClick>
              </a:rPr>
              <a:t>https://science.nasa.gov/mission/kepler/</a:t>
            </a:r>
            <a:r>
              <a:rPr lang="en" sz="700">
                <a:solidFill>
                  <a:schemeClr val="dk2"/>
                </a:solidFill>
                <a:latin typeface="Times New Roman"/>
                <a:ea typeface="Times New Roman"/>
                <a:cs typeface="Times New Roman"/>
                <a:sym typeface="Times New Roman"/>
              </a:rPr>
              <a:t> </a:t>
            </a:r>
            <a:endParaRPr sz="700">
              <a:solidFill>
                <a:schemeClr val="dk2"/>
              </a:solidFill>
              <a:latin typeface="Times New Roman"/>
              <a:ea typeface="Times New Roman"/>
              <a:cs typeface="Times New Roman"/>
              <a:sym typeface="Times New Roman"/>
            </a:endParaRPr>
          </a:p>
        </p:txBody>
      </p:sp>
      <p:pic>
        <p:nvPicPr>
          <p:cNvPr descr="The First Year of Kepler's K2 Mission | Drew Ex Machina" id="734" name="Google Shape;734;p74"/>
          <p:cNvPicPr preferRelativeResize="0"/>
          <p:nvPr/>
        </p:nvPicPr>
        <p:blipFill>
          <a:blip r:embed="rId5">
            <a:alphaModFix/>
          </a:blip>
          <a:stretch>
            <a:fillRect/>
          </a:stretch>
        </p:blipFill>
        <p:spPr>
          <a:xfrm>
            <a:off x="3828300" y="1165188"/>
            <a:ext cx="5014500" cy="2813100"/>
          </a:xfrm>
          <a:prstGeom prst="roundRect">
            <a:avLst>
              <a:gd fmla="val 16667" name="adj"/>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pic>
        <p:nvPicPr>
          <p:cNvPr id="739" name="Google Shape;739;p75" title="Screenshot 2026-07-16 at 4.19.25 PM.png"/>
          <p:cNvPicPr preferRelativeResize="0"/>
          <p:nvPr/>
        </p:nvPicPr>
        <p:blipFill>
          <a:blip r:embed="rId3">
            <a:alphaModFix/>
          </a:blip>
          <a:stretch>
            <a:fillRect/>
          </a:stretch>
        </p:blipFill>
        <p:spPr>
          <a:xfrm>
            <a:off x="136786" y="943137"/>
            <a:ext cx="2827949" cy="2111976"/>
          </a:xfrm>
          <a:prstGeom prst="rect">
            <a:avLst/>
          </a:prstGeom>
          <a:noFill/>
          <a:ln>
            <a:noFill/>
          </a:ln>
        </p:spPr>
      </p:pic>
      <p:pic>
        <p:nvPicPr>
          <p:cNvPr id="740" name="Google Shape;740;p75" title="Screenshot 2026-07-16 at 4.19.38 PM.png"/>
          <p:cNvPicPr preferRelativeResize="0"/>
          <p:nvPr/>
        </p:nvPicPr>
        <p:blipFill>
          <a:blip r:embed="rId4">
            <a:alphaModFix/>
          </a:blip>
          <a:stretch>
            <a:fillRect/>
          </a:stretch>
        </p:blipFill>
        <p:spPr>
          <a:xfrm>
            <a:off x="3189137" y="944492"/>
            <a:ext cx="2827951" cy="2109270"/>
          </a:xfrm>
          <a:prstGeom prst="rect">
            <a:avLst/>
          </a:prstGeom>
          <a:noFill/>
          <a:ln>
            <a:noFill/>
          </a:ln>
        </p:spPr>
      </p:pic>
      <p:pic>
        <p:nvPicPr>
          <p:cNvPr id="741" name="Google Shape;741;p75" title="Screenshot 2026-07-16 at 4.19.49 PM.png"/>
          <p:cNvPicPr preferRelativeResize="0"/>
          <p:nvPr/>
        </p:nvPicPr>
        <p:blipFill>
          <a:blip r:embed="rId5">
            <a:alphaModFix/>
          </a:blip>
          <a:stretch>
            <a:fillRect/>
          </a:stretch>
        </p:blipFill>
        <p:spPr>
          <a:xfrm>
            <a:off x="6179263" y="945805"/>
            <a:ext cx="2827951" cy="2106634"/>
          </a:xfrm>
          <a:prstGeom prst="rect">
            <a:avLst/>
          </a:prstGeom>
          <a:noFill/>
          <a:ln>
            <a:noFill/>
          </a:ln>
        </p:spPr>
      </p:pic>
      <p:sp>
        <p:nvSpPr>
          <p:cNvPr id="742" name="Google Shape;742;p75"/>
          <p:cNvSpPr txBox="1"/>
          <p:nvPr>
            <p:ph idx="4294967295" type="title"/>
          </p:nvPr>
        </p:nvSpPr>
        <p:spPr>
          <a:xfrm>
            <a:off x="228600" y="228600"/>
            <a:ext cx="4873800" cy="104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400">
                <a:latin typeface="Times New Roman"/>
                <a:ea typeface="Times New Roman"/>
                <a:cs typeface="Times New Roman"/>
                <a:sym typeface="Times New Roman"/>
              </a:rPr>
              <a:t>Results with new data </a:t>
            </a:r>
            <a:endParaRPr sz="3400">
              <a:latin typeface="Times New Roman"/>
              <a:ea typeface="Times New Roman"/>
              <a:cs typeface="Times New Roman"/>
              <a:sym typeface="Times New Roman"/>
            </a:endParaRPr>
          </a:p>
        </p:txBody>
      </p:sp>
      <p:sp>
        <p:nvSpPr>
          <p:cNvPr id="743" name="Google Shape;743;p75"/>
          <p:cNvSpPr txBox="1"/>
          <p:nvPr>
            <p:ph idx="4294967295" type="body"/>
          </p:nvPr>
        </p:nvSpPr>
        <p:spPr>
          <a:xfrm>
            <a:off x="136788" y="3159525"/>
            <a:ext cx="2800200" cy="1391400"/>
          </a:xfrm>
          <a:prstGeom prst="rect">
            <a:avLst/>
          </a:prstGeom>
        </p:spPr>
        <p:txBody>
          <a:bodyPr anchorCtr="0" anchor="t" bIns="91425" lIns="91425" spcFirstLastPara="1" rIns="91425" wrap="square" tIns="91425">
            <a:spAutoFit/>
          </a:bodyPr>
          <a:lstStyle/>
          <a:p>
            <a:pPr indent="0" lvl="0" marL="0" rtl="0" algn="l">
              <a:spcBef>
                <a:spcPts val="0"/>
              </a:spcBef>
              <a:spcAft>
                <a:spcPts val="800"/>
              </a:spcAft>
              <a:buNone/>
            </a:pPr>
            <a:r>
              <a:rPr lang="en" sz="1400">
                <a:latin typeface="Times New Roman"/>
                <a:ea typeface="Times New Roman"/>
                <a:cs typeface="Times New Roman"/>
                <a:sym typeface="Times New Roman"/>
              </a:rPr>
              <a:t>Histogram over effective temperature and the number of stars. This shows us that the model can predict the temperature of the stars and it’s what we would expect.</a:t>
            </a:r>
            <a:endParaRPr sz="1400">
              <a:latin typeface="Times New Roman"/>
              <a:ea typeface="Times New Roman"/>
              <a:cs typeface="Times New Roman"/>
              <a:sym typeface="Times New Roman"/>
            </a:endParaRPr>
          </a:p>
        </p:txBody>
      </p:sp>
      <p:sp>
        <p:nvSpPr>
          <p:cNvPr id="744" name="Google Shape;744;p75"/>
          <p:cNvSpPr txBox="1"/>
          <p:nvPr/>
        </p:nvSpPr>
        <p:spPr>
          <a:xfrm>
            <a:off x="3159238" y="3159525"/>
            <a:ext cx="2861100" cy="184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lt1"/>
                </a:solidFill>
                <a:latin typeface="Times New Roman"/>
                <a:ea typeface="Times New Roman"/>
                <a:cs typeface="Times New Roman"/>
                <a:sym typeface="Times New Roman"/>
              </a:rPr>
              <a:t>Histogram over surface gravity and the number of stars. This tells us that the model can predict the surface gravity of the star quiet well. (too high, need no more than 3.5~3.4) (plot good in gray and bad in color on an hr plot)</a:t>
            </a:r>
            <a:endParaRPr>
              <a:solidFill>
                <a:schemeClr val="lt1"/>
              </a:solidFill>
              <a:latin typeface="Times New Roman"/>
              <a:ea typeface="Times New Roman"/>
              <a:cs typeface="Times New Roman"/>
              <a:sym typeface="Times New Roman"/>
            </a:endParaRPr>
          </a:p>
        </p:txBody>
      </p:sp>
      <p:sp>
        <p:nvSpPr>
          <p:cNvPr id="745" name="Google Shape;745;p75"/>
          <p:cNvSpPr txBox="1"/>
          <p:nvPr/>
        </p:nvSpPr>
        <p:spPr>
          <a:xfrm>
            <a:off x="6181663" y="3159525"/>
            <a:ext cx="2800200" cy="172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800"/>
              </a:spcAft>
              <a:buNone/>
            </a:pPr>
            <a:r>
              <a:rPr lang="en">
                <a:solidFill>
                  <a:schemeClr val="lt1"/>
                </a:solidFill>
                <a:latin typeface="Times New Roman"/>
                <a:ea typeface="Times New Roman"/>
                <a:cs typeface="Times New Roman"/>
                <a:sym typeface="Times New Roman"/>
              </a:rPr>
              <a:t>This histogram shows the different period spacing vs the number of stars and with so many stars located in a negative range of period spacing this tells us that this data set does not just contain RGB or RC stars</a:t>
            </a:r>
            <a:endParaRPr>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76"/>
          <p:cNvSpPr txBox="1"/>
          <p:nvPr>
            <p:ph type="title"/>
          </p:nvPr>
        </p:nvSpPr>
        <p:spPr>
          <a:xfrm>
            <a:off x="228600" y="126000"/>
            <a:ext cx="6658800" cy="66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4000">
                <a:latin typeface="Times New Roman"/>
                <a:ea typeface="Times New Roman"/>
                <a:cs typeface="Times New Roman"/>
                <a:sym typeface="Times New Roman"/>
              </a:rPr>
              <a:t>Issues with Previous Model </a:t>
            </a:r>
            <a:endParaRPr sz="4000">
              <a:latin typeface="Times New Roman"/>
              <a:ea typeface="Times New Roman"/>
              <a:cs typeface="Times New Roman"/>
              <a:sym typeface="Times New Roman"/>
            </a:endParaRPr>
          </a:p>
        </p:txBody>
      </p:sp>
      <p:pic>
        <p:nvPicPr>
          <p:cNvPr id="751" name="Google Shape;751;p76"/>
          <p:cNvPicPr preferRelativeResize="0"/>
          <p:nvPr/>
        </p:nvPicPr>
        <p:blipFill>
          <a:blip r:embed="rId3">
            <a:alphaModFix/>
          </a:blip>
          <a:stretch>
            <a:fillRect/>
          </a:stretch>
        </p:blipFill>
        <p:spPr>
          <a:xfrm>
            <a:off x="4989124" y="672263"/>
            <a:ext cx="3085000" cy="2446276"/>
          </a:xfrm>
          <a:prstGeom prst="rect">
            <a:avLst/>
          </a:prstGeom>
          <a:noFill/>
          <a:ln>
            <a:noFill/>
          </a:ln>
        </p:spPr>
      </p:pic>
      <p:pic>
        <p:nvPicPr>
          <p:cNvPr id="752" name="Google Shape;752;p76"/>
          <p:cNvPicPr preferRelativeResize="0"/>
          <p:nvPr/>
        </p:nvPicPr>
        <p:blipFill>
          <a:blip r:embed="rId4">
            <a:alphaModFix/>
          </a:blip>
          <a:stretch>
            <a:fillRect/>
          </a:stretch>
        </p:blipFill>
        <p:spPr>
          <a:xfrm>
            <a:off x="228600" y="746825"/>
            <a:ext cx="3369625" cy="1968210"/>
          </a:xfrm>
          <a:prstGeom prst="rect">
            <a:avLst/>
          </a:prstGeom>
          <a:noFill/>
          <a:ln>
            <a:noFill/>
          </a:ln>
        </p:spPr>
      </p:pic>
      <p:sp>
        <p:nvSpPr>
          <p:cNvPr id="753" name="Google Shape;753;p76"/>
          <p:cNvSpPr txBox="1"/>
          <p:nvPr/>
        </p:nvSpPr>
        <p:spPr>
          <a:xfrm>
            <a:off x="255531" y="933932"/>
            <a:ext cx="1961700" cy="1961700"/>
          </a:xfrm>
          <a:prstGeom prst="rect">
            <a:avLst/>
          </a:prstGeom>
          <a:noFill/>
          <a:ln>
            <a:noFill/>
          </a:ln>
        </p:spPr>
        <p:txBody>
          <a:bodyPr anchorCtr="0" anchor="ctr" bIns="59775" lIns="59775" spcFirstLastPara="1" rIns="59775" wrap="square" tIns="59775">
            <a:noAutofit/>
          </a:bodyPr>
          <a:lstStyle/>
          <a:p>
            <a:pPr indent="0" lvl="0" marL="0" rtl="0" algn="l">
              <a:spcBef>
                <a:spcPts val="0"/>
              </a:spcBef>
              <a:spcAft>
                <a:spcPts val="0"/>
              </a:spcAft>
              <a:buNone/>
            </a:pPr>
            <a:r>
              <a:rPr lang="en" sz="915"/>
              <a:t>  </a:t>
            </a:r>
            <a:endParaRPr sz="915"/>
          </a:p>
        </p:txBody>
      </p:sp>
      <p:pic>
        <p:nvPicPr>
          <p:cNvPr id="754" name="Google Shape;754;p76"/>
          <p:cNvPicPr preferRelativeResize="0"/>
          <p:nvPr/>
        </p:nvPicPr>
        <p:blipFill>
          <a:blip r:embed="rId5">
            <a:alphaModFix/>
          </a:blip>
          <a:stretch>
            <a:fillRect/>
          </a:stretch>
        </p:blipFill>
        <p:spPr>
          <a:xfrm>
            <a:off x="228600" y="2938555"/>
            <a:ext cx="3369625" cy="1976278"/>
          </a:xfrm>
          <a:prstGeom prst="rect">
            <a:avLst/>
          </a:prstGeom>
          <a:noFill/>
          <a:ln>
            <a:noFill/>
          </a:ln>
        </p:spPr>
      </p:pic>
      <p:sp>
        <p:nvSpPr>
          <p:cNvPr id="755" name="Google Shape;755;p76"/>
          <p:cNvSpPr txBox="1"/>
          <p:nvPr/>
        </p:nvSpPr>
        <p:spPr>
          <a:xfrm>
            <a:off x="304429" y="3099421"/>
            <a:ext cx="1492800" cy="1492800"/>
          </a:xfrm>
          <a:prstGeom prst="rect">
            <a:avLst/>
          </a:prstGeom>
          <a:noFill/>
          <a:ln>
            <a:noFill/>
          </a:ln>
        </p:spPr>
        <p:txBody>
          <a:bodyPr anchorCtr="0" anchor="ctr" bIns="45500" lIns="45500" spcFirstLastPara="1" rIns="45500" wrap="square" tIns="45500">
            <a:noAutofit/>
          </a:bodyPr>
          <a:lstStyle/>
          <a:p>
            <a:pPr indent="0" lvl="0" marL="0" rtl="0" algn="l">
              <a:spcBef>
                <a:spcPts val="0"/>
              </a:spcBef>
              <a:spcAft>
                <a:spcPts val="0"/>
              </a:spcAft>
              <a:buNone/>
            </a:pPr>
            <a:r>
              <a:rPr lang="en" sz="697"/>
              <a:t>  </a:t>
            </a:r>
            <a:endParaRPr sz="697"/>
          </a:p>
        </p:txBody>
      </p:sp>
      <p:sp>
        <p:nvSpPr>
          <p:cNvPr id="756" name="Google Shape;756;p76"/>
          <p:cNvSpPr txBox="1"/>
          <p:nvPr/>
        </p:nvSpPr>
        <p:spPr>
          <a:xfrm>
            <a:off x="4081325" y="3149975"/>
            <a:ext cx="4762500" cy="14424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lt1"/>
              </a:buClr>
              <a:buSzPts val="1400"/>
              <a:buFont typeface="Times New Roman"/>
              <a:buChar char="●"/>
            </a:pPr>
            <a:r>
              <a:rPr lang="en">
                <a:solidFill>
                  <a:srgbClr val="FFFFFF"/>
                </a:solidFill>
                <a:latin typeface="Times New Roman"/>
                <a:ea typeface="Times New Roman"/>
                <a:cs typeface="Times New Roman"/>
                <a:sym typeface="Times New Roman"/>
              </a:rPr>
              <a:t>Model was previously training on the same set of stars</a:t>
            </a:r>
            <a:r>
              <a:rPr lang="e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lt1"/>
              </a:buClr>
              <a:buSzPts val="1400"/>
              <a:buFont typeface="Times New Roman"/>
              <a:buChar char="●"/>
            </a:pPr>
            <a:r>
              <a:rPr lang="en">
                <a:solidFill>
                  <a:srgbClr val="FFFFFF"/>
                </a:solidFill>
                <a:latin typeface="Times New Roman"/>
                <a:ea typeface="Times New Roman"/>
                <a:cs typeface="Times New Roman"/>
                <a:sym typeface="Times New Roman"/>
              </a:rPr>
              <a:t>Fundamental issues when trying to apply the Kepler data </a:t>
            </a:r>
            <a:r>
              <a:rPr lang="e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lt1"/>
              </a:buClr>
              <a:buSzPts val="1400"/>
              <a:buFont typeface="Times New Roman"/>
              <a:buChar char="●"/>
            </a:pPr>
            <a:r>
              <a:rPr lang="en">
                <a:solidFill>
                  <a:srgbClr val="FFFFFF"/>
                </a:solidFill>
                <a:latin typeface="Times New Roman"/>
                <a:ea typeface="Times New Roman"/>
                <a:cs typeface="Times New Roman"/>
                <a:sym typeface="Times New Roman"/>
              </a:rPr>
              <a:t>20% of each evolutionary class used test set and not used during training and found scatter/bias on it to get an honest estimate </a:t>
            </a:r>
            <a:endParaRPr>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lt1"/>
              </a:solidFill>
              <a:latin typeface="Urbanist"/>
              <a:ea typeface="Urbanist"/>
              <a:cs typeface="Urbanist"/>
              <a:sym typeface="Urbanist"/>
            </a:endParaRPr>
          </a:p>
        </p:txBody>
      </p:sp>
      <p:sp>
        <p:nvSpPr>
          <p:cNvPr id="757" name="Google Shape;757;p76"/>
          <p:cNvSpPr txBox="1"/>
          <p:nvPr/>
        </p:nvSpPr>
        <p:spPr>
          <a:xfrm>
            <a:off x="742200" y="708575"/>
            <a:ext cx="16815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highlight>
                  <a:schemeClr val="lt1"/>
                </a:highlight>
                <a:latin typeface="Times New Roman"/>
                <a:ea typeface="Times New Roman"/>
                <a:cs typeface="Times New Roman"/>
                <a:sym typeface="Times New Roman"/>
              </a:rPr>
              <a:t>1-1 Plot of Label deltapi</a:t>
            </a:r>
            <a:endParaRPr sz="900">
              <a:solidFill>
                <a:schemeClr val="dk1"/>
              </a:solidFill>
              <a:highlight>
                <a:schemeClr val="lt1"/>
              </a:highlight>
              <a:latin typeface="Times New Roman"/>
              <a:ea typeface="Times New Roman"/>
              <a:cs typeface="Times New Roman"/>
              <a:sym typeface="Times New Roman"/>
            </a:endParaRPr>
          </a:p>
        </p:txBody>
      </p:sp>
      <p:sp>
        <p:nvSpPr>
          <p:cNvPr id="758" name="Google Shape;758;p76"/>
          <p:cNvSpPr txBox="1"/>
          <p:nvPr/>
        </p:nvSpPr>
        <p:spPr>
          <a:xfrm>
            <a:off x="742200" y="2895625"/>
            <a:ext cx="16815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highlight>
                  <a:schemeClr val="lt1"/>
                </a:highlight>
                <a:latin typeface="Times New Roman"/>
                <a:ea typeface="Times New Roman"/>
                <a:cs typeface="Times New Roman"/>
                <a:sym typeface="Times New Roman"/>
              </a:rPr>
              <a:t>1-1 Plot of Label deltapi</a:t>
            </a:r>
            <a:endParaRPr sz="900">
              <a:solidFill>
                <a:schemeClr val="dk1"/>
              </a:solidFill>
              <a:highlight>
                <a:schemeClr val="lt1"/>
              </a:highlight>
              <a:latin typeface="Times New Roman"/>
              <a:ea typeface="Times New Roman"/>
              <a:cs typeface="Times New Roman"/>
              <a:sym typeface="Times New Roman"/>
            </a:endParaRPr>
          </a:p>
        </p:txBody>
      </p:sp>
      <p:sp>
        <p:nvSpPr>
          <p:cNvPr id="759" name="Google Shape;759;p76"/>
          <p:cNvSpPr txBox="1"/>
          <p:nvPr/>
        </p:nvSpPr>
        <p:spPr>
          <a:xfrm rot="-5400000">
            <a:off x="-348900" y="1139025"/>
            <a:ext cx="14109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Cannon Test Value</a:t>
            </a:r>
            <a:endParaRPr sz="800">
              <a:solidFill>
                <a:schemeClr val="dk1"/>
              </a:solidFill>
              <a:highlight>
                <a:schemeClr val="lt1"/>
              </a:highlight>
              <a:latin typeface="Times New Roman"/>
              <a:ea typeface="Times New Roman"/>
              <a:cs typeface="Times New Roman"/>
              <a:sym typeface="Times New Roman"/>
            </a:endParaRPr>
          </a:p>
        </p:txBody>
      </p:sp>
      <p:sp>
        <p:nvSpPr>
          <p:cNvPr id="760" name="Google Shape;760;p76"/>
          <p:cNvSpPr txBox="1"/>
          <p:nvPr/>
        </p:nvSpPr>
        <p:spPr>
          <a:xfrm rot="-5400000">
            <a:off x="-395850" y="3362550"/>
            <a:ext cx="14109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Cannon Test Value</a:t>
            </a:r>
            <a:endParaRPr sz="800">
              <a:solidFill>
                <a:schemeClr val="dk1"/>
              </a:solidFill>
              <a:highlight>
                <a:schemeClr val="lt1"/>
              </a:highlight>
              <a:latin typeface="Times New Roman"/>
              <a:ea typeface="Times New Roman"/>
              <a:cs typeface="Times New Roman"/>
              <a:sym typeface="Times New Roman"/>
            </a:endParaRPr>
          </a:p>
        </p:txBody>
      </p:sp>
      <p:sp>
        <p:nvSpPr>
          <p:cNvPr id="761" name="Google Shape;761;p76"/>
          <p:cNvSpPr txBox="1"/>
          <p:nvPr/>
        </p:nvSpPr>
        <p:spPr>
          <a:xfrm>
            <a:off x="989709" y="2049650"/>
            <a:ext cx="11865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Reference Values</a:t>
            </a:r>
            <a:endParaRPr sz="800">
              <a:solidFill>
                <a:schemeClr val="dk1"/>
              </a:solidFill>
              <a:highlight>
                <a:schemeClr val="lt1"/>
              </a:highlight>
              <a:latin typeface="Times New Roman"/>
              <a:ea typeface="Times New Roman"/>
              <a:cs typeface="Times New Roman"/>
              <a:sym typeface="Times New Roman"/>
            </a:endParaRPr>
          </a:p>
        </p:txBody>
      </p:sp>
      <p:sp>
        <p:nvSpPr>
          <p:cNvPr id="762" name="Google Shape;762;p76"/>
          <p:cNvSpPr txBox="1"/>
          <p:nvPr/>
        </p:nvSpPr>
        <p:spPr>
          <a:xfrm>
            <a:off x="989709" y="4262100"/>
            <a:ext cx="11865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Reference Values</a:t>
            </a:r>
            <a:endParaRPr sz="800">
              <a:solidFill>
                <a:schemeClr val="dk1"/>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77"/>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68" name="Google Shape;768;p77"/>
          <p:cNvSpPr txBox="1"/>
          <p:nvPr>
            <p:ph type="title"/>
          </p:nvPr>
        </p:nvSpPr>
        <p:spPr>
          <a:xfrm>
            <a:off x="2286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4000">
                <a:latin typeface="Times New Roman"/>
                <a:ea typeface="Times New Roman"/>
                <a:cs typeface="Times New Roman"/>
                <a:sym typeface="Times New Roman"/>
              </a:rPr>
              <a:t>Updated Model </a:t>
            </a:r>
            <a:endParaRPr sz="4000">
              <a:latin typeface="Times New Roman"/>
              <a:ea typeface="Times New Roman"/>
              <a:cs typeface="Times New Roman"/>
              <a:sym typeface="Times New Roman"/>
            </a:endParaRPr>
          </a:p>
        </p:txBody>
      </p:sp>
      <p:pic>
        <p:nvPicPr>
          <p:cNvPr id="769" name="Google Shape;769;p77"/>
          <p:cNvPicPr preferRelativeResize="0"/>
          <p:nvPr/>
        </p:nvPicPr>
        <p:blipFill>
          <a:blip r:embed="rId3">
            <a:alphaModFix/>
          </a:blip>
          <a:stretch>
            <a:fillRect/>
          </a:stretch>
        </p:blipFill>
        <p:spPr>
          <a:xfrm>
            <a:off x="230500" y="1004450"/>
            <a:ext cx="4198601" cy="2494225"/>
          </a:xfrm>
          <a:prstGeom prst="rect">
            <a:avLst/>
          </a:prstGeom>
          <a:noFill/>
          <a:ln>
            <a:noFill/>
          </a:ln>
        </p:spPr>
      </p:pic>
      <p:sp>
        <p:nvSpPr>
          <p:cNvPr id="770" name="Google Shape;770;p77"/>
          <p:cNvSpPr txBox="1"/>
          <p:nvPr/>
        </p:nvSpPr>
        <p:spPr>
          <a:xfrm>
            <a:off x="4929200" y="542650"/>
            <a:ext cx="3847200" cy="36081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chemeClr val="lt1"/>
              </a:buClr>
              <a:buSzPts val="2000"/>
              <a:buFont typeface="Times New Roman"/>
              <a:buChar char="●"/>
            </a:pPr>
            <a:r>
              <a:rPr lang="en" sz="2000">
                <a:solidFill>
                  <a:srgbClr val="FFFFFF"/>
                </a:solidFill>
                <a:latin typeface="Times New Roman"/>
                <a:ea typeface="Times New Roman"/>
                <a:cs typeface="Times New Roman"/>
                <a:sym typeface="Times New Roman"/>
              </a:rPr>
              <a:t>Fixed SNR mismatching </a:t>
            </a:r>
            <a:r>
              <a:rPr lang="en" sz="2000">
                <a:solidFill>
                  <a:schemeClr val="dk1"/>
                </a:solidFill>
                <a:latin typeface="Times New Roman"/>
                <a:ea typeface="Times New Roman"/>
                <a:cs typeface="Times New Roman"/>
                <a:sym typeface="Times New Roman"/>
              </a:rPr>
              <a:t>​</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lt1"/>
              </a:buClr>
              <a:buSzPts val="2000"/>
              <a:buFont typeface="Times New Roman"/>
              <a:buChar char="●"/>
            </a:pPr>
            <a:r>
              <a:rPr lang="en" sz="2000">
                <a:solidFill>
                  <a:srgbClr val="FFFFFF"/>
                </a:solidFill>
                <a:latin typeface="Times New Roman"/>
                <a:ea typeface="Times New Roman"/>
                <a:cs typeface="Times New Roman"/>
                <a:sym typeface="Times New Roman"/>
              </a:rPr>
              <a:t>Removed data limits </a:t>
            </a:r>
            <a:r>
              <a:rPr lang="en" sz="2000">
                <a:solidFill>
                  <a:schemeClr val="dk1"/>
                </a:solidFill>
                <a:latin typeface="Times New Roman"/>
                <a:ea typeface="Times New Roman"/>
                <a:cs typeface="Times New Roman"/>
                <a:sym typeface="Times New Roman"/>
              </a:rPr>
              <a:t>​</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lt1"/>
              </a:buClr>
              <a:buSzPts val="2000"/>
              <a:buFont typeface="Times New Roman"/>
              <a:buChar char="●"/>
            </a:pPr>
            <a:r>
              <a:rPr lang="en" sz="2000">
                <a:solidFill>
                  <a:srgbClr val="FFFFFF"/>
                </a:solidFill>
                <a:latin typeface="Times New Roman"/>
                <a:ea typeface="Times New Roman"/>
                <a:cs typeface="Times New Roman"/>
                <a:sym typeface="Times New Roman"/>
              </a:rPr>
              <a:t>Stricter normalization step for flux at each pixel             Helps TheCannon's model be more accurate </a:t>
            </a:r>
            <a:r>
              <a:rPr lang="en" sz="2000">
                <a:solidFill>
                  <a:schemeClr val="dk1"/>
                </a:solidFill>
                <a:latin typeface="Times New Roman"/>
                <a:ea typeface="Times New Roman"/>
                <a:cs typeface="Times New Roman"/>
                <a:sym typeface="Times New Roman"/>
              </a:rPr>
              <a:t>​</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lt1"/>
              </a:buClr>
              <a:buSzPts val="2000"/>
              <a:buFont typeface="Times New Roman"/>
              <a:buChar char="●"/>
            </a:pPr>
            <a:r>
              <a:rPr lang="en" sz="2000">
                <a:solidFill>
                  <a:srgbClr val="FFFFFF"/>
                </a:solidFill>
                <a:latin typeface="Times New Roman"/>
                <a:ea typeface="Times New Roman"/>
                <a:cs typeface="Times New Roman"/>
                <a:sym typeface="Times New Roman"/>
              </a:rPr>
              <a:t>Swapped a label matrix ID look up with a data table </a:t>
            </a:r>
            <a:r>
              <a:rPr lang="en" sz="2000">
                <a:solidFill>
                  <a:schemeClr val="dk1"/>
                </a:solidFill>
                <a:latin typeface="Times New Roman"/>
                <a:ea typeface="Times New Roman"/>
                <a:cs typeface="Times New Roman"/>
                <a:sym typeface="Times New Roman"/>
              </a:rPr>
              <a:t>​</a:t>
            </a:r>
            <a:endParaRPr sz="2000">
              <a:solidFill>
                <a:schemeClr val="dk1"/>
              </a:solidFill>
              <a:latin typeface="Times New Roman"/>
              <a:ea typeface="Times New Roman"/>
              <a:cs typeface="Times New Roman"/>
              <a:sym typeface="Times New Roman"/>
            </a:endParaRPr>
          </a:p>
          <a:p>
            <a:pPr indent="-355600" lvl="0" marL="635000" rtl="0" algn="l">
              <a:lnSpc>
                <a:spcPct val="115000"/>
              </a:lnSpc>
              <a:spcBef>
                <a:spcPts val="0"/>
              </a:spcBef>
              <a:spcAft>
                <a:spcPts val="0"/>
              </a:spcAft>
              <a:buClr>
                <a:schemeClr val="dk1"/>
              </a:buClr>
              <a:buSzPts val="2000"/>
              <a:buFont typeface="Arial"/>
              <a:buChar char="●"/>
            </a:pPr>
            <a:r>
              <a:rPr lang="en" sz="2000">
                <a:solidFill>
                  <a:schemeClr val="dk1"/>
                </a:solidFill>
                <a:latin typeface="Times New Roman"/>
                <a:ea typeface="Times New Roman"/>
                <a:cs typeface="Times New Roman"/>
                <a:sym typeface="Times New Roman"/>
              </a:rPr>
              <a:t>​</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lt1"/>
              </a:solidFill>
              <a:latin typeface="Urbanist"/>
              <a:ea typeface="Urbanist"/>
              <a:cs typeface="Urbanist"/>
              <a:sym typeface="Urbanist"/>
            </a:endParaRPr>
          </a:p>
        </p:txBody>
      </p:sp>
      <p:sp>
        <p:nvSpPr>
          <p:cNvPr id="771" name="Google Shape;771;p77"/>
          <p:cNvSpPr txBox="1"/>
          <p:nvPr/>
        </p:nvSpPr>
        <p:spPr>
          <a:xfrm>
            <a:off x="3898525" y="3736925"/>
            <a:ext cx="2624700" cy="7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000">
                <a:solidFill>
                  <a:schemeClr val="lt1"/>
                </a:solidFill>
                <a:latin typeface="Times New Roman"/>
                <a:ea typeface="Times New Roman"/>
                <a:cs typeface="Times New Roman"/>
                <a:sym typeface="Times New Roman"/>
              </a:rPr>
              <a:t>Yay!</a:t>
            </a:r>
            <a:endParaRPr sz="4000">
              <a:solidFill>
                <a:schemeClr val="lt1"/>
              </a:solidFill>
              <a:latin typeface="Times New Roman"/>
              <a:ea typeface="Times New Roman"/>
              <a:cs typeface="Times New Roman"/>
              <a:sym typeface="Times New Roman"/>
            </a:endParaRPr>
          </a:p>
        </p:txBody>
      </p:sp>
      <p:sp>
        <p:nvSpPr>
          <p:cNvPr id="772" name="Google Shape;772;p77"/>
          <p:cNvSpPr/>
          <p:nvPr/>
        </p:nvSpPr>
        <p:spPr>
          <a:xfrm>
            <a:off x="7447775" y="1738950"/>
            <a:ext cx="432900" cy="252000"/>
          </a:xfrm>
          <a:prstGeom prst="rightArrow">
            <a:avLst>
              <a:gd fmla="val 50000" name="adj1"/>
              <a:gd fmla="val 50000"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773" name="Google Shape;773;p77"/>
          <p:cNvSpPr txBox="1"/>
          <p:nvPr/>
        </p:nvSpPr>
        <p:spPr>
          <a:xfrm>
            <a:off x="978050" y="1049800"/>
            <a:ext cx="16815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highlight>
                  <a:schemeClr val="lt1"/>
                </a:highlight>
                <a:latin typeface="Times New Roman"/>
                <a:ea typeface="Times New Roman"/>
                <a:cs typeface="Times New Roman"/>
                <a:sym typeface="Times New Roman"/>
              </a:rPr>
              <a:t>1-1 Plot of Label deltapi</a:t>
            </a:r>
            <a:endParaRPr sz="900">
              <a:solidFill>
                <a:schemeClr val="dk1"/>
              </a:solidFill>
              <a:highlight>
                <a:schemeClr val="lt1"/>
              </a:highlight>
              <a:latin typeface="Times New Roman"/>
              <a:ea typeface="Times New Roman"/>
              <a:cs typeface="Times New Roman"/>
              <a:sym typeface="Times New Roman"/>
            </a:endParaRPr>
          </a:p>
        </p:txBody>
      </p:sp>
      <p:sp>
        <p:nvSpPr>
          <p:cNvPr id="774" name="Google Shape;774;p77"/>
          <p:cNvSpPr txBox="1"/>
          <p:nvPr/>
        </p:nvSpPr>
        <p:spPr>
          <a:xfrm rot="-5400000">
            <a:off x="-293525" y="1673550"/>
            <a:ext cx="14109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highlight>
                  <a:schemeClr val="lt1"/>
                </a:highlight>
                <a:latin typeface="Times New Roman"/>
                <a:ea typeface="Times New Roman"/>
                <a:cs typeface="Times New Roman"/>
                <a:sym typeface="Times New Roman"/>
              </a:rPr>
              <a:t>Cannon Test Value</a:t>
            </a:r>
            <a:endParaRPr sz="900">
              <a:solidFill>
                <a:schemeClr val="dk1"/>
              </a:solidFill>
              <a:highlight>
                <a:schemeClr val="lt1"/>
              </a:highlight>
              <a:latin typeface="Times New Roman"/>
              <a:ea typeface="Times New Roman"/>
              <a:cs typeface="Times New Roman"/>
              <a:sym typeface="Times New Roman"/>
            </a:endParaRPr>
          </a:p>
        </p:txBody>
      </p:sp>
      <p:sp>
        <p:nvSpPr>
          <p:cNvPr id="775" name="Google Shape;775;p77"/>
          <p:cNvSpPr txBox="1"/>
          <p:nvPr/>
        </p:nvSpPr>
        <p:spPr>
          <a:xfrm>
            <a:off x="1225559" y="2703100"/>
            <a:ext cx="11865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Reference Values</a:t>
            </a:r>
            <a:endParaRPr sz="800">
              <a:solidFill>
                <a:schemeClr val="dk1"/>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79" name="Shape 779"/>
        <p:cNvGrpSpPr/>
        <p:nvPr/>
      </p:nvGrpSpPr>
      <p:grpSpPr>
        <a:xfrm>
          <a:off x="0" y="0"/>
          <a:ext cx="0" cy="0"/>
          <a:chOff x="0" y="0"/>
          <a:chExt cx="0" cy="0"/>
        </a:xfrm>
      </p:grpSpPr>
      <p:sp>
        <p:nvSpPr>
          <p:cNvPr id="780" name="Google Shape;780;p78"/>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81" name="Google Shape;781;p78"/>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782" name="Google Shape;782;p78"/>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783" name="Google Shape;783;p78"/>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t/>
            </a:r>
            <a:endParaRPr/>
          </a:p>
        </p:txBody>
      </p:sp>
      <p:sp>
        <p:nvSpPr>
          <p:cNvPr id="784" name="Google Shape;784;p78"/>
          <p:cNvSpPr txBox="1"/>
          <p:nvPr>
            <p:ph type="title"/>
          </p:nvPr>
        </p:nvSpPr>
        <p:spPr>
          <a:xfrm>
            <a:off x="2286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85" name="Google Shape;785;p78"/>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786" name="Google Shape;786;p78"/>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787" name="Google Shape;787;p78"/>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t/>
            </a:r>
            <a:endParaRPr/>
          </a:p>
        </p:txBody>
      </p:sp>
      <p:sp>
        <p:nvSpPr>
          <p:cNvPr id="788" name="Google Shape;788;p78"/>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t/>
            </a:r>
            <a:endParaRPr/>
          </a:p>
        </p:txBody>
      </p:sp>
      <p:pic>
        <p:nvPicPr>
          <p:cNvPr descr="A diagram of training versus value&#10;&#10;AI-generated content may be incorrect." id="789" name="Google Shape;789;p78"/>
          <p:cNvPicPr preferRelativeResize="0"/>
          <p:nvPr/>
        </p:nvPicPr>
        <p:blipFill>
          <a:blip r:embed="rId4">
            <a:alphaModFix/>
          </a:blip>
          <a:stretch>
            <a:fillRect/>
          </a:stretch>
        </p:blipFill>
        <p:spPr>
          <a:xfrm>
            <a:off x="4780075" y="2647313"/>
            <a:ext cx="4067926" cy="2443465"/>
          </a:xfrm>
          <a:prstGeom prst="rect">
            <a:avLst/>
          </a:prstGeom>
          <a:noFill/>
          <a:ln>
            <a:noFill/>
          </a:ln>
        </p:spPr>
      </p:pic>
      <p:pic>
        <p:nvPicPr>
          <p:cNvPr descr="A graph of a training versus value&#10;&#10;AI-generated content may be incorrect." id="790" name="Google Shape;790;p78"/>
          <p:cNvPicPr preferRelativeResize="0"/>
          <p:nvPr/>
        </p:nvPicPr>
        <p:blipFill>
          <a:blip r:embed="rId5">
            <a:alphaModFix/>
          </a:blip>
          <a:stretch>
            <a:fillRect/>
          </a:stretch>
        </p:blipFill>
        <p:spPr>
          <a:xfrm>
            <a:off x="264167" y="128275"/>
            <a:ext cx="4131270" cy="2443474"/>
          </a:xfrm>
          <a:prstGeom prst="rect">
            <a:avLst/>
          </a:prstGeom>
          <a:noFill/>
          <a:ln>
            <a:noFill/>
          </a:ln>
        </p:spPr>
      </p:pic>
      <p:pic>
        <p:nvPicPr>
          <p:cNvPr descr="A graph of a training versus test set&#10;&#10;AI-generated content may be incorrect." id="791" name="Google Shape;791;p78"/>
          <p:cNvPicPr preferRelativeResize="0"/>
          <p:nvPr/>
        </p:nvPicPr>
        <p:blipFill>
          <a:blip r:embed="rId6">
            <a:alphaModFix/>
          </a:blip>
          <a:stretch>
            <a:fillRect/>
          </a:stretch>
        </p:blipFill>
        <p:spPr>
          <a:xfrm>
            <a:off x="4780086" y="149638"/>
            <a:ext cx="4067937" cy="2400750"/>
          </a:xfrm>
          <a:prstGeom prst="rect">
            <a:avLst/>
          </a:prstGeom>
          <a:noFill/>
          <a:ln>
            <a:noFill/>
          </a:ln>
        </p:spPr>
      </p:pic>
      <p:pic>
        <p:nvPicPr>
          <p:cNvPr descr="A graph of a training versus value&#10;&#10;AI-generated content may be incorrect." id="792" name="Google Shape;792;p78"/>
          <p:cNvPicPr preferRelativeResize="0"/>
          <p:nvPr/>
        </p:nvPicPr>
        <p:blipFill>
          <a:blip r:embed="rId7">
            <a:alphaModFix/>
          </a:blip>
          <a:stretch>
            <a:fillRect/>
          </a:stretch>
        </p:blipFill>
        <p:spPr>
          <a:xfrm>
            <a:off x="255121" y="2647313"/>
            <a:ext cx="4149363" cy="2443464"/>
          </a:xfrm>
          <a:prstGeom prst="rect">
            <a:avLst/>
          </a:prstGeom>
          <a:noFill/>
          <a:ln>
            <a:noFill/>
          </a:ln>
        </p:spPr>
      </p:pic>
      <p:sp>
        <p:nvSpPr>
          <p:cNvPr id="793" name="Google Shape;793;p78"/>
          <p:cNvSpPr txBox="1"/>
          <p:nvPr/>
        </p:nvSpPr>
        <p:spPr>
          <a:xfrm>
            <a:off x="1786375" y="1166825"/>
            <a:ext cx="906600" cy="20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Times New Roman"/>
                <a:ea typeface="Times New Roman"/>
                <a:cs typeface="Times New Roman"/>
                <a:sym typeface="Times New Roman"/>
              </a:rPr>
              <a:t>Kelvin (K)</a:t>
            </a:r>
            <a:endParaRPr sz="1100">
              <a:solidFill>
                <a:schemeClr val="dk1"/>
              </a:solidFill>
              <a:latin typeface="Times New Roman"/>
              <a:ea typeface="Times New Roman"/>
              <a:cs typeface="Times New Roman"/>
              <a:sym typeface="Times New Roman"/>
            </a:endParaRPr>
          </a:p>
        </p:txBody>
      </p:sp>
      <p:sp>
        <p:nvSpPr>
          <p:cNvPr id="794" name="Google Shape;794;p78"/>
          <p:cNvSpPr txBox="1"/>
          <p:nvPr/>
        </p:nvSpPr>
        <p:spPr>
          <a:xfrm rot="-5400000">
            <a:off x="-280425" y="727150"/>
            <a:ext cx="14109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Cannon Test Value</a:t>
            </a:r>
            <a:endParaRPr sz="800">
              <a:solidFill>
                <a:schemeClr val="dk1"/>
              </a:solidFill>
              <a:highlight>
                <a:schemeClr val="lt1"/>
              </a:highlight>
              <a:latin typeface="Times New Roman"/>
              <a:ea typeface="Times New Roman"/>
              <a:cs typeface="Times New Roman"/>
              <a:sym typeface="Times New Roman"/>
            </a:endParaRPr>
          </a:p>
        </p:txBody>
      </p:sp>
      <p:sp>
        <p:nvSpPr>
          <p:cNvPr id="795" name="Google Shape;795;p78"/>
          <p:cNvSpPr txBox="1"/>
          <p:nvPr/>
        </p:nvSpPr>
        <p:spPr>
          <a:xfrm rot="-5400000">
            <a:off x="-280425" y="3245875"/>
            <a:ext cx="14109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Cannon Test Value</a:t>
            </a:r>
            <a:endParaRPr sz="800">
              <a:solidFill>
                <a:schemeClr val="dk1"/>
              </a:solidFill>
              <a:highlight>
                <a:schemeClr val="lt1"/>
              </a:highlight>
              <a:latin typeface="Times New Roman"/>
              <a:ea typeface="Times New Roman"/>
              <a:cs typeface="Times New Roman"/>
              <a:sym typeface="Times New Roman"/>
            </a:endParaRPr>
          </a:p>
        </p:txBody>
      </p:sp>
      <p:sp>
        <p:nvSpPr>
          <p:cNvPr id="796" name="Google Shape;796;p78"/>
          <p:cNvSpPr txBox="1"/>
          <p:nvPr/>
        </p:nvSpPr>
        <p:spPr>
          <a:xfrm rot="-5400000">
            <a:off x="4310700" y="3245875"/>
            <a:ext cx="14109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Cannon Test Value</a:t>
            </a:r>
            <a:endParaRPr sz="800">
              <a:solidFill>
                <a:schemeClr val="dk1"/>
              </a:solidFill>
              <a:highlight>
                <a:schemeClr val="lt1"/>
              </a:highlight>
              <a:latin typeface="Times New Roman"/>
              <a:ea typeface="Times New Roman"/>
              <a:cs typeface="Times New Roman"/>
              <a:sym typeface="Times New Roman"/>
            </a:endParaRPr>
          </a:p>
        </p:txBody>
      </p:sp>
      <p:sp>
        <p:nvSpPr>
          <p:cNvPr id="797" name="Google Shape;797;p78"/>
          <p:cNvSpPr txBox="1"/>
          <p:nvPr/>
        </p:nvSpPr>
        <p:spPr>
          <a:xfrm rot="-5400000">
            <a:off x="4310700" y="727150"/>
            <a:ext cx="14109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Cannon Test Value</a:t>
            </a:r>
            <a:endParaRPr sz="800">
              <a:solidFill>
                <a:schemeClr val="dk1"/>
              </a:solidFill>
              <a:highlight>
                <a:schemeClr val="lt1"/>
              </a:highlight>
              <a:latin typeface="Times New Roman"/>
              <a:ea typeface="Times New Roman"/>
              <a:cs typeface="Times New Roman"/>
              <a:sym typeface="Times New Roman"/>
            </a:endParaRPr>
          </a:p>
        </p:txBody>
      </p:sp>
      <p:sp>
        <p:nvSpPr>
          <p:cNvPr id="798" name="Google Shape;798;p78"/>
          <p:cNvSpPr txBox="1"/>
          <p:nvPr/>
        </p:nvSpPr>
        <p:spPr>
          <a:xfrm>
            <a:off x="1077384" y="1767450"/>
            <a:ext cx="11865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Reference Values</a:t>
            </a:r>
            <a:endParaRPr sz="800">
              <a:solidFill>
                <a:schemeClr val="dk1"/>
              </a:solidFill>
              <a:highlight>
                <a:schemeClr val="lt1"/>
              </a:highlight>
              <a:latin typeface="Times New Roman"/>
              <a:ea typeface="Times New Roman"/>
              <a:cs typeface="Times New Roman"/>
              <a:sym typeface="Times New Roman"/>
            </a:endParaRPr>
          </a:p>
        </p:txBody>
      </p:sp>
      <p:sp>
        <p:nvSpPr>
          <p:cNvPr id="799" name="Google Shape;799;p78"/>
          <p:cNvSpPr txBox="1"/>
          <p:nvPr/>
        </p:nvSpPr>
        <p:spPr>
          <a:xfrm>
            <a:off x="1237209" y="4324775"/>
            <a:ext cx="11865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Reference Values</a:t>
            </a:r>
            <a:endParaRPr sz="800">
              <a:solidFill>
                <a:schemeClr val="dk1"/>
              </a:solidFill>
              <a:highlight>
                <a:schemeClr val="lt1"/>
              </a:highlight>
              <a:latin typeface="Times New Roman"/>
              <a:ea typeface="Times New Roman"/>
              <a:cs typeface="Times New Roman"/>
              <a:sym typeface="Times New Roman"/>
            </a:endParaRPr>
          </a:p>
        </p:txBody>
      </p:sp>
      <p:sp>
        <p:nvSpPr>
          <p:cNvPr id="800" name="Google Shape;800;p78"/>
          <p:cNvSpPr txBox="1"/>
          <p:nvPr/>
        </p:nvSpPr>
        <p:spPr>
          <a:xfrm>
            <a:off x="5750234" y="4269400"/>
            <a:ext cx="11865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Reference Values</a:t>
            </a:r>
            <a:endParaRPr sz="800">
              <a:solidFill>
                <a:schemeClr val="dk1"/>
              </a:solidFill>
              <a:highlight>
                <a:schemeClr val="lt1"/>
              </a:highlight>
              <a:latin typeface="Times New Roman"/>
              <a:ea typeface="Times New Roman"/>
              <a:cs typeface="Times New Roman"/>
              <a:sym typeface="Times New Roman"/>
            </a:endParaRPr>
          </a:p>
        </p:txBody>
      </p:sp>
      <p:sp>
        <p:nvSpPr>
          <p:cNvPr id="801" name="Google Shape;801;p78"/>
          <p:cNvSpPr txBox="1"/>
          <p:nvPr/>
        </p:nvSpPr>
        <p:spPr>
          <a:xfrm>
            <a:off x="5750234" y="1767450"/>
            <a:ext cx="11865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Reference Values</a:t>
            </a:r>
            <a:endParaRPr sz="800">
              <a:solidFill>
                <a:schemeClr val="dk1"/>
              </a:solidFill>
              <a:highlight>
                <a:schemeClr val="lt1"/>
              </a:highlight>
              <a:latin typeface="Times New Roman"/>
              <a:ea typeface="Times New Roman"/>
              <a:cs typeface="Times New Roman"/>
              <a:sym typeface="Times New Roman"/>
            </a:endParaRPr>
          </a:p>
        </p:txBody>
      </p:sp>
      <p:sp>
        <p:nvSpPr>
          <p:cNvPr id="802" name="Google Shape;802;p78"/>
          <p:cNvSpPr txBox="1"/>
          <p:nvPr/>
        </p:nvSpPr>
        <p:spPr>
          <a:xfrm>
            <a:off x="989700" y="149650"/>
            <a:ext cx="16815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highlight>
                  <a:schemeClr val="lt1"/>
                </a:highlight>
                <a:latin typeface="Times New Roman"/>
                <a:ea typeface="Times New Roman"/>
                <a:cs typeface="Times New Roman"/>
                <a:sym typeface="Times New Roman"/>
              </a:rPr>
              <a:t>1-1 Plot of Label T_eff</a:t>
            </a:r>
            <a:endParaRPr sz="900">
              <a:solidFill>
                <a:schemeClr val="dk1"/>
              </a:solidFill>
              <a:highlight>
                <a:schemeClr val="lt1"/>
              </a:highlight>
              <a:latin typeface="Times New Roman"/>
              <a:ea typeface="Times New Roman"/>
              <a:cs typeface="Times New Roman"/>
              <a:sym typeface="Times New Roman"/>
            </a:endParaRPr>
          </a:p>
        </p:txBody>
      </p:sp>
      <p:sp>
        <p:nvSpPr>
          <p:cNvPr id="803" name="Google Shape;803;p78"/>
          <p:cNvSpPr txBox="1"/>
          <p:nvPr/>
        </p:nvSpPr>
        <p:spPr>
          <a:xfrm>
            <a:off x="5502725" y="149650"/>
            <a:ext cx="16815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highlight>
                  <a:schemeClr val="lt1"/>
                </a:highlight>
                <a:latin typeface="Times New Roman"/>
                <a:ea typeface="Times New Roman"/>
                <a:cs typeface="Times New Roman"/>
                <a:sym typeface="Times New Roman"/>
              </a:rPr>
              <a:t>1-1 Plot of Label Log g</a:t>
            </a:r>
            <a:endParaRPr sz="900">
              <a:solidFill>
                <a:schemeClr val="dk1"/>
              </a:solidFill>
              <a:highlight>
                <a:schemeClr val="lt1"/>
              </a:highlight>
              <a:latin typeface="Times New Roman"/>
              <a:ea typeface="Times New Roman"/>
              <a:cs typeface="Times New Roman"/>
              <a:sym typeface="Times New Roman"/>
            </a:endParaRPr>
          </a:p>
        </p:txBody>
      </p:sp>
      <p:sp>
        <p:nvSpPr>
          <p:cNvPr id="804" name="Google Shape;804;p78"/>
          <p:cNvSpPr txBox="1"/>
          <p:nvPr/>
        </p:nvSpPr>
        <p:spPr>
          <a:xfrm>
            <a:off x="989700" y="2680988"/>
            <a:ext cx="16815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highlight>
                  <a:schemeClr val="lt1"/>
                </a:highlight>
                <a:latin typeface="Times New Roman"/>
                <a:ea typeface="Times New Roman"/>
                <a:cs typeface="Times New Roman"/>
                <a:sym typeface="Times New Roman"/>
              </a:rPr>
              <a:t>1-1 Plot of Label [Fe/H]</a:t>
            </a:r>
            <a:endParaRPr sz="900">
              <a:solidFill>
                <a:schemeClr val="dk1"/>
              </a:solidFill>
              <a:highlight>
                <a:schemeClr val="lt1"/>
              </a:highlight>
              <a:latin typeface="Times New Roman"/>
              <a:ea typeface="Times New Roman"/>
              <a:cs typeface="Times New Roman"/>
              <a:sym typeface="Times New Roman"/>
            </a:endParaRPr>
          </a:p>
        </p:txBody>
      </p:sp>
      <p:sp>
        <p:nvSpPr>
          <p:cNvPr id="805" name="Google Shape;805;p78"/>
          <p:cNvSpPr txBox="1"/>
          <p:nvPr/>
        </p:nvSpPr>
        <p:spPr>
          <a:xfrm>
            <a:off x="5407475" y="2681000"/>
            <a:ext cx="16815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highlight>
                  <a:schemeClr val="lt1"/>
                </a:highlight>
                <a:latin typeface="Times New Roman"/>
                <a:ea typeface="Times New Roman"/>
                <a:cs typeface="Times New Roman"/>
                <a:sym typeface="Times New Roman"/>
              </a:rPr>
              <a:t>1-1 Plot of Label [N/Fe]</a:t>
            </a:r>
            <a:endParaRPr sz="900">
              <a:solidFill>
                <a:schemeClr val="dk1"/>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79"/>
          <p:cNvSpPr txBox="1"/>
          <p:nvPr>
            <p:ph type="title"/>
          </p:nvPr>
        </p:nvSpPr>
        <p:spPr>
          <a:xfrm>
            <a:off x="2286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4000">
                <a:latin typeface="Times New Roman"/>
                <a:ea typeface="Times New Roman"/>
                <a:cs typeface="Times New Roman"/>
                <a:sym typeface="Times New Roman"/>
              </a:rPr>
              <a:t>TheCannon 2</a:t>
            </a:r>
            <a:endParaRPr sz="4000">
              <a:latin typeface="Times New Roman"/>
              <a:ea typeface="Times New Roman"/>
              <a:cs typeface="Times New Roman"/>
              <a:sym typeface="Times New Roman"/>
            </a:endParaRPr>
          </a:p>
        </p:txBody>
      </p:sp>
      <p:pic>
        <p:nvPicPr>
          <p:cNvPr descr="A graph of a graph with blue dots&#10;&#10;AI-generated content may be incorrect." id="811" name="Google Shape;811;p79"/>
          <p:cNvPicPr preferRelativeResize="0"/>
          <p:nvPr/>
        </p:nvPicPr>
        <p:blipFill>
          <a:blip r:embed="rId3">
            <a:alphaModFix/>
          </a:blip>
          <a:stretch>
            <a:fillRect/>
          </a:stretch>
        </p:blipFill>
        <p:spPr>
          <a:xfrm>
            <a:off x="516913" y="879399"/>
            <a:ext cx="7855834" cy="2577695"/>
          </a:xfrm>
          <a:prstGeom prst="rect">
            <a:avLst/>
          </a:prstGeom>
          <a:noFill/>
          <a:ln>
            <a:noFill/>
          </a:ln>
        </p:spPr>
      </p:pic>
      <p:sp>
        <p:nvSpPr>
          <p:cNvPr id="812" name="Google Shape;812;p79"/>
          <p:cNvSpPr txBox="1"/>
          <p:nvPr/>
        </p:nvSpPr>
        <p:spPr>
          <a:xfrm>
            <a:off x="548113" y="3583025"/>
            <a:ext cx="7793400" cy="869700"/>
          </a:xfrm>
          <a:prstGeom prst="rect">
            <a:avLst/>
          </a:prstGeom>
          <a:noFill/>
          <a:ln>
            <a:noFill/>
          </a:ln>
        </p:spPr>
        <p:txBody>
          <a:bodyPr anchorCtr="0" anchor="t" bIns="91425" lIns="91425" spcFirstLastPara="1" rIns="91425" wrap="square" tIns="91425">
            <a:noAutofit/>
          </a:bodyPr>
          <a:lstStyle/>
          <a:p>
            <a:pPr indent="-342900" lvl="0" marL="635000" rtl="0" algn="l">
              <a:lnSpc>
                <a:spcPct val="115000"/>
              </a:lnSpc>
              <a:spcBef>
                <a:spcPts val="0"/>
              </a:spcBef>
              <a:spcAft>
                <a:spcPts val="0"/>
              </a:spcAft>
              <a:buClr>
                <a:schemeClr val="lt1"/>
              </a:buClr>
              <a:buSzPts val="1800"/>
              <a:buFont typeface="Arial"/>
              <a:buChar char="●"/>
            </a:pPr>
            <a:r>
              <a:rPr lang="en" sz="1800">
                <a:solidFill>
                  <a:srgbClr val="FFFFFF"/>
                </a:solidFill>
                <a:latin typeface="Times New Roman"/>
                <a:ea typeface="Times New Roman"/>
                <a:cs typeface="Times New Roman"/>
                <a:sym typeface="Times New Roman"/>
              </a:rPr>
              <a:t>Written by Andy Casey </a:t>
            </a:r>
            <a:r>
              <a:rPr lang="e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635000" rtl="0" algn="l">
              <a:lnSpc>
                <a:spcPct val="115000"/>
              </a:lnSpc>
              <a:spcBef>
                <a:spcPts val="0"/>
              </a:spcBef>
              <a:spcAft>
                <a:spcPts val="0"/>
              </a:spcAft>
              <a:buClr>
                <a:schemeClr val="lt1"/>
              </a:buClr>
              <a:buSzPts val="1800"/>
              <a:buFont typeface="Arial"/>
              <a:buChar char="●"/>
            </a:pPr>
            <a:r>
              <a:rPr lang="en" sz="1800">
                <a:solidFill>
                  <a:srgbClr val="FFFFFF"/>
                </a:solidFill>
                <a:latin typeface="Times New Roman"/>
                <a:ea typeface="Times New Roman"/>
                <a:cs typeface="Times New Roman"/>
                <a:sym typeface="Times New Roman"/>
              </a:rPr>
              <a:t>Able to predict more labels without overfitting</a:t>
            </a:r>
            <a:r>
              <a:rPr lang="e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635000" rtl="0" algn="l">
              <a:lnSpc>
                <a:spcPct val="115000"/>
              </a:lnSpc>
              <a:spcBef>
                <a:spcPts val="0"/>
              </a:spcBef>
              <a:spcAft>
                <a:spcPts val="0"/>
              </a:spcAft>
              <a:buClr>
                <a:schemeClr val="lt1"/>
              </a:buClr>
              <a:buSzPts val="1800"/>
              <a:buFont typeface="Arial"/>
              <a:buChar char="●"/>
            </a:pPr>
            <a:r>
              <a:rPr lang="en" sz="1800">
                <a:solidFill>
                  <a:srgbClr val="FFFFFF"/>
                </a:solidFill>
                <a:latin typeface="Times New Roman"/>
                <a:ea typeface="Times New Roman"/>
                <a:cs typeface="Times New Roman"/>
                <a:sym typeface="Times New Roman"/>
              </a:rPr>
              <a:t>Only uses a coefficient if it improves the overall fit via regularization </a:t>
            </a:r>
            <a:endParaRPr sz="1800">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lt1"/>
              </a:solidFill>
              <a:latin typeface="Urbanist"/>
              <a:ea typeface="Urbanist"/>
              <a:cs typeface="Urbanist"/>
              <a:sym typeface="Urbanis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80"/>
          <p:cNvSpPr txBox="1"/>
          <p:nvPr>
            <p:ph type="title"/>
          </p:nvPr>
        </p:nvSpPr>
        <p:spPr>
          <a:xfrm>
            <a:off x="228600" y="228600"/>
            <a:ext cx="6658800" cy="741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4000">
                <a:latin typeface="Times New Roman"/>
                <a:ea typeface="Times New Roman"/>
                <a:cs typeface="Times New Roman"/>
                <a:sym typeface="Times New Roman"/>
              </a:rPr>
              <a:t>Training Mass and Age </a:t>
            </a:r>
            <a:endParaRPr sz="4000">
              <a:latin typeface="Times New Roman"/>
              <a:ea typeface="Times New Roman"/>
              <a:cs typeface="Times New Roman"/>
              <a:sym typeface="Times New Roman"/>
            </a:endParaRPr>
          </a:p>
        </p:txBody>
      </p:sp>
      <p:pic>
        <p:nvPicPr>
          <p:cNvPr id="818" name="Google Shape;818;p80"/>
          <p:cNvPicPr preferRelativeResize="0"/>
          <p:nvPr/>
        </p:nvPicPr>
        <p:blipFill>
          <a:blip r:embed="rId3">
            <a:alphaModFix/>
          </a:blip>
          <a:stretch>
            <a:fillRect/>
          </a:stretch>
        </p:blipFill>
        <p:spPr>
          <a:xfrm>
            <a:off x="123550" y="1127325"/>
            <a:ext cx="5957150" cy="2693126"/>
          </a:xfrm>
          <a:prstGeom prst="rect">
            <a:avLst/>
          </a:prstGeom>
          <a:noFill/>
          <a:ln>
            <a:noFill/>
          </a:ln>
        </p:spPr>
      </p:pic>
      <p:sp>
        <p:nvSpPr>
          <p:cNvPr id="819" name="Google Shape;819;p80"/>
          <p:cNvSpPr txBox="1"/>
          <p:nvPr/>
        </p:nvSpPr>
        <p:spPr>
          <a:xfrm>
            <a:off x="5803525" y="617825"/>
            <a:ext cx="2994600" cy="4065900"/>
          </a:xfrm>
          <a:prstGeom prst="rect">
            <a:avLst/>
          </a:prstGeom>
          <a:noFill/>
          <a:ln>
            <a:noFill/>
          </a:ln>
        </p:spPr>
        <p:txBody>
          <a:bodyPr anchorCtr="0" anchor="t" bIns="91425" lIns="91425" spcFirstLastPara="1" rIns="91425" wrap="square" tIns="91425">
            <a:noAutofit/>
          </a:bodyPr>
          <a:lstStyle/>
          <a:p>
            <a:pPr indent="-330200" lvl="0" marL="635000" rtl="0" algn="l">
              <a:lnSpc>
                <a:spcPct val="115000"/>
              </a:lnSpc>
              <a:spcBef>
                <a:spcPts val="0"/>
              </a:spcBef>
              <a:spcAft>
                <a:spcPts val="0"/>
              </a:spcAft>
              <a:buClr>
                <a:schemeClr val="lt1"/>
              </a:buClr>
              <a:buSzPts val="1600"/>
              <a:buFont typeface="Times New Roman"/>
              <a:buChar char="●"/>
            </a:pPr>
            <a:r>
              <a:rPr lang="en" sz="1600">
                <a:solidFill>
                  <a:srgbClr val="FFFFFF"/>
                </a:solidFill>
                <a:latin typeface="Times New Roman"/>
                <a:ea typeface="Times New Roman"/>
                <a:cs typeface="Times New Roman"/>
                <a:sym typeface="Times New Roman"/>
              </a:rPr>
              <a:t>Mass and age data encoded in the asteroseismic data</a:t>
            </a:r>
            <a:r>
              <a:rPr lang="en" sz="1600">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indent="-330200" lvl="0" marL="635000" rtl="0" algn="l">
              <a:lnSpc>
                <a:spcPct val="115000"/>
              </a:lnSpc>
              <a:spcBef>
                <a:spcPts val="0"/>
              </a:spcBef>
              <a:spcAft>
                <a:spcPts val="0"/>
              </a:spcAft>
              <a:buClr>
                <a:schemeClr val="lt1"/>
              </a:buClr>
              <a:buSzPts val="1600"/>
              <a:buFont typeface="Times New Roman"/>
              <a:buChar char="●"/>
            </a:pPr>
            <a:r>
              <a:rPr lang="en" sz="1600">
                <a:solidFill>
                  <a:srgbClr val="FFFFFF"/>
                </a:solidFill>
                <a:latin typeface="Times New Roman"/>
                <a:ea typeface="Times New Roman"/>
                <a:cs typeface="Times New Roman"/>
                <a:sym typeface="Times New Roman"/>
              </a:rPr>
              <a:t>Created an evolutionary split to separate RC and RGB stars </a:t>
            </a:r>
            <a:r>
              <a:rPr lang="en" sz="1600">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indent="-330200" lvl="0" marL="635000" rtl="0" algn="l">
              <a:lnSpc>
                <a:spcPct val="115000"/>
              </a:lnSpc>
              <a:spcBef>
                <a:spcPts val="0"/>
              </a:spcBef>
              <a:spcAft>
                <a:spcPts val="0"/>
              </a:spcAft>
              <a:buClr>
                <a:schemeClr val="lt1"/>
              </a:buClr>
              <a:buSzPts val="1600"/>
              <a:buFont typeface="Times New Roman"/>
              <a:buChar char="●"/>
            </a:pPr>
            <a:r>
              <a:rPr lang="en" sz="1600">
                <a:solidFill>
                  <a:srgbClr val="FFFFFF"/>
                </a:solidFill>
                <a:latin typeface="Times New Roman"/>
                <a:ea typeface="Times New Roman"/>
                <a:cs typeface="Times New Roman"/>
                <a:sym typeface="Times New Roman"/>
              </a:rPr>
              <a:t>Incorporated split into data mask</a:t>
            </a:r>
            <a:r>
              <a:rPr lang="en" sz="1600">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indent="-330200" lvl="0" marL="635000" rtl="0" algn="l">
              <a:lnSpc>
                <a:spcPct val="115000"/>
              </a:lnSpc>
              <a:spcBef>
                <a:spcPts val="0"/>
              </a:spcBef>
              <a:spcAft>
                <a:spcPts val="0"/>
              </a:spcAft>
              <a:buClr>
                <a:schemeClr val="lt1"/>
              </a:buClr>
              <a:buSzPts val="1600"/>
              <a:buFont typeface="Times New Roman"/>
              <a:buChar char="●"/>
            </a:pPr>
            <a:r>
              <a:rPr lang="en" sz="1600">
                <a:solidFill>
                  <a:srgbClr val="FFFFFF"/>
                </a:solidFill>
                <a:latin typeface="Times New Roman"/>
                <a:ea typeface="Times New Roman"/>
                <a:cs typeface="Times New Roman"/>
                <a:sym typeface="Times New Roman"/>
              </a:rPr>
              <a:t>Train with separate models, [C/N] trends for RC and RGB are not the same, so mixing the sample could increase scatter</a:t>
            </a:r>
            <a:endParaRPr sz="1600">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81"/>
          <p:cNvSpPr txBox="1"/>
          <p:nvPr>
            <p:ph type="title"/>
          </p:nvPr>
        </p:nvSpPr>
        <p:spPr>
          <a:xfrm>
            <a:off x="344075" y="2827175"/>
            <a:ext cx="6658800" cy="679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4000">
                <a:latin typeface="Times New Roman"/>
                <a:ea typeface="Times New Roman"/>
                <a:cs typeface="Times New Roman"/>
                <a:sym typeface="Times New Roman"/>
              </a:rPr>
              <a:t>RC Model </a:t>
            </a:r>
            <a:endParaRPr sz="4000">
              <a:latin typeface="Times New Roman"/>
              <a:ea typeface="Times New Roman"/>
              <a:cs typeface="Times New Roman"/>
              <a:sym typeface="Times New Roman"/>
            </a:endParaRPr>
          </a:p>
        </p:txBody>
      </p:sp>
      <p:pic>
        <p:nvPicPr>
          <p:cNvPr id="825" name="Google Shape;825;p81"/>
          <p:cNvPicPr preferRelativeResize="0"/>
          <p:nvPr/>
        </p:nvPicPr>
        <p:blipFill>
          <a:blip r:embed="rId3">
            <a:alphaModFix/>
          </a:blip>
          <a:stretch>
            <a:fillRect/>
          </a:stretch>
        </p:blipFill>
        <p:spPr>
          <a:xfrm>
            <a:off x="370000" y="102675"/>
            <a:ext cx="3919575" cy="2343925"/>
          </a:xfrm>
          <a:prstGeom prst="rect">
            <a:avLst/>
          </a:prstGeom>
          <a:noFill/>
          <a:ln>
            <a:noFill/>
          </a:ln>
        </p:spPr>
      </p:pic>
      <p:sp>
        <p:nvSpPr>
          <p:cNvPr id="826" name="Google Shape;826;p81"/>
          <p:cNvSpPr txBox="1"/>
          <p:nvPr/>
        </p:nvSpPr>
        <p:spPr>
          <a:xfrm>
            <a:off x="275692" y="178142"/>
            <a:ext cx="1485300" cy="1485300"/>
          </a:xfrm>
          <a:prstGeom prst="rect">
            <a:avLst/>
          </a:prstGeom>
          <a:noFill/>
          <a:ln>
            <a:noFill/>
          </a:ln>
        </p:spPr>
        <p:txBody>
          <a:bodyPr anchorCtr="0" anchor="ctr" bIns="45275" lIns="45275" spcFirstLastPara="1" rIns="45275" wrap="square" tIns="45275">
            <a:noAutofit/>
          </a:bodyPr>
          <a:lstStyle/>
          <a:p>
            <a:pPr indent="0" lvl="0" marL="0" rtl="0" algn="l">
              <a:spcBef>
                <a:spcPts val="0"/>
              </a:spcBef>
              <a:spcAft>
                <a:spcPts val="0"/>
              </a:spcAft>
              <a:buNone/>
            </a:pPr>
            <a:r>
              <a:rPr lang="en" sz="594">
                <a:latin typeface="Times New Roman"/>
                <a:ea typeface="Times New Roman"/>
                <a:cs typeface="Times New Roman"/>
                <a:sym typeface="Times New Roman"/>
              </a:rPr>
              <a:t> </a:t>
            </a:r>
            <a:r>
              <a:rPr lang="en" sz="545"/>
              <a:t> </a:t>
            </a:r>
            <a:endParaRPr sz="693"/>
          </a:p>
        </p:txBody>
      </p:sp>
      <p:pic>
        <p:nvPicPr>
          <p:cNvPr id="827" name="Google Shape;827;p81"/>
          <p:cNvPicPr preferRelativeResize="0"/>
          <p:nvPr/>
        </p:nvPicPr>
        <p:blipFill>
          <a:blip r:embed="rId4">
            <a:alphaModFix/>
          </a:blip>
          <a:stretch>
            <a:fillRect/>
          </a:stretch>
        </p:blipFill>
        <p:spPr>
          <a:xfrm>
            <a:off x="4747294" y="102675"/>
            <a:ext cx="3945608" cy="2343925"/>
          </a:xfrm>
          <a:prstGeom prst="rect">
            <a:avLst/>
          </a:prstGeom>
          <a:noFill/>
          <a:ln>
            <a:noFill/>
          </a:ln>
        </p:spPr>
      </p:pic>
      <p:sp>
        <p:nvSpPr>
          <p:cNvPr id="828" name="Google Shape;828;p81"/>
          <p:cNvSpPr txBox="1"/>
          <p:nvPr/>
        </p:nvSpPr>
        <p:spPr>
          <a:xfrm>
            <a:off x="4674657" y="172125"/>
            <a:ext cx="1367400" cy="1367400"/>
          </a:xfrm>
          <a:prstGeom prst="rect">
            <a:avLst/>
          </a:prstGeom>
          <a:noFill/>
          <a:ln>
            <a:noFill/>
          </a:ln>
        </p:spPr>
        <p:txBody>
          <a:bodyPr anchorCtr="0" anchor="ctr" bIns="41650" lIns="41650" spcFirstLastPara="1" rIns="41650" wrap="square" tIns="41650">
            <a:noAutofit/>
          </a:bodyPr>
          <a:lstStyle/>
          <a:p>
            <a:pPr indent="0" lvl="0" marL="0" rtl="0" algn="l">
              <a:spcBef>
                <a:spcPts val="0"/>
              </a:spcBef>
              <a:spcAft>
                <a:spcPts val="0"/>
              </a:spcAft>
              <a:buNone/>
            </a:pPr>
            <a:r>
              <a:rPr lang="en" sz="547">
                <a:latin typeface="Times New Roman"/>
                <a:ea typeface="Times New Roman"/>
                <a:cs typeface="Times New Roman"/>
                <a:sym typeface="Times New Roman"/>
              </a:rPr>
              <a:t> </a:t>
            </a:r>
            <a:r>
              <a:rPr lang="en" sz="501"/>
              <a:t> </a:t>
            </a:r>
            <a:endParaRPr sz="638"/>
          </a:p>
        </p:txBody>
      </p:sp>
      <p:sp>
        <p:nvSpPr>
          <p:cNvPr id="829" name="Google Shape;829;p81"/>
          <p:cNvSpPr txBox="1"/>
          <p:nvPr/>
        </p:nvSpPr>
        <p:spPr>
          <a:xfrm>
            <a:off x="50025" y="3429000"/>
            <a:ext cx="5089500" cy="962100"/>
          </a:xfrm>
          <a:prstGeom prst="rect">
            <a:avLst/>
          </a:prstGeom>
          <a:noFill/>
          <a:ln>
            <a:noFill/>
          </a:ln>
        </p:spPr>
        <p:txBody>
          <a:bodyPr anchorCtr="0" anchor="t" bIns="91425" lIns="91425" spcFirstLastPara="1" rIns="91425" wrap="square" tIns="91425">
            <a:noAutofit/>
          </a:bodyPr>
          <a:lstStyle/>
          <a:p>
            <a:pPr indent="-381000" lvl="0" marL="685800" rtl="0" algn="l">
              <a:lnSpc>
                <a:spcPct val="115000"/>
              </a:lnSpc>
              <a:spcBef>
                <a:spcPts val="0"/>
              </a:spcBef>
              <a:spcAft>
                <a:spcPts val="0"/>
              </a:spcAft>
              <a:buClr>
                <a:schemeClr val="lt1"/>
              </a:buClr>
              <a:buSzPts val="2400"/>
              <a:buFont typeface="Arial"/>
              <a:buChar char="●"/>
            </a:pPr>
            <a:r>
              <a:rPr lang="en" sz="2400">
                <a:solidFill>
                  <a:srgbClr val="FFFFFF"/>
                </a:solidFill>
                <a:latin typeface="Times New Roman"/>
                <a:ea typeface="Times New Roman"/>
                <a:cs typeface="Times New Roman"/>
                <a:sym typeface="Times New Roman"/>
              </a:rPr>
              <a:t>Mass scatter dropped 19% </a:t>
            </a:r>
            <a:r>
              <a:rPr lang="en"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381000" lvl="0" marL="685800" rtl="0" algn="l">
              <a:lnSpc>
                <a:spcPct val="115000"/>
              </a:lnSpc>
              <a:spcBef>
                <a:spcPts val="0"/>
              </a:spcBef>
              <a:spcAft>
                <a:spcPts val="0"/>
              </a:spcAft>
              <a:buClr>
                <a:schemeClr val="lt1"/>
              </a:buClr>
              <a:buSzPts val="2400"/>
              <a:buFont typeface="Arial"/>
              <a:buChar char="●"/>
            </a:pPr>
            <a:r>
              <a:rPr lang="en" sz="2400">
                <a:solidFill>
                  <a:srgbClr val="FFFFFF"/>
                </a:solidFill>
                <a:latin typeface="Times New Roman"/>
                <a:ea typeface="Times New Roman"/>
                <a:cs typeface="Times New Roman"/>
                <a:sym typeface="Times New Roman"/>
              </a:rPr>
              <a:t>Age scatter dropped 6%</a:t>
            </a:r>
            <a:endParaRPr sz="2400">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lt1"/>
              </a:solidFill>
              <a:latin typeface="Urbanist"/>
              <a:ea typeface="Urbanist"/>
              <a:cs typeface="Urbanist"/>
              <a:sym typeface="Urbanist"/>
            </a:endParaRPr>
          </a:p>
        </p:txBody>
      </p:sp>
      <p:sp>
        <p:nvSpPr>
          <p:cNvPr id="830" name="Google Shape;830;p81"/>
          <p:cNvSpPr txBox="1"/>
          <p:nvPr/>
        </p:nvSpPr>
        <p:spPr>
          <a:xfrm>
            <a:off x="5005200" y="2827175"/>
            <a:ext cx="3617700" cy="1537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2400">
                <a:solidFill>
                  <a:srgbClr val="FFFFFF"/>
                </a:solidFill>
                <a:latin typeface="Times New Roman"/>
                <a:ea typeface="Times New Roman"/>
                <a:cs typeface="Times New Roman"/>
                <a:sym typeface="Times New Roman"/>
              </a:rPr>
              <a:t>Splitting into separate RC</a:t>
            </a:r>
            <a:endParaRPr sz="2400">
              <a:solidFill>
                <a:srgbClr val="FFFFFF"/>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2400">
                <a:solidFill>
                  <a:srgbClr val="FFFFFF"/>
                </a:solidFill>
                <a:latin typeface="Times New Roman"/>
                <a:ea typeface="Times New Roman"/>
                <a:cs typeface="Times New Roman"/>
                <a:sym typeface="Times New Roman"/>
              </a:rPr>
              <a:t>and RGB models reduced</a:t>
            </a:r>
            <a:endParaRPr sz="2400">
              <a:solidFill>
                <a:srgbClr val="FFFFFF"/>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2400">
                <a:solidFill>
                  <a:srgbClr val="FFFFFF"/>
                </a:solidFill>
                <a:latin typeface="Times New Roman"/>
                <a:ea typeface="Times New Roman"/>
                <a:cs typeface="Times New Roman"/>
                <a:sym typeface="Times New Roman"/>
              </a:rPr>
              <a:t>scatter for both populations </a:t>
            </a:r>
            <a:r>
              <a:rPr lang="en"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lt1"/>
              </a:solidFill>
              <a:latin typeface="Urbanist"/>
              <a:ea typeface="Urbanist"/>
              <a:cs typeface="Urbanist"/>
              <a:sym typeface="Urbanist"/>
            </a:endParaRPr>
          </a:p>
        </p:txBody>
      </p:sp>
      <p:sp>
        <p:nvSpPr>
          <p:cNvPr id="831" name="Google Shape;831;p81"/>
          <p:cNvSpPr txBox="1"/>
          <p:nvPr/>
        </p:nvSpPr>
        <p:spPr>
          <a:xfrm>
            <a:off x="1925150" y="1126888"/>
            <a:ext cx="586200" cy="29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000">
                <a:solidFill>
                  <a:schemeClr val="dk1"/>
                </a:solidFill>
                <a:latin typeface="Times New Roman"/>
                <a:ea typeface="Times New Roman"/>
                <a:cs typeface="Times New Roman"/>
                <a:sym typeface="Times New Roman"/>
              </a:rPr>
              <a:t>M☉</a:t>
            </a:r>
            <a:r>
              <a:rPr lang="en" sz="1000">
                <a:solidFill>
                  <a:schemeClr val="dk1"/>
                </a:solidFill>
                <a:latin typeface="Times New Roman"/>
                <a:ea typeface="Times New Roman"/>
                <a:cs typeface="Times New Roman"/>
                <a:sym typeface="Times New Roman"/>
              </a:rPr>
              <a:t> </a:t>
            </a:r>
            <a:endParaRPr sz="1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
        <p:nvSpPr>
          <p:cNvPr id="832" name="Google Shape;832;p81"/>
          <p:cNvSpPr txBox="1"/>
          <p:nvPr/>
        </p:nvSpPr>
        <p:spPr>
          <a:xfrm>
            <a:off x="6383600" y="1168150"/>
            <a:ext cx="485400" cy="2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Times New Roman"/>
                <a:ea typeface="Times New Roman"/>
                <a:cs typeface="Times New Roman"/>
                <a:sym typeface="Times New Roman"/>
              </a:rPr>
              <a:t>Gya</a:t>
            </a:r>
            <a:endParaRPr b="1" sz="1100">
              <a:solidFill>
                <a:schemeClr val="dk1"/>
              </a:solidFill>
              <a:latin typeface="Times New Roman"/>
              <a:ea typeface="Times New Roman"/>
              <a:cs typeface="Times New Roman"/>
              <a:sym typeface="Times New Roman"/>
            </a:endParaRPr>
          </a:p>
        </p:txBody>
      </p:sp>
      <p:sp>
        <p:nvSpPr>
          <p:cNvPr id="833" name="Google Shape;833;p81"/>
          <p:cNvSpPr txBox="1"/>
          <p:nvPr/>
        </p:nvSpPr>
        <p:spPr>
          <a:xfrm>
            <a:off x="1056150" y="102675"/>
            <a:ext cx="16815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highlight>
                  <a:schemeClr val="lt1"/>
                </a:highlight>
                <a:latin typeface="Times New Roman"/>
                <a:ea typeface="Times New Roman"/>
                <a:cs typeface="Times New Roman"/>
                <a:sym typeface="Times New Roman"/>
              </a:rPr>
              <a:t>1-1 Plot of Label mass</a:t>
            </a:r>
            <a:endParaRPr sz="900">
              <a:solidFill>
                <a:schemeClr val="dk1"/>
              </a:solidFill>
              <a:highlight>
                <a:schemeClr val="lt1"/>
              </a:highlight>
              <a:latin typeface="Times New Roman"/>
              <a:ea typeface="Times New Roman"/>
              <a:cs typeface="Times New Roman"/>
              <a:sym typeface="Times New Roman"/>
            </a:endParaRPr>
          </a:p>
        </p:txBody>
      </p:sp>
      <p:sp>
        <p:nvSpPr>
          <p:cNvPr id="834" name="Google Shape;834;p81"/>
          <p:cNvSpPr txBox="1"/>
          <p:nvPr/>
        </p:nvSpPr>
        <p:spPr>
          <a:xfrm>
            <a:off x="5498575" y="102675"/>
            <a:ext cx="16815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highlight>
                  <a:schemeClr val="lt1"/>
                </a:highlight>
                <a:latin typeface="Times New Roman"/>
                <a:ea typeface="Times New Roman"/>
                <a:cs typeface="Times New Roman"/>
                <a:sym typeface="Times New Roman"/>
              </a:rPr>
              <a:t>1-1 Plot of Label age</a:t>
            </a:r>
            <a:endParaRPr sz="900">
              <a:solidFill>
                <a:schemeClr val="dk1"/>
              </a:solidFill>
              <a:highlight>
                <a:schemeClr val="lt1"/>
              </a:highlight>
              <a:latin typeface="Times New Roman"/>
              <a:ea typeface="Times New Roman"/>
              <a:cs typeface="Times New Roman"/>
              <a:sym typeface="Times New Roman"/>
            </a:endParaRPr>
          </a:p>
        </p:txBody>
      </p:sp>
      <p:sp>
        <p:nvSpPr>
          <p:cNvPr id="835" name="Google Shape;835;p81"/>
          <p:cNvSpPr txBox="1"/>
          <p:nvPr/>
        </p:nvSpPr>
        <p:spPr>
          <a:xfrm>
            <a:off x="1303659" y="1673550"/>
            <a:ext cx="11865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Reference Values</a:t>
            </a:r>
            <a:endParaRPr sz="800">
              <a:solidFill>
                <a:schemeClr val="dk1"/>
              </a:solidFill>
              <a:highlight>
                <a:schemeClr val="lt1"/>
              </a:highlight>
              <a:latin typeface="Times New Roman"/>
              <a:ea typeface="Times New Roman"/>
              <a:cs typeface="Times New Roman"/>
              <a:sym typeface="Times New Roman"/>
            </a:endParaRPr>
          </a:p>
        </p:txBody>
      </p:sp>
      <p:sp>
        <p:nvSpPr>
          <p:cNvPr id="836" name="Google Shape;836;p81"/>
          <p:cNvSpPr txBox="1"/>
          <p:nvPr/>
        </p:nvSpPr>
        <p:spPr>
          <a:xfrm>
            <a:off x="5682509" y="1673550"/>
            <a:ext cx="11865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Reference Values</a:t>
            </a:r>
            <a:endParaRPr sz="800">
              <a:solidFill>
                <a:schemeClr val="dk1"/>
              </a:solidFill>
              <a:highlight>
                <a:schemeClr val="lt1"/>
              </a:highlight>
              <a:latin typeface="Times New Roman"/>
              <a:ea typeface="Times New Roman"/>
              <a:cs typeface="Times New Roman"/>
              <a:sym typeface="Times New Roman"/>
            </a:endParaRPr>
          </a:p>
        </p:txBody>
      </p:sp>
      <p:sp>
        <p:nvSpPr>
          <p:cNvPr id="837" name="Google Shape;837;p81"/>
          <p:cNvSpPr txBox="1"/>
          <p:nvPr/>
        </p:nvSpPr>
        <p:spPr>
          <a:xfrm rot="-5400000">
            <a:off x="-125375" y="680175"/>
            <a:ext cx="14109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Cannon Test Value</a:t>
            </a:r>
            <a:endParaRPr sz="800">
              <a:solidFill>
                <a:schemeClr val="dk1"/>
              </a:solidFill>
              <a:highlight>
                <a:schemeClr val="lt1"/>
              </a:highlight>
              <a:latin typeface="Times New Roman"/>
              <a:ea typeface="Times New Roman"/>
              <a:cs typeface="Times New Roman"/>
              <a:sym typeface="Times New Roman"/>
            </a:endParaRPr>
          </a:p>
        </p:txBody>
      </p:sp>
      <p:sp>
        <p:nvSpPr>
          <p:cNvPr id="838" name="Google Shape;838;p81"/>
          <p:cNvSpPr txBox="1"/>
          <p:nvPr/>
        </p:nvSpPr>
        <p:spPr>
          <a:xfrm rot="-5400000">
            <a:off x="4243988" y="680175"/>
            <a:ext cx="14109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Cannon Test Value</a:t>
            </a:r>
            <a:endParaRPr sz="800">
              <a:solidFill>
                <a:schemeClr val="dk1"/>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82"/>
          <p:cNvSpPr txBox="1"/>
          <p:nvPr>
            <p:ph type="title"/>
          </p:nvPr>
        </p:nvSpPr>
        <p:spPr>
          <a:xfrm>
            <a:off x="347850" y="2408513"/>
            <a:ext cx="6658800" cy="535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4000">
                <a:latin typeface="Times New Roman"/>
                <a:ea typeface="Times New Roman"/>
                <a:cs typeface="Times New Roman"/>
                <a:sym typeface="Times New Roman"/>
              </a:rPr>
              <a:t>RGB Model</a:t>
            </a:r>
            <a:endParaRPr sz="4000">
              <a:latin typeface="Times New Roman"/>
              <a:ea typeface="Times New Roman"/>
              <a:cs typeface="Times New Roman"/>
              <a:sym typeface="Times New Roman"/>
            </a:endParaRPr>
          </a:p>
        </p:txBody>
      </p:sp>
      <p:sp>
        <p:nvSpPr>
          <p:cNvPr id="844" name="Google Shape;844;p82"/>
          <p:cNvSpPr txBox="1"/>
          <p:nvPr/>
        </p:nvSpPr>
        <p:spPr>
          <a:xfrm>
            <a:off x="0" y="2789375"/>
            <a:ext cx="5003100" cy="702300"/>
          </a:xfrm>
          <a:prstGeom prst="rect">
            <a:avLst/>
          </a:prstGeom>
          <a:noFill/>
          <a:ln>
            <a:noFill/>
          </a:ln>
        </p:spPr>
        <p:txBody>
          <a:bodyPr anchorCtr="0" anchor="t" bIns="91425" lIns="91425" spcFirstLastPara="1" rIns="91425" wrap="square" tIns="91425">
            <a:noAutofit/>
          </a:bodyPr>
          <a:lstStyle/>
          <a:p>
            <a:pPr indent="-320675" lvl="0" marL="635000" rtl="0" algn="l">
              <a:lnSpc>
                <a:spcPct val="115000"/>
              </a:lnSpc>
              <a:spcBef>
                <a:spcPts val="0"/>
              </a:spcBef>
              <a:spcAft>
                <a:spcPts val="0"/>
              </a:spcAft>
              <a:buClr>
                <a:schemeClr val="lt1"/>
              </a:buClr>
              <a:buSzPts val="1450"/>
              <a:buFont typeface="Arial"/>
              <a:buChar char="●"/>
            </a:pPr>
            <a:r>
              <a:rPr lang="en" sz="2400">
                <a:solidFill>
                  <a:srgbClr val="FFFFFF"/>
                </a:solidFill>
                <a:latin typeface="Times New Roman"/>
                <a:ea typeface="Times New Roman"/>
                <a:cs typeface="Times New Roman"/>
                <a:sym typeface="Times New Roman"/>
              </a:rPr>
              <a:t>Mass scatter dropped 46%</a:t>
            </a:r>
            <a:r>
              <a:rPr lang="en"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320675" lvl="0" marL="635000" rtl="0" algn="l">
              <a:lnSpc>
                <a:spcPct val="115000"/>
              </a:lnSpc>
              <a:spcBef>
                <a:spcPts val="0"/>
              </a:spcBef>
              <a:spcAft>
                <a:spcPts val="0"/>
              </a:spcAft>
              <a:buClr>
                <a:schemeClr val="lt1"/>
              </a:buClr>
              <a:buSzPts val="1450"/>
              <a:buFont typeface="Arial"/>
              <a:buChar char="●"/>
            </a:pPr>
            <a:r>
              <a:rPr lang="en" sz="2400">
                <a:solidFill>
                  <a:srgbClr val="FFFFFF"/>
                </a:solidFill>
                <a:latin typeface="Times New Roman"/>
                <a:ea typeface="Times New Roman"/>
                <a:cs typeface="Times New Roman"/>
                <a:sym typeface="Times New Roman"/>
              </a:rPr>
              <a:t>Age scatter dropped 27%</a:t>
            </a:r>
            <a:endParaRPr sz="2400">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pic>
        <p:nvPicPr>
          <p:cNvPr id="845" name="Google Shape;845;p82"/>
          <p:cNvPicPr preferRelativeResize="0"/>
          <p:nvPr/>
        </p:nvPicPr>
        <p:blipFill>
          <a:blip r:embed="rId3">
            <a:alphaModFix/>
          </a:blip>
          <a:stretch>
            <a:fillRect/>
          </a:stretch>
        </p:blipFill>
        <p:spPr>
          <a:xfrm>
            <a:off x="476100" y="91175"/>
            <a:ext cx="3707400" cy="2212151"/>
          </a:xfrm>
          <a:prstGeom prst="rect">
            <a:avLst/>
          </a:prstGeom>
          <a:noFill/>
          <a:ln>
            <a:noFill/>
          </a:ln>
        </p:spPr>
      </p:pic>
      <p:sp>
        <p:nvSpPr>
          <p:cNvPr id="846" name="Google Shape;846;p82"/>
          <p:cNvSpPr txBox="1"/>
          <p:nvPr/>
        </p:nvSpPr>
        <p:spPr>
          <a:xfrm>
            <a:off x="294145" y="156720"/>
            <a:ext cx="1290300" cy="1290300"/>
          </a:xfrm>
          <a:prstGeom prst="rect">
            <a:avLst/>
          </a:prstGeom>
          <a:noFill/>
          <a:ln>
            <a:noFill/>
          </a:ln>
        </p:spPr>
        <p:txBody>
          <a:bodyPr anchorCtr="0" anchor="ctr" bIns="39325" lIns="39325" spcFirstLastPara="1" rIns="39325" wrap="square" tIns="39325">
            <a:noAutofit/>
          </a:bodyPr>
          <a:lstStyle/>
          <a:p>
            <a:pPr indent="0" lvl="0" marL="0" rtl="0" algn="l">
              <a:spcBef>
                <a:spcPts val="0"/>
              </a:spcBef>
              <a:spcAft>
                <a:spcPts val="0"/>
              </a:spcAft>
              <a:buNone/>
            </a:pPr>
            <a:r>
              <a:rPr lang="en" sz="516">
                <a:latin typeface="Times New Roman"/>
                <a:ea typeface="Times New Roman"/>
                <a:cs typeface="Times New Roman"/>
                <a:sym typeface="Times New Roman"/>
              </a:rPr>
              <a:t> </a:t>
            </a:r>
            <a:r>
              <a:rPr lang="en" sz="473"/>
              <a:t> </a:t>
            </a:r>
            <a:endParaRPr sz="602"/>
          </a:p>
        </p:txBody>
      </p:sp>
      <p:pic>
        <p:nvPicPr>
          <p:cNvPr id="847" name="Google Shape;847;p82"/>
          <p:cNvPicPr preferRelativeResize="0"/>
          <p:nvPr/>
        </p:nvPicPr>
        <p:blipFill>
          <a:blip r:embed="rId4">
            <a:alphaModFix/>
          </a:blip>
          <a:stretch>
            <a:fillRect/>
          </a:stretch>
        </p:blipFill>
        <p:spPr>
          <a:xfrm>
            <a:off x="4958308" y="91175"/>
            <a:ext cx="3711492" cy="2212148"/>
          </a:xfrm>
          <a:prstGeom prst="rect">
            <a:avLst/>
          </a:prstGeom>
          <a:noFill/>
          <a:ln>
            <a:noFill/>
          </a:ln>
        </p:spPr>
      </p:pic>
      <p:sp>
        <p:nvSpPr>
          <p:cNvPr id="848" name="Google Shape;848;p82"/>
          <p:cNvSpPr txBox="1"/>
          <p:nvPr/>
        </p:nvSpPr>
        <p:spPr>
          <a:xfrm>
            <a:off x="4545553" y="156720"/>
            <a:ext cx="1290000" cy="1290000"/>
          </a:xfrm>
          <a:prstGeom prst="rect">
            <a:avLst/>
          </a:prstGeom>
          <a:noFill/>
          <a:ln>
            <a:noFill/>
          </a:ln>
        </p:spPr>
        <p:txBody>
          <a:bodyPr anchorCtr="0" anchor="ctr" bIns="39325" lIns="39325" spcFirstLastPara="1" rIns="39325" wrap="square" tIns="39325">
            <a:noAutofit/>
          </a:bodyPr>
          <a:lstStyle/>
          <a:p>
            <a:pPr indent="0" lvl="0" marL="0" rtl="0" algn="l">
              <a:spcBef>
                <a:spcPts val="0"/>
              </a:spcBef>
              <a:spcAft>
                <a:spcPts val="0"/>
              </a:spcAft>
              <a:buNone/>
            </a:pPr>
            <a:r>
              <a:rPr lang="en" sz="602"/>
              <a:t>  </a:t>
            </a:r>
            <a:endParaRPr sz="602"/>
          </a:p>
        </p:txBody>
      </p:sp>
      <p:pic>
        <p:nvPicPr>
          <p:cNvPr id="849" name="Google Shape;849;p82"/>
          <p:cNvPicPr preferRelativeResize="0"/>
          <p:nvPr/>
        </p:nvPicPr>
        <p:blipFill>
          <a:blip r:embed="rId5">
            <a:alphaModFix/>
          </a:blip>
          <a:stretch>
            <a:fillRect/>
          </a:stretch>
        </p:blipFill>
        <p:spPr>
          <a:xfrm>
            <a:off x="4312450" y="2460150"/>
            <a:ext cx="4357349" cy="1992575"/>
          </a:xfrm>
          <a:prstGeom prst="rect">
            <a:avLst/>
          </a:prstGeom>
          <a:noFill/>
          <a:ln>
            <a:noFill/>
          </a:ln>
        </p:spPr>
      </p:pic>
      <p:sp>
        <p:nvSpPr>
          <p:cNvPr id="850" name="Google Shape;850;p82"/>
          <p:cNvSpPr txBox="1"/>
          <p:nvPr/>
        </p:nvSpPr>
        <p:spPr>
          <a:xfrm>
            <a:off x="112125" y="3905500"/>
            <a:ext cx="4242900" cy="702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FFFFFF"/>
                </a:solidFill>
                <a:latin typeface="Times New Roman"/>
                <a:ea typeface="Times New Roman"/>
                <a:cs typeface="Times New Roman"/>
                <a:sym typeface="Times New Roman"/>
              </a:rPr>
              <a:t>Kiel diagram shows similarities of RC and RGB stars in logg and temperature space but easily separable by distinguishing deltapi</a:t>
            </a:r>
            <a:endParaRPr sz="1200">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lt1"/>
              </a:solidFill>
              <a:latin typeface="Urbanist"/>
              <a:ea typeface="Urbanist"/>
              <a:cs typeface="Urbanist"/>
              <a:sym typeface="Urbanist"/>
            </a:endParaRPr>
          </a:p>
        </p:txBody>
      </p:sp>
      <p:sp>
        <p:nvSpPr>
          <p:cNvPr id="851" name="Google Shape;851;p82"/>
          <p:cNvSpPr txBox="1"/>
          <p:nvPr/>
        </p:nvSpPr>
        <p:spPr>
          <a:xfrm>
            <a:off x="1858125" y="1076500"/>
            <a:ext cx="750900" cy="2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Times New Roman"/>
                <a:ea typeface="Times New Roman"/>
                <a:cs typeface="Times New Roman"/>
                <a:sym typeface="Times New Roman"/>
              </a:rPr>
              <a:t>M☉</a:t>
            </a:r>
            <a:r>
              <a:rPr lang="en" sz="1000">
                <a:solidFill>
                  <a:schemeClr val="dk1"/>
                </a:solidFill>
                <a:latin typeface="Times New Roman"/>
                <a:ea typeface="Times New Roman"/>
                <a:cs typeface="Times New Roman"/>
                <a:sym typeface="Times New Roman"/>
              </a:rPr>
              <a:t> </a:t>
            </a:r>
            <a:endParaRPr sz="1000">
              <a:solidFill>
                <a:schemeClr val="dk1"/>
              </a:solidFill>
              <a:latin typeface="Times New Roman"/>
              <a:ea typeface="Times New Roman"/>
              <a:cs typeface="Times New Roman"/>
              <a:sym typeface="Times New Roman"/>
            </a:endParaRPr>
          </a:p>
        </p:txBody>
      </p:sp>
      <p:sp>
        <p:nvSpPr>
          <p:cNvPr id="852" name="Google Shape;852;p82"/>
          <p:cNvSpPr txBox="1"/>
          <p:nvPr/>
        </p:nvSpPr>
        <p:spPr>
          <a:xfrm>
            <a:off x="6376600" y="1012375"/>
            <a:ext cx="687000" cy="14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chemeClr val="dk1"/>
                </a:solidFill>
                <a:latin typeface="Times New Roman"/>
                <a:ea typeface="Times New Roman"/>
                <a:cs typeface="Times New Roman"/>
                <a:sym typeface="Times New Roman"/>
              </a:rPr>
              <a:t>Gya</a:t>
            </a:r>
            <a:endParaRPr sz="1200">
              <a:solidFill>
                <a:schemeClr val="lt1"/>
              </a:solidFill>
              <a:latin typeface="Urbanist"/>
              <a:ea typeface="Urbanist"/>
              <a:cs typeface="Urbanist"/>
              <a:sym typeface="Urbanist"/>
            </a:endParaRPr>
          </a:p>
        </p:txBody>
      </p:sp>
      <p:sp>
        <p:nvSpPr>
          <p:cNvPr id="853" name="Google Shape;853;p82"/>
          <p:cNvSpPr txBox="1"/>
          <p:nvPr/>
        </p:nvSpPr>
        <p:spPr>
          <a:xfrm>
            <a:off x="1056150" y="102675"/>
            <a:ext cx="16815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highlight>
                  <a:schemeClr val="lt1"/>
                </a:highlight>
                <a:latin typeface="Times New Roman"/>
                <a:ea typeface="Times New Roman"/>
                <a:cs typeface="Times New Roman"/>
                <a:sym typeface="Times New Roman"/>
              </a:rPr>
              <a:t>1-1 Plot of Label mass</a:t>
            </a:r>
            <a:endParaRPr sz="900">
              <a:solidFill>
                <a:schemeClr val="dk1"/>
              </a:solidFill>
              <a:highlight>
                <a:schemeClr val="lt1"/>
              </a:highlight>
              <a:latin typeface="Times New Roman"/>
              <a:ea typeface="Times New Roman"/>
              <a:cs typeface="Times New Roman"/>
              <a:sym typeface="Times New Roman"/>
            </a:endParaRPr>
          </a:p>
        </p:txBody>
      </p:sp>
      <p:sp>
        <p:nvSpPr>
          <p:cNvPr id="854" name="Google Shape;854;p82"/>
          <p:cNvSpPr txBox="1"/>
          <p:nvPr/>
        </p:nvSpPr>
        <p:spPr>
          <a:xfrm>
            <a:off x="5565025" y="102675"/>
            <a:ext cx="16815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highlight>
                  <a:schemeClr val="lt1"/>
                </a:highlight>
                <a:latin typeface="Times New Roman"/>
                <a:ea typeface="Times New Roman"/>
                <a:cs typeface="Times New Roman"/>
                <a:sym typeface="Times New Roman"/>
              </a:rPr>
              <a:t>1-1 Plot of Label age</a:t>
            </a:r>
            <a:endParaRPr sz="900">
              <a:solidFill>
                <a:schemeClr val="dk1"/>
              </a:solidFill>
              <a:highlight>
                <a:schemeClr val="lt1"/>
              </a:highlight>
              <a:latin typeface="Times New Roman"/>
              <a:ea typeface="Times New Roman"/>
              <a:cs typeface="Times New Roman"/>
              <a:sym typeface="Times New Roman"/>
            </a:endParaRPr>
          </a:p>
        </p:txBody>
      </p:sp>
      <p:sp>
        <p:nvSpPr>
          <p:cNvPr id="855" name="Google Shape;855;p82"/>
          <p:cNvSpPr txBox="1"/>
          <p:nvPr/>
        </p:nvSpPr>
        <p:spPr>
          <a:xfrm>
            <a:off x="1422534" y="1545600"/>
            <a:ext cx="11865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highlight>
                  <a:schemeClr val="lt1"/>
                </a:highlight>
                <a:latin typeface="Times New Roman"/>
                <a:ea typeface="Times New Roman"/>
                <a:cs typeface="Times New Roman"/>
                <a:sym typeface="Times New Roman"/>
              </a:rPr>
              <a:t>Reference Values</a:t>
            </a:r>
            <a:endParaRPr sz="700">
              <a:solidFill>
                <a:schemeClr val="dk1"/>
              </a:solidFill>
              <a:highlight>
                <a:schemeClr val="lt1"/>
              </a:highlight>
              <a:latin typeface="Times New Roman"/>
              <a:ea typeface="Times New Roman"/>
              <a:cs typeface="Times New Roman"/>
              <a:sym typeface="Times New Roman"/>
            </a:endParaRPr>
          </a:p>
        </p:txBody>
      </p:sp>
      <p:sp>
        <p:nvSpPr>
          <p:cNvPr id="856" name="Google Shape;856;p82"/>
          <p:cNvSpPr txBox="1"/>
          <p:nvPr/>
        </p:nvSpPr>
        <p:spPr>
          <a:xfrm>
            <a:off x="5812534" y="1545600"/>
            <a:ext cx="11865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Reference Values</a:t>
            </a:r>
            <a:endParaRPr sz="800">
              <a:solidFill>
                <a:schemeClr val="dk1"/>
              </a:solidFill>
              <a:highlight>
                <a:schemeClr val="lt1"/>
              </a:highlight>
              <a:latin typeface="Times New Roman"/>
              <a:ea typeface="Times New Roman"/>
              <a:cs typeface="Times New Roman"/>
              <a:sym typeface="Times New Roman"/>
            </a:endParaRPr>
          </a:p>
        </p:txBody>
      </p:sp>
      <p:sp>
        <p:nvSpPr>
          <p:cNvPr id="857" name="Google Shape;857;p82"/>
          <p:cNvSpPr txBox="1"/>
          <p:nvPr/>
        </p:nvSpPr>
        <p:spPr>
          <a:xfrm rot="-5400000">
            <a:off x="-25675" y="613350"/>
            <a:ext cx="14109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Cannon Test Value</a:t>
            </a:r>
            <a:endParaRPr sz="800">
              <a:solidFill>
                <a:schemeClr val="dk1"/>
              </a:solidFill>
              <a:highlight>
                <a:schemeClr val="lt1"/>
              </a:highlight>
              <a:latin typeface="Times New Roman"/>
              <a:ea typeface="Times New Roman"/>
              <a:cs typeface="Times New Roman"/>
              <a:sym typeface="Times New Roman"/>
            </a:endParaRPr>
          </a:p>
        </p:txBody>
      </p:sp>
      <p:sp>
        <p:nvSpPr>
          <p:cNvPr id="858" name="Google Shape;858;p82"/>
          <p:cNvSpPr txBox="1"/>
          <p:nvPr/>
        </p:nvSpPr>
        <p:spPr>
          <a:xfrm rot="-5400000">
            <a:off x="4485100" y="613350"/>
            <a:ext cx="14109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highlight>
                  <a:schemeClr val="lt1"/>
                </a:highlight>
                <a:latin typeface="Times New Roman"/>
                <a:ea typeface="Times New Roman"/>
                <a:cs typeface="Times New Roman"/>
                <a:sym typeface="Times New Roman"/>
              </a:rPr>
              <a:t>Cannon Test Value</a:t>
            </a:r>
            <a:endParaRPr sz="800">
              <a:solidFill>
                <a:schemeClr val="dk1"/>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83"/>
          <p:cNvSpPr txBox="1"/>
          <p:nvPr>
            <p:ph type="title"/>
          </p:nvPr>
        </p:nvSpPr>
        <p:spPr>
          <a:xfrm>
            <a:off x="228600" y="228600"/>
            <a:ext cx="6658800" cy="900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4000">
                <a:latin typeface="Times New Roman"/>
                <a:ea typeface="Times New Roman"/>
                <a:cs typeface="Times New Roman"/>
                <a:sym typeface="Times New Roman"/>
              </a:rPr>
              <a:t>Stellar Age Map </a:t>
            </a:r>
            <a:endParaRPr sz="4000">
              <a:latin typeface="Times New Roman"/>
              <a:ea typeface="Times New Roman"/>
              <a:cs typeface="Times New Roman"/>
              <a:sym typeface="Times New Roman"/>
            </a:endParaRPr>
          </a:p>
        </p:txBody>
      </p:sp>
      <p:pic>
        <p:nvPicPr>
          <p:cNvPr id="864" name="Google Shape;864;p83"/>
          <p:cNvPicPr preferRelativeResize="0"/>
          <p:nvPr/>
        </p:nvPicPr>
        <p:blipFill>
          <a:blip r:embed="rId3">
            <a:alphaModFix/>
          </a:blip>
          <a:stretch>
            <a:fillRect/>
          </a:stretch>
        </p:blipFill>
        <p:spPr>
          <a:xfrm>
            <a:off x="46575" y="827813"/>
            <a:ext cx="4258500" cy="1947374"/>
          </a:xfrm>
          <a:prstGeom prst="rect">
            <a:avLst/>
          </a:prstGeom>
          <a:noFill/>
          <a:ln>
            <a:noFill/>
          </a:ln>
        </p:spPr>
      </p:pic>
      <p:sp>
        <p:nvSpPr>
          <p:cNvPr id="865" name="Google Shape;865;p83"/>
          <p:cNvSpPr txBox="1"/>
          <p:nvPr/>
        </p:nvSpPr>
        <p:spPr>
          <a:xfrm>
            <a:off x="4525050" y="770100"/>
            <a:ext cx="3348300" cy="3059400"/>
          </a:xfrm>
          <a:prstGeom prst="rect">
            <a:avLst/>
          </a:prstGeom>
          <a:noFill/>
          <a:ln>
            <a:noFill/>
          </a:ln>
        </p:spPr>
        <p:txBody>
          <a:bodyPr anchorCtr="0" anchor="t" bIns="91425" lIns="91425" spcFirstLastPara="1" rIns="91425" wrap="square" tIns="91425">
            <a:noAutofit/>
          </a:bodyPr>
          <a:lstStyle/>
          <a:p>
            <a:pPr indent="-342900" lvl="0" marL="635000" rtl="0" algn="l">
              <a:lnSpc>
                <a:spcPct val="115000"/>
              </a:lnSpc>
              <a:spcBef>
                <a:spcPts val="0"/>
              </a:spcBef>
              <a:spcAft>
                <a:spcPts val="0"/>
              </a:spcAft>
              <a:buClr>
                <a:schemeClr val="lt1"/>
              </a:buClr>
              <a:buSzPts val="1800"/>
              <a:buFont typeface="Arial"/>
              <a:buChar char="●"/>
            </a:pPr>
            <a:r>
              <a:rPr lang="en" sz="1800">
                <a:solidFill>
                  <a:srgbClr val="FFFFFF"/>
                </a:solidFill>
                <a:latin typeface="Times New Roman"/>
                <a:ea typeface="Times New Roman"/>
                <a:cs typeface="Times New Roman"/>
                <a:sym typeface="Times New Roman"/>
              </a:rPr>
              <a:t>Using the stars positions (right ascension, declination, and distance via parallax) </a:t>
            </a:r>
            <a:r>
              <a:rPr lang="e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635000" rtl="0" algn="l">
              <a:lnSpc>
                <a:spcPct val="115000"/>
              </a:lnSpc>
              <a:spcBef>
                <a:spcPts val="0"/>
              </a:spcBef>
              <a:spcAft>
                <a:spcPts val="0"/>
              </a:spcAft>
              <a:buClr>
                <a:schemeClr val="lt1"/>
              </a:buClr>
              <a:buSzPts val="1800"/>
              <a:buFont typeface="Arial"/>
              <a:buChar char="●"/>
            </a:pPr>
            <a:r>
              <a:rPr lang="en" sz="1800">
                <a:solidFill>
                  <a:srgbClr val="FFFFFF"/>
                </a:solidFill>
                <a:latin typeface="Times New Roman"/>
                <a:ea typeface="Times New Roman"/>
                <a:cs typeface="Times New Roman"/>
                <a:sym typeface="Times New Roman"/>
              </a:rPr>
              <a:t>Does not reveal too much for this specific dataset </a:t>
            </a:r>
            <a:endParaRPr sz="1800">
              <a:solidFill>
                <a:srgbClr val="FFFFFF"/>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lt1"/>
              </a:solidFill>
              <a:latin typeface="Urbanist"/>
              <a:ea typeface="Urbanist"/>
              <a:cs typeface="Urbanist"/>
              <a:sym typeface="Urbanist"/>
            </a:endParaRPr>
          </a:p>
        </p:txBody>
      </p:sp>
      <p:sp>
        <p:nvSpPr>
          <p:cNvPr id="866" name="Google Shape;866;p83"/>
          <p:cNvSpPr txBox="1"/>
          <p:nvPr/>
        </p:nvSpPr>
        <p:spPr>
          <a:xfrm>
            <a:off x="4452725" y="3070125"/>
            <a:ext cx="3929100" cy="14766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rPr lang="en" sz="1800">
                <a:solidFill>
                  <a:srgbClr val="FFFFFF"/>
                </a:solidFill>
                <a:latin typeface="Times New Roman"/>
                <a:ea typeface="Times New Roman"/>
                <a:cs typeface="Times New Roman"/>
                <a:sym typeface="Times New Roman"/>
              </a:rPr>
              <a:t>Kepler stares at a small fixed patch of sky, while the stars all sit in a narrow cone pointing in one direction from the Sun</a:t>
            </a:r>
            <a:r>
              <a:rPr lang="en" sz="1800">
                <a:solidFill>
                  <a:schemeClr val="dk1"/>
                </a:solidFill>
                <a:latin typeface="Times New Roman"/>
                <a:ea typeface="Times New Roman"/>
                <a:cs typeface="Times New Roman"/>
                <a:sym typeface="Times New Roman"/>
              </a:rPr>
              <a:t>​</a:t>
            </a:r>
            <a:endParaRPr sz="1800">
              <a:solidFill>
                <a:schemeClr val="lt1"/>
              </a:solidFill>
              <a:latin typeface="Urbanist"/>
              <a:ea typeface="Urbanist"/>
              <a:cs typeface="Urbanist"/>
              <a:sym typeface="Urbanist"/>
            </a:endParaRPr>
          </a:p>
        </p:txBody>
      </p:sp>
      <p:pic>
        <p:nvPicPr>
          <p:cNvPr descr="&#10;Distribution of APOGEE fields in DR17 overlaid on an all-sky image from 2MASS. Each field is color-coded by the number of targets in that field. &lt;em&gt;Image credit: C. Hayes&lt;/em&gt;&#10;" id="867" name="Google Shape;867;p83"/>
          <p:cNvPicPr preferRelativeResize="0"/>
          <p:nvPr/>
        </p:nvPicPr>
        <p:blipFill>
          <a:blip r:embed="rId4">
            <a:alphaModFix/>
          </a:blip>
          <a:stretch>
            <a:fillRect/>
          </a:stretch>
        </p:blipFill>
        <p:spPr>
          <a:xfrm>
            <a:off x="367667" y="2824225"/>
            <a:ext cx="3616333" cy="2169800"/>
          </a:xfrm>
          <a:prstGeom prst="rect">
            <a:avLst/>
          </a:prstGeom>
          <a:noFill/>
          <a:ln>
            <a:noFill/>
          </a:ln>
        </p:spPr>
      </p:pic>
      <p:sp>
        <p:nvSpPr>
          <p:cNvPr id="868" name="Google Shape;868;p83"/>
          <p:cNvSpPr/>
          <p:nvPr/>
        </p:nvSpPr>
        <p:spPr>
          <a:xfrm rot="707856">
            <a:off x="175259" y="3187844"/>
            <a:ext cx="1195861" cy="427864"/>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Urbanist"/>
                <a:ea typeface="Urbanist"/>
                <a:cs typeface="Urbanist"/>
                <a:sym typeface="Urbanist"/>
              </a:rPr>
              <a:t>Kepler Field</a:t>
            </a:r>
            <a:endParaRPr>
              <a:solidFill>
                <a:schemeClr val="lt1"/>
              </a:solidFill>
              <a:latin typeface="Urbanist"/>
              <a:ea typeface="Urbanist"/>
              <a:cs typeface="Urbanist"/>
              <a:sym typeface="Urbanis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84"/>
          <p:cNvSpPr txBox="1"/>
          <p:nvPr>
            <p:ph type="title"/>
          </p:nvPr>
        </p:nvSpPr>
        <p:spPr>
          <a:xfrm>
            <a:off x="228600" y="170875"/>
            <a:ext cx="6658800" cy="958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4000">
                <a:latin typeface="Times New Roman"/>
                <a:ea typeface="Times New Roman"/>
                <a:cs typeface="Times New Roman"/>
                <a:sym typeface="Times New Roman"/>
              </a:rPr>
              <a:t>Expansion into the Milky Way </a:t>
            </a:r>
            <a:endParaRPr sz="4000">
              <a:latin typeface="Times New Roman"/>
              <a:ea typeface="Times New Roman"/>
              <a:cs typeface="Times New Roman"/>
              <a:sym typeface="Times New Roman"/>
            </a:endParaRPr>
          </a:p>
        </p:txBody>
      </p:sp>
      <p:sp>
        <p:nvSpPr>
          <p:cNvPr id="874" name="Google Shape;874;p84"/>
          <p:cNvSpPr txBox="1"/>
          <p:nvPr/>
        </p:nvSpPr>
        <p:spPr>
          <a:xfrm>
            <a:off x="6080700" y="4266025"/>
            <a:ext cx="3003000" cy="47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rgbClr val="999999"/>
                </a:solidFill>
                <a:latin typeface="Times New Roman"/>
                <a:ea typeface="Times New Roman"/>
                <a:cs typeface="Times New Roman"/>
                <a:sym typeface="Times New Roman"/>
              </a:rPr>
              <a:t>Ness, M., Hogg, D. W., Rix, H.-W., Martig, M., Pinsonneault, M. H., &amp; Ho, A. Y. Q. (2016). Spectroscopic determination of masses (and implied ages) for red giants. The Astrophysical Journal, 823(2), 114.​</a:t>
            </a:r>
            <a:endParaRPr sz="900">
              <a:solidFill>
                <a:srgbClr val="999999"/>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rgbClr val="999999"/>
              </a:solidFill>
              <a:latin typeface="Urbanist"/>
              <a:ea typeface="Urbanist"/>
              <a:cs typeface="Urbanist"/>
              <a:sym typeface="Urbanist"/>
            </a:endParaRPr>
          </a:p>
        </p:txBody>
      </p:sp>
      <p:pic>
        <p:nvPicPr>
          <p:cNvPr id="875" name="Google Shape;875;p84"/>
          <p:cNvPicPr preferRelativeResize="0"/>
          <p:nvPr/>
        </p:nvPicPr>
        <p:blipFill>
          <a:blip r:embed="rId3">
            <a:alphaModFix/>
          </a:blip>
          <a:stretch>
            <a:fillRect/>
          </a:stretch>
        </p:blipFill>
        <p:spPr>
          <a:xfrm>
            <a:off x="228600" y="773338"/>
            <a:ext cx="4997650" cy="2056325"/>
          </a:xfrm>
          <a:prstGeom prst="rect">
            <a:avLst/>
          </a:prstGeom>
          <a:noFill/>
          <a:ln>
            <a:noFill/>
          </a:ln>
        </p:spPr>
      </p:pic>
      <p:sp>
        <p:nvSpPr>
          <p:cNvPr id="876" name="Google Shape;876;p84"/>
          <p:cNvSpPr txBox="1"/>
          <p:nvPr/>
        </p:nvSpPr>
        <p:spPr>
          <a:xfrm>
            <a:off x="311894" y="885095"/>
            <a:ext cx="1639800" cy="1639800"/>
          </a:xfrm>
          <a:prstGeom prst="rect">
            <a:avLst/>
          </a:prstGeom>
          <a:noFill/>
          <a:ln>
            <a:noFill/>
          </a:ln>
        </p:spPr>
        <p:txBody>
          <a:bodyPr anchorCtr="0" anchor="ctr" bIns="49975" lIns="49975" spcFirstLastPara="1" rIns="49975" wrap="square" tIns="49975">
            <a:noAutofit/>
          </a:bodyPr>
          <a:lstStyle/>
          <a:p>
            <a:pPr indent="0" lvl="0" marL="0" rtl="0" algn="l">
              <a:spcBef>
                <a:spcPts val="0"/>
              </a:spcBef>
              <a:spcAft>
                <a:spcPts val="0"/>
              </a:spcAft>
              <a:buNone/>
            </a:pPr>
            <a:r>
              <a:rPr lang="en" sz="656">
                <a:latin typeface="Times New Roman"/>
                <a:ea typeface="Times New Roman"/>
                <a:cs typeface="Times New Roman"/>
                <a:sym typeface="Times New Roman"/>
              </a:rPr>
              <a:t> </a:t>
            </a:r>
            <a:r>
              <a:rPr lang="en" sz="601"/>
              <a:t> </a:t>
            </a:r>
            <a:endParaRPr sz="765"/>
          </a:p>
        </p:txBody>
      </p:sp>
      <p:pic>
        <p:nvPicPr>
          <p:cNvPr id="877" name="Google Shape;877;p84"/>
          <p:cNvPicPr preferRelativeResize="0"/>
          <p:nvPr/>
        </p:nvPicPr>
        <p:blipFill>
          <a:blip r:embed="rId4">
            <a:alphaModFix/>
          </a:blip>
          <a:stretch>
            <a:fillRect/>
          </a:stretch>
        </p:blipFill>
        <p:spPr>
          <a:xfrm>
            <a:off x="230117" y="2912975"/>
            <a:ext cx="5666370" cy="2031692"/>
          </a:xfrm>
          <a:prstGeom prst="rect">
            <a:avLst/>
          </a:prstGeom>
          <a:noFill/>
          <a:ln>
            <a:noFill/>
          </a:ln>
        </p:spPr>
      </p:pic>
      <p:sp>
        <p:nvSpPr>
          <p:cNvPr id="878" name="Google Shape;878;p84"/>
          <p:cNvSpPr txBox="1"/>
          <p:nvPr/>
        </p:nvSpPr>
        <p:spPr>
          <a:xfrm>
            <a:off x="329527" y="3012385"/>
            <a:ext cx="1956900" cy="1956900"/>
          </a:xfrm>
          <a:prstGeom prst="rect">
            <a:avLst/>
          </a:prstGeom>
          <a:noFill/>
          <a:ln>
            <a:noFill/>
          </a:ln>
        </p:spPr>
        <p:txBody>
          <a:bodyPr anchorCtr="0" anchor="ctr" bIns="59625" lIns="59625" spcFirstLastPara="1" rIns="59625" wrap="square" tIns="59625">
            <a:noAutofit/>
          </a:bodyPr>
          <a:lstStyle/>
          <a:p>
            <a:pPr indent="0" lvl="0" marL="0" rtl="0" algn="l">
              <a:spcBef>
                <a:spcPts val="0"/>
              </a:spcBef>
              <a:spcAft>
                <a:spcPts val="0"/>
              </a:spcAft>
              <a:buNone/>
            </a:pPr>
            <a:r>
              <a:rPr lang="en" sz="783">
                <a:latin typeface="Times New Roman"/>
                <a:ea typeface="Times New Roman"/>
                <a:cs typeface="Times New Roman"/>
                <a:sym typeface="Times New Roman"/>
              </a:rPr>
              <a:t> </a:t>
            </a:r>
            <a:r>
              <a:rPr lang="en" sz="718"/>
              <a:t> </a:t>
            </a:r>
            <a:endParaRPr sz="913"/>
          </a:p>
        </p:txBody>
      </p:sp>
      <p:sp>
        <p:nvSpPr>
          <p:cNvPr id="879" name="Google Shape;879;p84"/>
          <p:cNvSpPr txBox="1"/>
          <p:nvPr/>
        </p:nvSpPr>
        <p:spPr>
          <a:xfrm>
            <a:off x="5514875" y="821650"/>
            <a:ext cx="3496800" cy="2905500"/>
          </a:xfrm>
          <a:prstGeom prst="rect">
            <a:avLst/>
          </a:prstGeom>
          <a:noFill/>
          <a:ln>
            <a:noFill/>
          </a:ln>
        </p:spPr>
        <p:txBody>
          <a:bodyPr anchorCtr="0" anchor="t" bIns="91425" lIns="91425" spcFirstLastPara="1" rIns="91425" wrap="square" tIns="91425">
            <a:noAutofit/>
          </a:bodyPr>
          <a:lstStyle/>
          <a:p>
            <a:pPr indent="-330200" lvl="0" marL="635000" rtl="0" algn="l">
              <a:lnSpc>
                <a:spcPct val="115000"/>
              </a:lnSpc>
              <a:spcBef>
                <a:spcPts val="0"/>
              </a:spcBef>
              <a:spcAft>
                <a:spcPts val="0"/>
              </a:spcAft>
              <a:buClr>
                <a:schemeClr val="lt1"/>
              </a:buClr>
              <a:buSzPts val="1600"/>
              <a:buFont typeface="Arial"/>
              <a:buChar char="●"/>
            </a:pPr>
            <a:r>
              <a:rPr lang="en" sz="1600">
                <a:solidFill>
                  <a:srgbClr val="FFFFFF"/>
                </a:solidFill>
                <a:latin typeface="Times New Roman"/>
                <a:ea typeface="Times New Roman"/>
                <a:cs typeface="Times New Roman"/>
                <a:sym typeface="Times New Roman"/>
              </a:rPr>
              <a:t>Multiple fields adds more asteroseismic giants, directly reducing the noise </a:t>
            </a:r>
            <a:r>
              <a:rPr lang="en" sz="1600">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indent="-330200" lvl="0" marL="635000" rtl="0" algn="l">
              <a:lnSpc>
                <a:spcPct val="115000"/>
              </a:lnSpc>
              <a:spcBef>
                <a:spcPts val="0"/>
              </a:spcBef>
              <a:spcAft>
                <a:spcPts val="0"/>
              </a:spcAft>
              <a:buClr>
                <a:schemeClr val="lt1"/>
              </a:buClr>
              <a:buSzPts val="1600"/>
              <a:buFont typeface="Arial"/>
              <a:buChar char="●"/>
            </a:pPr>
            <a:r>
              <a:rPr lang="en" sz="1600">
                <a:solidFill>
                  <a:srgbClr val="FFFFFF"/>
                </a:solidFill>
                <a:latin typeface="Times New Roman"/>
                <a:ea typeface="Times New Roman"/>
                <a:cs typeface="Times New Roman"/>
                <a:sym typeface="Times New Roman"/>
              </a:rPr>
              <a:t>Broader sky coverage  = Galactic mapping</a:t>
            </a:r>
            <a:r>
              <a:rPr lang="en" sz="1600">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indent="-330200" lvl="0" marL="635000" rtl="0" algn="l">
              <a:lnSpc>
                <a:spcPct val="115000"/>
              </a:lnSpc>
              <a:spcBef>
                <a:spcPts val="0"/>
              </a:spcBef>
              <a:spcAft>
                <a:spcPts val="0"/>
              </a:spcAft>
              <a:buClr>
                <a:schemeClr val="lt1"/>
              </a:buClr>
              <a:buSzPts val="1600"/>
              <a:buFont typeface="Arial"/>
              <a:buChar char="●"/>
            </a:pPr>
            <a:r>
              <a:rPr lang="en" sz="1600">
                <a:solidFill>
                  <a:srgbClr val="FFFFFF"/>
                </a:solidFill>
                <a:latin typeface="Times New Roman"/>
                <a:ea typeface="Times New Roman"/>
                <a:cs typeface="Times New Roman"/>
                <a:sym typeface="Times New Roman"/>
              </a:rPr>
              <a:t>Kepler data combined with all APOGEE stars  can turn a single-field plot into an actual map of  galactic features in relation to age with 5 times the data than before  </a:t>
            </a:r>
            <a:r>
              <a:rPr lang="en" sz="1600">
                <a:solidFill>
                  <a:schemeClr val="dk1"/>
                </a:solidFill>
                <a:latin typeface="Times New Roman"/>
                <a:ea typeface="Times New Roman"/>
                <a:cs typeface="Times New Roman"/>
                <a:sym typeface="Times New Roman"/>
              </a:rPr>
              <a:t>​wi</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85"/>
          <p:cNvSpPr txBox="1"/>
          <p:nvPr>
            <p:ph type="title"/>
          </p:nvPr>
        </p:nvSpPr>
        <p:spPr>
          <a:xfrm>
            <a:off x="228600" y="228600"/>
            <a:ext cx="6658800" cy="672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Times New Roman"/>
                <a:ea typeface="Times New Roman"/>
                <a:cs typeface="Times New Roman"/>
                <a:sym typeface="Times New Roman"/>
              </a:rPr>
              <a:t>Summary</a:t>
            </a:r>
            <a:endParaRPr>
              <a:latin typeface="Times New Roman"/>
              <a:ea typeface="Times New Roman"/>
              <a:cs typeface="Times New Roman"/>
              <a:sym typeface="Times New Roman"/>
            </a:endParaRPr>
          </a:p>
        </p:txBody>
      </p:sp>
      <p:sp>
        <p:nvSpPr>
          <p:cNvPr id="885" name="Google Shape;885;p85"/>
          <p:cNvSpPr txBox="1"/>
          <p:nvPr/>
        </p:nvSpPr>
        <p:spPr>
          <a:xfrm>
            <a:off x="304075" y="974475"/>
            <a:ext cx="8572500" cy="33705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Clr>
                <a:schemeClr val="lt1"/>
              </a:buClr>
              <a:buSzPts val="2100"/>
              <a:buFont typeface="Times New Roman"/>
              <a:buChar char="●"/>
            </a:pPr>
            <a:r>
              <a:rPr lang="en" sz="2100">
                <a:solidFill>
                  <a:schemeClr val="lt1"/>
                </a:solidFill>
                <a:latin typeface="Times New Roman"/>
                <a:ea typeface="Times New Roman"/>
                <a:cs typeface="Times New Roman"/>
                <a:sym typeface="Times New Roman"/>
              </a:rPr>
              <a:t>Created a working model of TheCannon </a:t>
            </a:r>
            <a:endParaRPr sz="2100">
              <a:solidFill>
                <a:schemeClr val="lt1"/>
              </a:solidFill>
              <a:latin typeface="Times New Roman"/>
              <a:ea typeface="Times New Roman"/>
              <a:cs typeface="Times New Roman"/>
              <a:sym typeface="Times New Roman"/>
            </a:endParaRPr>
          </a:p>
          <a:p>
            <a:pPr indent="-361950" lvl="0" marL="457200" rtl="0" algn="l">
              <a:spcBef>
                <a:spcPts val="0"/>
              </a:spcBef>
              <a:spcAft>
                <a:spcPts val="0"/>
              </a:spcAft>
              <a:buClr>
                <a:schemeClr val="lt1"/>
              </a:buClr>
              <a:buSzPts val="2100"/>
              <a:buFont typeface="Times New Roman"/>
              <a:buChar char="●"/>
            </a:pPr>
            <a:r>
              <a:rPr lang="en" sz="2100">
                <a:solidFill>
                  <a:schemeClr val="lt1"/>
                </a:solidFill>
                <a:latin typeface="Times New Roman"/>
                <a:ea typeface="Times New Roman"/>
                <a:cs typeface="Times New Roman"/>
                <a:sym typeface="Times New Roman"/>
              </a:rPr>
              <a:t>Applied asteroseismic data from Kepler to APOGEE spectra </a:t>
            </a:r>
            <a:endParaRPr sz="2100">
              <a:solidFill>
                <a:schemeClr val="lt1"/>
              </a:solidFill>
              <a:latin typeface="Times New Roman"/>
              <a:ea typeface="Times New Roman"/>
              <a:cs typeface="Times New Roman"/>
              <a:sym typeface="Times New Roman"/>
            </a:endParaRPr>
          </a:p>
          <a:p>
            <a:pPr indent="-361950" lvl="0" marL="457200" rtl="0" algn="l">
              <a:spcBef>
                <a:spcPts val="0"/>
              </a:spcBef>
              <a:spcAft>
                <a:spcPts val="0"/>
              </a:spcAft>
              <a:buClr>
                <a:schemeClr val="lt1"/>
              </a:buClr>
              <a:buSzPts val="2100"/>
              <a:buFont typeface="Times New Roman"/>
              <a:buChar char="●"/>
            </a:pPr>
            <a:r>
              <a:rPr lang="en" sz="2100">
                <a:solidFill>
                  <a:schemeClr val="lt1"/>
                </a:solidFill>
                <a:latin typeface="Times New Roman"/>
                <a:ea typeface="Times New Roman"/>
                <a:cs typeface="Times New Roman"/>
                <a:sym typeface="Times New Roman"/>
              </a:rPr>
              <a:t>Distinguished Red Giant Branch and Red Clump stars based on period spacing </a:t>
            </a:r>
            <a:endParaRPr sz="2100">
              <a:solidFill>
                <a:schemeClr val="lt1"/>
              </a:solidFill>
              <a:latin typeface="Times New Roman"/>
              <a:ea typeface="Times New Roman"/>
              <a:cs typeface="Times New Roman"/>
              <a:sym typeface="Times New Roman"/>
            </a:endParaRPr>
          </a:p>
          <a:p>
            <a:pPr indent="-361950" lvl="0" marL="457200" rtl="0" algn="l">
              <a:spcBef>
                <a:spcPts val="0"/>
              </a:spcBef>
              <a:spcAft>
                <a:spcPts val="0"/>
              </a:spcAft>
              <a:buClr>
                <a:schemeClr val="lt1"/>
              </a:buClr>
              <a:buSzPts val="2100"/>
              <a:buFont typeface="Times New Roman"/>
              <a:buChar char="●"/>
            </a:pPr>
            <a:r>
              <a:rPr lang="en" sz="2100">
                <a:solidFill>
                  <a:schemeClr val="lt1"/>
                </a:solidFill>
                <a:latin typeface="Times New Roman"/>
                <a:ea typeface="Times New Roman"/>
                <a:cs typeface="Times New Roman"/>
                <a:sym typeface="Times New Roman"/>
              </a:rPr>
              <a:t>Predicted </a:t>
            </a:r>
            <a:r>
              <a:rPr lang="en" sz="2100">
                <a:solidFill>
                  <a:schemeClr val="lt1"/>
                </a:solidFill>
                <a:latin typeface="Times New Roman"/>
                <a:ea typeface="Times New Roman"/>
                <a:cs typeface="Times New Roman"/>
                <a:sym typeface="Times New Roman"/>
              </a:rPr>
              <a:t>whether</a:t>
            </a:r>
            <a:r>
              <a:rPr lang="en" sz="2100">
                <a:solidFill>
                  <a:schemeClr val="lt1"/>
                </a:solidFill>
                <a:latin typeface="Times New Roman"/>
                <a:ea typeface="Times New Roman"/>
                <a:cs typeface="Times New Roman"/>
                <a:sym typeface="Times New Roman"/>
              </a:rPr>
              <a:t> stars are RGB or RC stars </a:t>
            </a:r>
            <a:endParaRPr sz="2100">
              <a:solidFill>
                <a:schemeClr val="lt1"/>
              </a:solidFill>
              <a:latin typeface="Times New Roman"/>
              <a:ea typeface="Times New Roman"/>
              <a:cs typeface="Times New Roman"/>
              <a:sym typeface="Times New Roman"/>
            </a:endParaRPr>
          </a:p>
          <a:p>
            <a:pPr indent="-361950" lvl="0" marL="457200" rtl="0" algn="l">
              <a:spcBef>
                <a:spcPts val="0"/>
              </a:spcBef>
              <a:spcAft>
                <a:spcPts val="0"/>
              </a:spcAft>
              <a:buClr>
                <a:schemeClr val="lt1"/>
              </a:buClr>
              <a:buSzPts val="2100"/>
              <a:buFont typeface="Times New Roman"/>
              <a:buChar char="●"/>
            </a:pPr>
            <a:r>
              <a:rPr lang="en" sz="2100">
                <a:solidFill>
                  <a:schemeClr val="lt1"/>
                </a:solidFill>
                <a:latin typeface="Times New Roman"/>
                <a:ea typeface="Times New Roman"/>
                <a:cs typeface="Times New Roman"/>
                <a:sym typeface="Times New Roman"/>
              </a:rPr>
              <a:t>Predicted mass and age data by training separate an RGB and RC model </a:t>
            </a:r>
            <a:endParaRPr sz="2100">
              <a:solidFill>
                <a:schemeClr val="lt1"/>
              </a:solidFill>
              <a:latin typeface="Times New Roman"/>
              <a:ea typeface="Times New Roman"/>
              <a:cs typeface="Times New Roman"/>
              <a:sym typeface="Times New Roman"/>
            </a:endParaRPr>
          </a:p>
          <a:p>
            <a:pPr indent="-361950" lvl="0" marL="457200" rtl="0" algn="l">
              <a:spcBef>
                <a:spcPts val="0"/>
              </a:spcBef>
              <a:spcAft>
                <a:spcPts val="0"/>
              </a:spcAft>
              <a:buClr>
                <a:schemeClr val="lt1"/>
              </a:buClr>
              <a:buSzPts val="2100"/>
              <a:buFont typeface="Times New Roman"/>
              <a:buChar char="●"/>
            </a:pPr>
            <a:r>
              <a:rPr lang="en" sz="2100">
                <a:solidFill>
                  <a:schemeClr val="lt1"/>
                </a:solidFill>
                <a:latin typeface="Times New Roman"/>
                <a:ea typeface="Times New Roman"/>
                <a:cs typeface="Times New Roman"/>
                <a:sym typeface="Times New Roman"/>
              </a:rPr>
              <a:t>Created age and spatial maps </a:t>
            </a:r>
            <a:endParaRPr sz="21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2100">
              <a:solidFill>
                <a:schemeClr val="lt1"/>
              </a:solidFill>
              <a:latin typeface="Times New Roman"/>
              <a:ea typeface="Times New Roman"/>
              <a:cs typeface="Times New Roman"/>
              <a:sym typeface="Times New Roman"/>
            </a:endParaRPr>
          </a:p>
          <a:p>
            <a:pPr indent="-361950" lvl="0" marL="457200" rtl="0" algn="l">
              <a:spcBef>
                <a:spcPts val="0"/>
              </a:spcBef>
              <a:spcAft>
                <a:spcPts val="0"/>
              </a:spcAft>
              <a:buClr>
                <a:schemeClr val="lt1"/>
              </a:buClr>
              <a:buSzPts val="2100"/>
              <a:buFont typeface="Times New Roman"/>
              <a:buChar char="●"/>
            </a:pPr>
            <a:r>
              <a:rPr lang="en" sz="2100">
                <a:solidFill>
                  <a:schemeClr val="lt1"/>
                </a:solidFill>
                <a:latin typeface="Times New Roman"/>
                <a:ea typeface="Times New Roman"/>
                <a:cs typeface="Times New Roman"/>
                <a:sym typeface="Times New Roman"/>
              </a:rPr>
              <a:t>Moving forward, </a:t>
            </a:r>
            <a:r>
              <a:rPr lang="en" sz="2100">
                <a:solidFill>
                  <a:schemeClr val="lt1"/>
                </a:solidFill>
                <a:latin typeface="Times New Roman"/>
                <a:ea typeface="Times New Roman"/>
                <a:cs typeface="Times New Roman"/>
                <a:sym typeface="Times New Roman"/>
              </a:rPr>
              <a:t>applying</a:t>
            </a:r>
            <a:r>
              <a:rPr lang="en" sz="2100">
                <a:solidFill>
                  <a:schemeClr val="lt1"/>
                </a:solidFill>
                <a:latin typeface="Times New Roman"/>
                <a:ea typeface="Times New Roman"/>
                <a:cs typeface="Times New Roman"/>
                <a:sym typeface="Times New Roman"/>
              </a:rPr>
              <a:t> Kepler 2 data and the larger APOGEE catalog to our trained model </a:t>
            </a:r>
            <a:endParaRPr sz="21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pic>
        <p:nvPicPr>
          <p:cNvPr descr="Star Clusters: Inside the Universe's Stellar Collections - NASA Science" id="890" name="Google Shape;890;p86"/>
          <p:cNvPicPr preferRelativeResize="0"/>
          <p:nvPr/>
        </p:nvPicPr>
        <p:blipFill>
          <a:blip r:embed="rId3">
            <a:alphaModFix/>
          </a:blip>
          <a:stretch>
            <a:fillRect/>
          </a:stretch>
        </p:blipFill>
        <p:spPr>
          <a:xfrm>
            <a:off x="0" y="0"/>
            <a:ext cx="9144000" cy="5143500"/>
          </a:xfrm>
          <a:prstGeom prst="rect">
            <a:avLst/>
          </a:prstGeom>
          <a:noFill/>
          <a:ln>
            <a:noFill/>
          </a:ln>
        </p:spPr>
      </p:pic>
      <p:sp>
        <p:nvSpPr>
          <p:cNvPr id="891" name="Google Shape;891;p86"/>
          <p:cNvSpPr txBox="1"/>
          <p:nvPr/>
        </p:nvSpPr>
        <p:spPr>
          <a:xfrm>
            <a:off x="2765400" y="877850"/>
            <a:ext cx="4688400" cy="107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solidFill>
                  <a:schemeClr val="lt1"/>
                </a:solidFill>
                <a:latin typeface="Times New Roman"/>
                <a:ea typeface="Times New Roman"/>
                <a:cs typeface="Times New Roman"/>
                <a:sym typeface="Times New Roman"/>
              </a:rPr>
              <a:t>Questions?</a:t>
            </a:r>
            <a:endParaRPr sz="6000">
              <a:solidFill>
                <a:schemeClr val="lt1"/>
              </a:solidFill>
              <a:latin typeface="Times New Roman"/>
              <a:ea typeface="Times New Roman"/>
              <a:cs typeface="Times New Roman"/>
              <a:sym typeface="Times New Roman"/>
            </a:endParaRPr>
          </a:p>
        </p:txBody>
      </p:sp>
      <p:pic>
        <p:nvPicPr>
          <p:cNvPr descr="Emoji Happy Face Clip Art 15+ Happy Face Clipart &amp; Cute Smiley" id="892" name="Google Shape;892;p86"/>
          <p:cNvPicPr preferRelativeResize="0"/>
          <p:nvPr/>
        </p:nvPicPr>
        <p:blipFill>
          <a:blip r:embed="rId4">
            <a:alphaModFix/>
          </a:blip>
          <a:stretch>
            <a:fillRect/>
          </a:stretch>
        </p:blipFill>
        <p:spPr>
          <a:xfrm>
            <a:off x="2977538" y="1831888"/>
            <a:ext cx="3011824" cy="3011824"/>
          </a:xfrm>
          <a:prstGeom prst="rect">
            <a:avLst/>
          </a:prstGeom>
          <a:noFill/>
          <a:ln>
            <a:noFill/>
          </a:ln>
        </p:spPr>
      </p:pic>
      <p:sp>
        <p:nvSpPr>
          <p:cNvPr id="893" name="Google Shape;893;p86"/>
          <p:cNvSpPr txBox="1"/>
          <p:nvPr/>
        </p:nvSpPr>
        <p:spPr>
          <a:xfrm>
            <a:off x="3202277" y="1921127"/>
            <a:ext cx="1756800" cy="1756800"/>
          </a:xfrm>
          <a:prstGeom prst="rect">
            <a:avLst/>
          </a:prstGeom>
          <a:noFill/>
          <a:ln>
            <a:noFill/>
          </a:ln>
        </p:spPr>
        <p:txBody>
          <a:bodyPr anchorCtr="0" anchor="ctr" bIns="53525" lIns="53525" spcFirstLastPara="1" rIns="53525" wrap="square" tIns="53525">
            <a:noAutofit/>
          </a:bodyPr>
          <a:lstStyle/>
          <a:p>
            <a:pPr indent="0" lvl="0" marL="0" rtl="0" algn="l">
              <a:spcBef>
                <a:spcPts val="0"/>
              </a:spcBef>
              <a:spcAft>
                <a:spcPts val="0"/>
              </a:spcAft>
              <a:buNone/>
            </a:pPr>
            <a:r>
              <a:rPr lang="en" sz="703">
                <a:latin typeface="Times New Roman"/>
                <a:ea typeface="Times New Roman"/>
                <a:cs typeface="Times New Roman"/>
                <a:sym typeface="Times New Roman"/>
              </a:rPr>
              <a:t> </a:t>
            </a:r>
            <a:r>
              <a:rPr lang="en" sz="644"/>
              <a:t> </a:t>
            </a:r>
            <a:endParaRPr sz="82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