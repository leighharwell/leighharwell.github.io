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oboto"/>
      <p:regular r:id="rId13"/>
      <p:bold r:id="rId14"/>
      <p:italic r:id="rId15"/>
      <p:boldItalic r:id="rId16"/>
    </p:embeddedFont>
    <p:embeddedFont>
      <p:font typeface="Merriweather Light"/>
      <p:regular r:id="rId17"/>
      <p:bold r:id="rId18"/>
      <p:italic r:id="rId19"/>
      <p:boldItalic r:id="rId20"/>
    </p:embeddedFont>
    <p:embeddedFont>
      <p:font typeface="Merriweath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erriweatherLight-boldItalic.fntdata"/><Relationship Id="rId11" Type="http://schemas.openxmlformats.org/officeDocument/2006/relationships/slide" Target="slides/slide6.xml"/><Relationship Id="rId22" Type="http://schemas.openxmlformats.org/officeDocument/2006/relationships/font" Target="fonts/Merriweather-bold.fntdata"/><Relationship Id="rId10" Type="http://schemas.openxmlformats.org/officeDocument/2006/relationships/slide" Target="slides/slide5.xml"/><Relationship Id="rId21" Type="http://schemas.openxmlformats.org/officeDocument/2006/relationships/font" Target="fonts/Merriweather-regular.fntdata"/><Relationship Id="rId13" Type="http://schemas.openxmlformats.org/officeDocument/2006/relationships/font" Target="fonts/Roboto-regular.fntdata"/><Relationship Id="rId24" Type="http://schemas.openxmlformats.org/officeDocument/2006/relationships/font" Target="fonts/Merriweather-boldItalic.fntdata"/><Relationship Id="rId12" Type="http://schemas.openxmlformats.org/officeDocument/2006/relationships/slide" Target="slides/slide7.xml"/><Relationship Id="rId23" Type="http://schemas.openxmlformats.org/officeDocument/2006/relationships/font" Target="fonts/Merriweather-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italic.fntdata"/><Relationship Id="rId14" Type="http://schemas.openxmlformats.org/officeDocument/2006/relationships/font" Target="fonts/Roboto-bold.fntdata"/><Relationship Id="rId17" Type="http://schemas.openxmlformats.org/officeDocument/2006/relationships/font" Target="fonts/MerriweatherLight-regular.fntdata"/><Relationship Id="rId16" Type="http://schemas.openxmlformats.org/officeDocument/2006/relationships/font" Target="fonts/Roboto-boldItalic.fntdata"/><Relationship Id="rId5" Type="http://schemas.openxmlformats.org/officeDocument/2006/relationships/notesMaster" Target="notesMasters/notesMaster1.xml"/><Relationship Id="rId19" Type="http://schemas.openxmlformats.org/officeDocument/2006/relationships/font" Target="fonts/MerriweatherLight-italic.fntdata"/><Relationship Id="rId6" Type="http://schemas.openxmlformats.org/officeDocument/2006/relationships/slide" Target="slides/slide1.xml"/><Relationship Id="rId18" Type="http://schemas.openxmlformats.org/officeDocument/2006/relationships/font" Target="fonts/MerriweatherLigh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11311dd4fa2c9e8e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11311dd4fa2c9e8e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h11311dd4fa2c9e8e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h11311dd4fa2c9e8e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Photometric different set of light curves look a thow the flux of it over time, explain the importance of the double white dwarf system and the figures of various light curves with different binary systems (spend a little bit more time on this, maybe a minute)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11311dd4fa2c9e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h11311dd4fa2c9e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what LISA is, what GW are, and possible how EM effect it or what it is (spend more time on this one than the other 2 before it)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11311dd4fa2c9e8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h11311dd4fa2c9e8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Explain what observation of the light curve tells us about the different types of binary light curves and how some can have multiple modulations in one system and say what J0651(doppler, eclipsing, elepsodial) and J0106 are exactly. </a:t>
            </a:r>
            <a:r>
              <a:rPr i="1" lang="en" sz="1200">
                <a:solidFill>
                  <a:srgbClr val="303030"/>
                </a:solidFill>
                <a:highlight>
                  <a:srgbClr val="FAF9F9"/>
                </a:highlight>
                <a:latin typeface="Roboto"/>
                <a:ea typeface="Roboto"/>
                <a:cs typeface="Roboto"/>
                <a:sym typeface="Roboto"/>
              </a:rPr>
              <a:t>When we model optical light curves, systems fall into different categories. Eclipsing binaries like J0651 are the gold standard—their eclipse geometry directly yields percent-level precision on masses and inclination. Ellipsoidal systems like J0106 show tidal distortions, giving moderate constraints when paired with spectroscopy. On the top graph for J0651, you can see sharp, deep drops at phase 0 and 1. Those are primary eclipses where one white dwarf passes directly in front of the other. That precise eclipse timing gives us percent-level precision on inclination and masses. On the bottom graph for J0106, there are no eclipses at all—just a smooth, double-humped wave caused by the star being tidally stretched into an oval. Because we lack eclipses, parameter estimates carry 10 to 25 percent error and lean much more heavily on spectroscopic data.</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h11311dd4fa2c9e8e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h11311dd4fa2c9e8e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Talk about the issue with the featureless systems and how the modulations affect the systems modeling. </a:t>
            </a:r>
            <a:r>
              <a:rPr i="1" lang="en" sz="1200">
                <a:solidFill>
                  <a:srgbClr val="303030"/>
                </a:solidFill>
                <a:highlight>
                  <a:srgbClr val="FAF9F9"/>
                </a:highlight>
                <a:latin typeface="Roboto"/>
                <a:ea typeface="Roboto"/>
                <a:cs typeface="Roboto"/>
                <a:sym typeface="Roboto"/>
              </a:rPr>
              <a:t>However, featureless systems like J2322 present a major challenge. Their light curves are essentially flat, meaning we have no geometric handle on orbital inclination. Without inclination constraints, parameters like secondary mass and overall system geometry suffer from severe mathematical degeneracies.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11311dd4fa2c9e8e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h11311dd4fa2c9e8e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what i am doing, where i am looking at the light curves of some sources in the inferred to adjust for the no clear modulations. </a:t>
            </a:r>
            <a:r>
              <a:rPr i="1" lang="en" sz="1200">
                <a:solidFill>
                  <a:srgbClr val="303030"/>
                </a:solidFill>
                <a:highlight>
                  <a:srgbClr val="FAF9F9"/>
                </a:highlight>
                <a:latin typeface="Roboto"/>
                <a:ea typeface="Roboto"/>
                <a:cs typeface="Roboto"/>
                <a:sym typeface="Roboto"/>
              </a:rPr>
              <a:t>This is where my work comes in: we move to the Infrared. Because the secondary companion is much cooler, its relative flux contribution is significantly higher in the IR. By observing systems like J0935 in the Deep IR around 960 nanometers, we isolate the secondary star to provide the missing physical constraints needed to break optical degeneracies.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40a280c700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40a280c70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ps1images.stsci.edu/cgi-bin/ps1cutouts?pos=12%3A35%3A49.853+++15%3A43%3A18.954&amp;filter=color&amp;filter=g&amp;filter=r&amp;filter=i&amp;filter=z&amp;filter=y&amp;filetypes=stack&amp;auxiliary=data&amp;size=240&amp;output_size=0&amp;verbose=0&amp;autoscale=99.500000&amp;catlist=" TargetMode="External"/><Relationship Id="rId4" Type="http://schemas.openxmlformats.org/officeDocument/2006/relationships/hyperlink" Target="https://irsa.ipac.caltech.edu/applications/spherex/tool-spectrophotometry" TargetMode="External"/><Relationship Id="rId5" Type="http://schemas.openxmlformats.org/officeDocument/2006/relationships/image" Target="../media/image3.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41B47"/>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03450"/>
            <a:ext cx="8520600" cy="181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latin typeface="Merriweather"/>
                <a:ea typeface="Merriweather"/>
                <a:cs typeface="Merriweather"/>
                <a:sym typeface="Merriweather"/>
              </a:rPr>
              <a:t>Characterizing Double White Dwarf Star Systems</a:t>
            </a:r>
            <a:endParaRPr>
              <a:solidFill>
                <a:schemeClr val="lt1"/>
              </a:solidFill>
              <a:latin typeface="Merriweather"/>
              <a:ea typeface="Merriweather"/>
              <a:cs typeface="Merriweather"/>
              <a:sym typeface="Merriweather"/>
            </a:endParaRPr>
          </a:p>
        </p:txBody>
      </p:sp>
      <p:sp>
        <p:nvSpPr>
          <p:cNvPr id="55" name="Google Shape;55;p13"/>
          <p:cNvSpPr txBox="1"/>
          <p:nvPr>
            <p:ph idx="1" type="subTitle"/>
          </p:nvPr>
        </p:nvSpPr>
        <p:spPr>
          <a:xfrm>
            <a:off x="311700" y="2015450"/>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D9D9D9"/>
                </a:solidFill>
                <a:latin typeface="Merriweather"/>
                <a:ea typeface="Merriweather"/>
                <a:cs typeface="Merriweather"/>
                <a:sym typeface="Merriweather"/>
              </a:rPr>
              <a:t>By G. Leigh Harwell</a:t>
            </a:r>
            <a:endParaRPr>
              <a:solidFill>
                <a:srgbClr val="D9D9D9"/>
              </a:solidFill>
              <a:latin typeface="Merriweather"/>
              <a:ea typeface="Merriweather"/>
              <a:cs typeface="Merriweather"/>
              <a:sym typeface="Merriweather"/>
            </a:endParaRPr>
          </a:p>
        </p:txBody>
      </p:sp>
      <p:pic>
        <p:nvPicPr>
          <p:cNvPr id="56" name="Google Shape;56;p13" title="Screenshot 2025-11-27 at 11.40.47 AM.png"/>
          <p:cNvPicPr preferRelativeResize="0"/>
          <p:nvPr>
            <p:ph idx="2" type="pic"/>
          </p:nvPr>
        </p:nvPicPr>
        <p:blipFill rotWithShape="1">
          <a:blip r:embed="rId3">
            <a:alphaModFix/>
          </a:blip>
          <a:srcRect b="11423" l="0" r="0" t="5803"/>
          <a:stretch/>
        </p:blipFill>
        <p:spPr>
          <a:xfrm>
            <a:off x="4183650" y="2015451"/>
            <a:ext cx="4763100" cy="2931600"/>
          </a:xfrm>
          <a:prstGeom prst="round2DiagRect">
            <a:avLst>
              <a:gd fmla="val 16667" name="adj1"/>
              <a:gd fmla="val 0" name="adj2"/>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FDF"/>
        </a:solid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311700" y="362600"/>
            <a:ext cx="4851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solidFill>
                  <a:srgbClr val="741B47"/>
                </a:solidFill>
                <a:latin typeface="Merriweather"/>
                <a:ea typeface="Merriweather"/>
                <a:cs typeface="Merriweather"/>
                <a:sym typeface="Merriweather"/>
              </a:rPr>
              <a:t>Double White Dwarf System</a:t>
            </a:r>
            <a:endParaRPr b="1">
              <a:solidFill>
                <a:srgbClr val="741B47"/>
              </a:solidFill>
              <a:latin typeface="Merriweather"/>
              <a:ea typeface="Merriweather"/>
              <a:cs typeface="Merriweather"/>
              <a:sym typeface="Merriweather"/>
            </a:endParaRPr>
          </a:p>
        </p:txBody>
      </p:sp>
      <p:sp>
        <p:nvSpPr>
          <p:cNvPr id="62" name="Google Shape;62;p14"/>
          <p:cNvSpPr txBox="1"/>
          <p:nvPr>
            <p:ph idx="1" type="body"/>
          </p:nvPr>
        </p:nvSpPr>
        <p:spPr>
          <a:xfrm>
            <a:off x="311700" y="935300"/>
            <a:ext cx="4567200" cy="36336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600">
                <a:solidFill>
                  <a:schemeClr val="dk1"/>
                </a:solidFill>
                <a:latin typeface="Merriweather"/>
                <a:ea typeface="Merriweather"/>
                <a:cs typeface="Merriweather"/>
                <a:sym typeface="Merriweather"/>
              </a:rPr>
              <a:t>A DWD system is a binary pair typically consisting of a visible primary and an invisible secondary white dwarf</a:t>
            </a:r>
            <a:r>
              <a:rPr lang="en" sz="1600">
                <a:solidFill>
                  <a:schemeClr val="dk1"/>
                </a:solidFill>
                <a:latin typeface="Merriweather"/>
                <a:ea typeface="Merriweather"/>
                <a:cs typeface="Merriweather"/>
                <a:sym typeface="Merriweather"/>
              </a:rPr>
              <a:t>.</a:t>
            </a:r>
            <a:endParaRPr sz="1600">
              <a:solidFill>
                <a:schemeClr val="dk1"/>
              </a:solidFill>
              <a:latin typeface="Merriweather"/>
              <a:ea typeface="Merriweather"/>
              <a:cs typeface="Merriweather"/>
              <a:sym typeface="Merriweather"/>
            </a:endParaRPr>
          </a:p>
          <a:p>
            <a:pPr indent="-330200" lvl="0" marL="457200" rtl="0" algn="l">
              <a:lnSpc>
                <a:spcPct val="150000"/>
              </a:lnSpc>
              <a:spcBef>
                <a:spcPts val="1200"/>
              </a:spcBef>
              <a:spcAft>
                <a:spcPts val="0"/>
              </a:spcAft>
              <a:buClr>
                <a:schemeClr val="dk1"/>
              </a:buClr>
              <a:buSzPts val="1600"/>
              <a:buFont typeface="Merriweather"/>
              <a:buChar char="❖"/>
            </a:pPr>
            <a:r>
              <a:rPr lang="en" sz="1600">
                <a:solidFill>
                  <a:schemeClr val="dk1"/>
                </a:solidFill>
                <a:latin typeface="Merriweather"/>
                <a:ea typeface="Merriweather"/>
                <a:cs typeface="Merriweather"/>
                <a:sym typeface="Merriweather"/>
              </a:rPr>
              <a:t>Some of the most abundant compact binaries </a:t>
            </a:r>
            <a:endParaRPr sz="1600">
              <a:solidFill>
                <a:schemeClr val="dk1"/>
              </a:solidFill>
              <a:latin typeface="Merriweather"/>
              <a:ea typeface="Merriweather"/>
              <a:cs typeface="Merriweather"/>
              <a:sym typeface="Merriweather"/>
            </a:endParaRPr>
          </a:p>
          <a:p>
            <a:pPr indent="-330200" lvl="0" marL="457200" rtl="0" algn="l">
              <a:lnSpc>
                <a:spcPct val="150000"/>
              </a:lnSpc>
              <a:spcBef>
                <a:spcPts val="0"/>
              </a:spcBef>
              <a:spcAft>
                <a:spcPts val="0"/>
              </a:spcAft>
              <a:buClr>
                <a:schemeClr val="dk1"/>
              </a:buClr>
              <a:buSzPts val="1600"/>
              <a:buFont typeface="Merriweather"/>
              <a:buChar char="❖"/>
            </a:pPr>
            <a:r>
              <a:rPr lang="en" sz="1600">
                <a:solidFill>
                  <a:schemeClr val="dk1"/>
                </a:solidFill>
                <a:latin typeface="Merriweather"/>
                <a:ea typeface="Merriweather"/>
                <a:cs typeface="Merriweather"/>
                <a:sym typeface="Merriweather"/>
              </a:rPr>
              <a:t>Good for studying binary evolution</a:t>
            </a:r>
            <a:endParaRPr sz="1600">
              <a:solidFill>
                <a:schemeClr val="dk1"/>
              </a:solidFill>
              <a:latin typeface="Merriweather"/>
              <a:ea typeface="Merriweather"/>
              <a:cs typeface="Merriweather"/>
              <a:sym typeface="Merriweather"/>
            </a:endParaRPr>
          </a:p>
          <a:p>
            <a:pPr indent="-330200" lvl="0" marL="457200" rtl="0" algn="l">
              <a:lnSpc>
                <a:spcPct val="150000"/>
              </a:lnSpc>
              <a:spcBef>
                <a:spcPts val="0"/>
              </a:spcBef>
              <a:spcAft>
                <a:spcPts val="0"/>
              </a:spcAft>
              <a:buClr>
                <a:schemeClr val="dk1"/>
              </a:buClr>
              <a:buSzPts val="1600"/>
              <a:buFont typeface="Merriweather"/>
              <a:buChar char="❖"/>
            </a:pPr>
            <a:r>
              <a:rPr lang="en" sz="1600">
                <a:solidFill>
                  <a:schemeClr val="dk1"/>
                </a:solidFill>
                <a:latin typeface="Merriweather"/>
                <a:ea typeface="Merriweather"/>
                <a:cs typeface="Merriweather"/>
                <a:sym typeface="Merriweather"/>
              </a:rPr>
              <a:t>Systems with short orbital periods are predicted to be strong gravitational wave (GW) source </a:t>
            </a:r>
            <a:endParaRPr sz="1600">
              <a:solidFill>
                <a:schemeClr val="dk1"/>
              </a:solidFill>
              <a:latin typeface="Merriweather"/>
              <a:ea typeface="Merriweather"/>
              <a:cs typeface="Merriweather"/>
              <a:sym typeface="Merriweather"/>
            </a:endParaRPr>
          </a:p>
        </p:txBody>
      </p:sp>
      <p:sp>
        <p:nvSpPr>
          <p:cNvPr id="63" name="Google Shape;63;p14"/>
          <p:cNvSpPr txBox="1"/>
          <p:nvPr/>
        </p:nvSpPr>
        <p:spPr>
          <a:xfrm>
            <a:off x="0" y="4851000"/>
            <a:ext cx="90102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303030"/>
                </a:solidFill>
                <a:latin typeface="Merriweather"/>
                <a:ea typeface="Merriweather"/>
                <a:cs typeface="Merriweather"/>
                <a:sym typeface="Merriweather"/>
              </a:rPr>
              <a:t>Kupfer, Thomas, et al. "LISA Galactic Binaries with Astrometry from Gaia DR3." arXiv preprint, arXiv:2302.12719, 2023 </a:t>
            </a:r>
            <a:endParaRPr sz="700">
              <a:solidFill>
                <a:srgbClr val="303030"/>
              </a:solidFill>
              <a:latin typeface="Merriweather"/>
              <a:ea typeface="Merriweather"/>
              <a:cs typeface="Merriweather"/>
              <a:sym typeface="Merriweather"/>
            </a:endParaRPr>
          </a:p>
        </p:txBody>
      </p:sp>
      <p:pic>
        <p:nvPicPr>
          <p:cNvPr descr="Lecture 13: Binary Star Systems" id="64" name="Google Shape;64;p14"/>
          <p:cNvPicPr preferRelativeResize="0"/>
          <p:nvPr/>
        </p:nvPicPr>
        <p:blipFill>
          <a:blip r:embed="rId3">
            <a:alphaModFix/>
          </a:blip>
          <a:stretch>
            <a:fillRect/>
          </a:stretch>
        </p:blipFill>
        <p:spPr>
          <a:xfrm>
            <a:off x="5245050" y="325913"/>
            <a:ext cx="3585550" cy="4146026"/>
          </a:xfrm>
          <a:prstGeom prst="rect">
            <a:avLst/>
          </a:prstGeom>
          <a:noFill/>
          <a:ln>
            <a:noFill/>
          </a:ln>
        </p:spPr>
      </p:pic>
      <p:sp>
        <p:nvSpPr>
          <p:cNvPr id="65" name="Google Shape;65;p14"/>
          <p:cNvSpPr txBox="1"/>
          <p:nvPr/>
        </p:nvSpPr>
        <p:spPr>
          <a:xfrm>
            <a:off x="5009075" y="4489200"/>
            <a:ext cx="4057500" cy="65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Merriweather Light"/>
                <a:ea typeface="Merriweather Light"/>
                <a:cs typeface="Merriweather Light"/>
                <a:sym typeface="Merriweather Light"/>
              </a:rPr>
              <a:t>Light curves of various different types of binary systems</a:t>
            </a:r>
            <a:endParaRPr sz="1000">
              <a:solidFill>
                <a:schemeClr val="dk2"/>
              </a:solidFill>
              <a:latin typeface="Merriweather Light"/>
              <a:ea typeface="Merriweather Light"/>
              <a:cs typeface="Merriweather Light"/>
              <a:sym typeface="Merriweather Light"/>
            </a:endParaRPr>
          </a:p>
          <a:p>
            <a:pPr indent="0" lvl="0" marL="0" rtl="0" algn="ctr">
              <a:spcBef>
                <a:spcPts val="0"/>
              </a:spcBef>
              <a:spcAft>
                <a:spcPts val="0"/>
              </a:spcAft>
              <a:buNone/>
            </a:pPr>
            <a:r>
              <a:rPr lang="en" sz="1000">
                <a:solidFill>
                  <a:schemeClr val="dk2"/>
                </a:solidFill>
                <a:latin typeface="Merriweather Light"/>
                <a:ea typeface="Merriweather Light"/>
                <a:cs typeface="Merriweather Light"/>
                <a:sym typeface="Merriweather Light"/>
              </a:rPr>
              <a:t>(not specifically DWD systems)</a:t>
            </a:r>
            <a:endParaRPr sz="1000">
              <a:solidFill>
                <a:schemeClr val="dk2"/>
              </a:solidFill>
              <a:latin typeface="Merriweather Light"/>
              <a:ea typeface="Merriweather Light"/>
              <a:cs typeface="Merriweather Light"/>
              <a:sym typeface="Merriweather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FDF"/>
        </a:solidFill>
      </p:bgPr>
    </p:bg>
    <p:spTree>
      <p:nvGrpSpPr>
        <p:cNvPr id="69" name="Shape 69"/>
        <p:cNvGrpSpPr/>
        <p:nvPr/>
      </p:nvGrpSpPr>
      <p:grpSpPr>
        <a:xfrm>
          <a:off x="0" y="0"/>
          <a:ext cx="0" cy="0"/>
          <a:chOff x="0" y="0"/>
          <a:chExt cx="0" cy="0"/>
        </a:xfrm>
      </p:grpSpPr>
      <p:sp>
        <p:nvSpPr>
          <p:cNvPr id="70" name="Google Shape;70;p15"/>
          <p:cNvSpPr txBox="1"/>
          <p:nvPr>
            <p:ph type="title"/>
          </p:nvPr>
        </p:nvSpPr>
        <p:spPr>
          <a:xfrm>
            <a:off x="311700" y="451325"/>
            <a:ext cx="5565300" cy="70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741B47"/>
                </a:solidFill>
                <a:latin typeface="Merriweather"/>
                <a:ea typeface="Merriweather"/>
                <a:cs typeface="Merriweather"/>
                <a:sym typeface="Merriweather"/>
              </a:rPr>
              <a:t>Verification Sources for LISA</a:t>
            </a:r>
            <a:endParaRPr b="1">
              <a:solidFill>
                <a:srgbClr val="741B47"/>
              </a:solidFill>
              <a:latin typeface="Merriweather"/>
              <a:ea typeface="Merriweather"/>
              <a:cs typeface="Merriweather"/>
              <a:sym typeface="Merriweather"/>
            </a:endParaRPr>
          </a:p>
        </p:txBody>
      </p:sp>
      <p:sp>
        <p:nvSpPr>
          <p:cNvPr id="71" name="Google Shape;71;p15"/>
          <p:cNvSpPr txBox="1"/>
          <p:nvPr>
            <p:ph idx="1" type="body"/>
          </p:nvPr>
        </p:nvSpPr>
        <p:spPr>
          <a:xfrm>
            <a:off x="311700" y="1152425"/>
            <a:ext cx="4260300" cy="3570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solidFill>
                  <a:schemeClr val="dk1"/>
                </a:solidFill>
                <a:latin typeface="Merriweather"/>
                <a:ea typeface="Merriweather"/>
                <a:cs typeface="Merriweather"/>
                <a:sym typeface="Merriweather"/>
              </a:rPr>
              <a:t>Double white dwarfs found via electromagnetic (EM) telescopes serve as essential verification binaries for space-based GW detectors like LISA</a:t>
            </a:r>
            <a:endParaRPr sz="1600">
              <a:solidFill>
                <a:schemeClr val="dk1"/>
              </a:solidFill>
              <a:latin typeface="Merriweather"/>
              <a:ea typeface="Merriweather"/>
              <a:cs typeface="Merriweather"/>
              <a:sym typeface="Merriweather"/>
            </a:endParaRPr>
          </a:p>
          <a:p>
            <a:pPr indent="-330200" lvl="0" marL="457200" rtl="0" algn="l">
              <a:lnSpc>
                <a:spcPct val="150000"/>
              </a:lnSpc>
              <a:spcBef>
                <a:spcPts val="1200"/>
              </a:spcBef>
              <a:spcAft>
                <a:spcPts val="0"/>
              </a:spcAft>
              <a:buClr>
                <a:schemeClr val="dk1"/>
              </a:buClr>
              <a:buSzPts val="1600"/>
              <a:buFont typeface="Merriweather"/>
              <a:buChar char="❖"/>
            </a:pPr>
            <a:r>
              <a:rPr lang="en" sz="1600">
                <a:solidFill>
                  <a:schemeClr val="dk1"/>
                </a:solidFill>
                <a:latin typeface="Merriweather"/>
                <a:ea typeface="Merriweather"/>
                <a:cs typeface="Merriweather"/>
                <a:sym typeface="Merriweather"/>
              </a:rPr>
              <a:t>sky position, orbital periods and physical properties are already constrained by the optical, their predicted GW signals </a:t>
            </a:r>
            <a:endParaRPr sz="1600">
              <a:solidFill>
                <a:schemeClr val="dk1"/>
              </a:solidFill>
              <a:latin typeface="Merriweather"/>
              <a:ea typeface="Merriweather"/>
              <a:cs typeface="Merriweather"/>
              <a:sym typeface="Merriweather"/>
            </a:endParaRPr>
          </a:p>
        </p:txBody>
      </p:sp>
      <p:sp>
        <p:nvSpPr>
          <p:cNvPr id="72" name="Google Shape;72;p15"/>
          <p:cNvSpPr/>
          <p:nvPr/>
        </p:nvSpPr>
        <p:spPr>
          <a:xfrm>
            <a:off x="5521200" y="500800"/>
            <a:ext cx="355800" cy="453300"/>
          </a:xfrm>
          <a:prstGeom prst="star4">
            <a:avLst>
              <a:gd fmla="val 12500" name="adj"/>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3" name="Google Shape;73;p15"/>
          <p:cNvPicPr preferRelativeResize="0"/>
          <p:nvPr>
            <p:ph idx="2" type="pic"/>
          </p:nvPr>
        </p:nvPicPr>
        <p:blipFill rotWithShape="1">
          <a:blip r:embed="rId3">
            <a:alphaModFix/>
          </a:blip>
          <a:srcRect b="651" l="0" r="0" t="651"/>
          <a:stretch/>
        </p:blipFill>
        <p:spPr>
          <a:xfrm>
            <a:off x="4601418" y="998700"/>
            <a:ext cx="4358100" cy="3570000"/>
          </a:xfrm>
          <a:prstGeom prst="round2DiagRect">
            <a:avLst>
              <a:gd fmla="val 16667" name="adj1"/>
              <a:gd fmla="val 0" name="adj2"/>
            </a:avLst>
          </a:prstGeom>
          <a:noFill/>
          <a:ln>
            <a:noFill/>
          </a:ln>
        </p:spPr>
      </p:pic>
      <p:sp>
        <p:nvSpPr>
          <p:cNvPr id="74" name="Google Shape;74;p15"/>
          <p:cNvSpPr txBox="1"/>
          <p:nvPr/>
        </p:nvSpPr>
        <p:spPr>
          <a:xfrm>
            <a:off x="0" y="4855400"/>
            <a:ext cx="9144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303030"/>
                </a:solidFill>
                <a:latin typeface="Merriweather"/>
                <a:ea typeface="Merriweather"/>
                <a:cs typeface="Merriweather"/>
                <a:sym typeface="Merriweather"/>
              </a:rPr>
              <a:t>Danzmann, Karsten, et al. </a:t>
            </a:r>
            <a:r>
              <a:rPr i="1" lang="en" sz="700">
                <a:solidFill>
                  <a:srgbClr val="303030"/>
                </a:solidFill>
                <a:latin typeface="Merriweather"/>
                <a:ea typeface="Merriweather"/>
                <a:cs typeface="Merriweather"/>
                <a:sym typeface="Merriweather"/>
              </a:rPr>
              <a:t>LISA: Laser Interferometer Space Antenna</a:t>
            </a:r>
            <a:r>
              <a:rPr lang="en" sz="700">
                <a:solidFill>
                  <a:srgbClr val="303030"/>
                </a:solidFill>
                <a:latin typeface="Merriweather"/>
                <a:ea typeface="Merriweather"/>
                <a:cs typeface="Merriweather"/>
                <a:sym typeface="Merriweather"/>
              </a:rPr>
              <a:t>. arXiv preprint, arXiv:1702.00786, 2017</a:t>
            </a:r>
            <a:endParaRPr sz="700">
              <a:latin typeface="Merriweather"/>
              <a:ea typeface="Merriweather"/>
              <a:cs typeface="Merriweather"/>
              <a:sym typeface="Merriweather"/>
            </a:endParaRPr>
          </a:p>
        </p:txBody>
      </p:sp>
      <p:sp>
        <p:nvSpPr>
          <p:cNvPr id="75" name="Google Shape;75;p15"/>
          <p:cNvSpPr txBox="1"/>
          <p:nvPr/>
        </p:nvSpPr>
        <p:spPr>
          <a:xfrm>
            <a:off x="4751725" y="4568700"/>
            <a:ext cx="4057500" cy="29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Merriweather Light"/>
                <a:ea typeface="Merriweather Light"/>
                <a:cs typeface="Merriweather Light"/>
                <a:sym typeface="Merriweather Light"/>
              </a:rPr>
              <a:t>Simple diagram of the LIGO detector </a:t>
            </a:r>
            <a:endParaRPr sz="1000">
              <a:solidFill>
                <a:schemeClr val="dk2"/>
              </a:solidFill>
              <a:latin typeface="Merriweather Light"/>
              <a:ea typeface="Merriweather Light"/>
              <a:cs typeface="Merriweather Light"/>
              <a:sym typeface="Merriweather Light"/>
            </a:endParaRPr>
          </a:p>
          <a:p>
            <a:pPr indent="0" lvl="0" marL="0" rtl="0" algn="ctr">
              <a:spcBef>
                <a:spcPts val="0"/>
              </a:spcBef>
              <a:spcAft>
                <a:spcPts val="0"/>
              </a:spcAft>
              <a:buNone/>
            </a:pPr>
            <a:r>
              <a:rPr lang="en" sz="1000">
                <a:solidFill>
                  <a:schemeClr val="dk2"/>
                </a:solidFill>
                <a:latin typeface="Merriweather Light"/>
                <a:ea typeface="Merriweather Light"/>
                <a:cs typeface="Merriweather Light"/>
                <a:sym typeface="Merriweather Light"/>
              </a:rPr>
              <a:t>from Caltech</a:t>
            </a:r>
            <a:endParaRPr sz="1000">
              <a:solidFill>
                <a:schemeClr val="dk2"/>
              </a:solidFill>
              <a:latin typeface="Merriweather Light"/>
              <a:ea typeface="Merriweather Light"/>
              <a:cs typeface="Merriweather Light"/>
              <a:sym typeface="Merriweather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41B47"/>
        </a:solidFill>
      </p:bgPr>
    </p:bg>
    <p:spTree>
      <p:nvGrpSpPr>
        <p:cNvPr id="79" name="Shape 79"/>
        <p:cNvGrpSpPr/>
        <p:nvPr/>
      </p:nvGrpSpPr>
      <p:grpSpPr>
        <a:xfrm>
          <a:off x="0" y="0"/>
          <a:ext cx="0" cy="0"/>
          <a:chOff x="0" y="0"/>
          <a:chExt cx="0" cy="0"/>
        </a:xfrm>
      </p:grpSpPr>
      <p:sp>
        <p:nvSpPr>
          <p:cNvPr id="80" name="Google Shape;80;p16"/>
          <p:cNvSpPr txBox="1"/>
          <p:nvPr>
            <p:ph type="title"/>
          </p:nvPr>
        </p:nvSpPr>
        <p:spPr>
          <a:xfrm>
            <a:off x="311700" y="289675"/>
            <a:ext cx="3999900" cy="978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chemeClr val="lt1"/>
                </a:solidFill>
                <a:latin typeface="Merriweather"/>
                <a:ea typeface="Merriweather"/>
                <a:cs typeface="Merriweather"/>
                <a:sym typeface="Merriweather"/>
              </a:rPr>
              <a:t>Characterizing DWD Systems </a:t>
            </a:r>
            <a:endParaRPr b="1">
              <a:solidFill>
                <a:schemeClr val="lt1"/>
              </a:solidFill>
              <a:latin typeface="Merriweather"/>
              <a:ea typeface="Merriweather"/>
              <a:cs typeface="Merriweather"/>
              <a:sym typeface="Merriweather"/>
            </a:endParaRPr>
          </a:p>
        </p:txBody>
      </p:sp>
      <p:sp>
        <p:nvSpPr>
          <p:cNvPr id="81" name="Google Shape;81;p16"/>
          <p:cNvSpPr txBox="1"/>
          <p:nvPr>
            <p:ph idx="1" type="body"/>
          </p:nvPr>
        </p:nvSpPr>
        <p:spPr>
          <a:xfrm>
            <a:off x="311700" y="1305350"/>
            <a:ext cx="3999900" cy="12921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1200"/>
              </a:spcAft>
              <a:buNone/>
            </a:pPr>
            <a:r>
              <a:rPr lang="en">
                <a:solidFill>
                  <a:schemeClr val="lt2"/>
                </a:solidFill>
                <a:latin typeface="Merriweather"/>
                <a:ea typeface="Merriweather"/>
                <a:cs typeface="Merriweather"/>
                <a:sym typeface="Merriweather"/>
              </a:rPr>
              <a:t>O</a:t>
            </a:r>
            <a:r>
              <a:rPr lang="en">
                <a:solidFill>
                  <a:schemeClr val="lt2"/>
                </a:solidFill>
                <a:latin typeface="Merriweather"/>
                <a:ea typeface="Merriweather"/>
                <a:cs typeface="Merriweather"/>
                <a:sym typeface="Merriweather"/>
              </a:rPr>
              <a:t>ptical observations shows us modulation of the systems, such as eclipses, ellipsoidal  various, doppler beaming and reflections. </a:t>
            </a:r>
            <a:endParaRPr>
              <a:solidFill>
                <a:schemeClr val="lt2"/>
              </a:solidFill>
              <a:latin typeface="Merriweather"/>
              <a:ea typeface="Merriweather"/>
              <a:cs typeface="Merriweather"/>
              <a:sym typeface="Merriweather"/>
            </a:endParaRPr>
          </a:p>
        </p:txBody>
      </p:sp>
      <p:pic>
        <p:nvPicPr>
          <p:cNvPr id="82" name="Google Shape;82;p16" title="Screenshot 2026-09-18 at 8.14.41 PM.png"/>
          <p:cNvPicPr preferRelativeResize="0"/>
          <p:nvPr/>
        </p:nvPicPr>
        <p:blipFill>
          <a:blip r:embed="rId3">
            <a:alphaModFix/>
          </a:blip>
          <a:stretch>
            <a:fillRect/>
          </a:stretch>
        </p:blipFill>
        <p:spPr>
          <a:xfrm>
            <a:off x="4311600" y="2634548"/>
            <a:ext cx="4715674" cy="1637578"/>
          </a:xfrm>
          <a:prstGeom prst="rect">
            <a:avLst/>
          </a:prstGeom>
          <a:noFill/>
          <a:ln>
            <a:noFill/>
          </a:ln>
        </p:spPr>
      </p:pic>
      <p:pic>
        <p:nvPicPr>
          <p:cNvPr id="83" name="Google Shape;83;p16" title="Screenshot 2026-09-18 at 8.15.06 PM.png"/>
          <p:cNvPicPr preferRelativeResize="0"/>
          <p:nvPr/>
        </p:nvPicPr>
        <p:blipFill>
          <a:blip r:embed="rId4">
            <a:alphaModFix/>
          </a:blip>
          <a:stretch>
            <a:fillRect/>
          </a:stretch>
        </p:blipFill>
        <p:spPr>
          <a:xfrm>
            <a:off x="4480725" y="663575"/>
            <a:ext cx="4377423" cy="1637574"/>
          </a:xfrm>
          <a:prstGeom prst="rect">
            <a:avLst/>
          </a:prstGeom>
          <a:noFill/>
          <a:ln>
            <a:noFill/>
          </a:ln>
        </p:spPr>
      </p:pic>
      <p:sp>
        <p:nvSpPr>
          <p:cNvPr id="84" name="Google Shape;84;p16"/>
          <p:cNvSpPr txBox="1"/>
          <p:nvPr/>
        </p:nvSpPr>
        <p:spPr>
          <a:xfrm>
            <a:off x="4419125" y="4324525"/>
            <a:ext cx="4500600" cy="46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2"/>
                </a:solidFill>
                <a:latin typeface="Merriweather Light"/>
                <a:ea typeface="Merriweather Light"/>
                <a:cs typeface="Merriweather Light"/>
                <a:sym typeface="Merriweather Light"/>
              </a:rPr>
              <a:t>Figure 1: system J0651+2844 light curve of Eclipsing system</a:t>
            </a:r>
            <a:endParaRPr sz="1000">
              <a:solidFill>
                <a:schemeClr val="lt2"/>
              </a:solidFill>
              <a:latin typeface="Merriweather Light"/>
              <a:ea typeface="Merriweather Light"/>
              <a:cs typeface="Merriweather Light"/>
              <a:sym typeface="Merriweather Light"/>
            </a:endParaRPr>
          </a:p>
          <a:p>
            <a:pPr indent="0" lvl="0" marL="0" rtl="0" algn="ctr">
              <a:spcBef>
                <a:spcPts val="0"/>
              </a:spcBef>
              <a:spcAft>
                <a:spcPts val="0"/>
              </a:spcAft>
              <a:buNone/>
            </a:pPr>
            <a:r>
              <a:rPr lang="en" sz="1000">
                <a:solidFill>
                  <a:schemeClr val="lt2"/>
                </a:solidFill>
                <a:latin typeface="Merriweather Light"/>
                <a:ea typeface="Merriweather Light"/>
                <a:cs typeface="Merriweather Light"/>
                <a:sym typeface="Merriweather Light"/>
              </a:rPr>
              <a:t>Figure 2: system J0106+1000 light curve of Ellipsoid system</a:t>
            </a:r>
            <a:endParaRPr sz="1000">
              <a:solidFill>
                <a:schemeClr val="lt2"/>
              </a:solidFill>
              <a:latin typeface="Merriweather Light"/>
              <a:ea typeface="Merriweather Light"/>
              <a:cs typeface="Merriweather Light"/>
              <a:sym typeface="Merriweather Light"/>
            </a:endParaRPr>
          </a:p>
        </p:txBody>
      </p:sp>
      <p:sp>
        <p:nvSpPr>
          <p:cNvPr id="85" name="Google Shape;85;p16"/>
          <p:cNvSpPr txBox="1"/>
          <p:nvPr/>
        </p:nvSpPr>
        <p:spPr>
          <a:xfrm>
            <a:off x="0" y="4846725"/>
            <a:ext cx="9144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CCCCCC"/>
                </a:solidFill>
                <a:latin typeface="Merriweather"/>
                <a:ea typeface="Merriweather"/>
                <a:cs typeface="Merriweather"/>
                <a:sym typeface="Merriweather"/>
              </a:rPr>
              <a:t>Barrientos Laurence, Manuel H. </a:t>
            </a:r>
            <a:r>
              <a:rPr i="1" lang="en" sz="700">
                <a:solidFill>
                  <a:srgbClr val="CCCCCC"/>
                </a:solidFill>
                <a:latin typeface="Merriweather"/>
                <a:ea typeface="Merriweather"/>
                <a:cs typeface="Merriweather"/>
                <a:sym typeface="Merriweather"/>
              </a:rPr>
              <a:t>"Progress Report: Electromagnetic and Gravitational Wave Characterization of LISA Binaries in the Extremely-Low Mass Survey."</a:t>
            </a:r>
            <a:r>
              <a:rPr lang="en" sz="700">
                <a:solidFill>
                  <a:srgbClr val="CCCCCC"/>
                </a:solidFill>
                <a:latin typeface="Merriweather"/>
                <a:ea typeface="Merriweather"/>
                <a:cs typeface="Merriweather"/>
                <a:sym typeface="Merriweather"/>
              </a:rPr>
              <a:t> University of Oklahoma, 2025. Research Progress Report</a:t>
            </a:r>
            <a:endParaRPr sz="700">
              <a:solidFill>
                <a:srgbClr val="CCCCCC"/>
              </a:solidFill>
              <a:latin typeface="Merriweather"/>
              <a:ea typeface="Merriweather"/>
              <a:cs typeface="Merriweather"/>
              <a:sym typeface="Merriweather"/>
            </a:endParaRPr>
          </a:p>
        </p:txBody>
      </p:sp>
      <p:sp>
        <p:nvSpPr>
          <p:cNvPr id="86" name="Google Shape;86;p16"/>
          <p:cNvSpPr/>
          <p:nvPr/>
        </p:nvSpPr>
        <p:spPr>
          <a:xfrm>
            <a:off x="414450" y="2420475"/>
            <a:ext cx="3794400" cy="2363400"/>
          </a:xfrm>
          <a:prstGeom prst="roundRect">
            <a:avLst>
              <a:gd fmla="val 16667" name="adj"/>
            </a:avLst>
          </a:prstGeom>
          <a:solidFill>
            <a:srgbClr val="D5A6BD"/>
          </a:solid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a:solidFill>
                  <a:schemeClr val="dk1"/>
                </a:solidFill>
                <a:latin typeface="Merriweather"/>
                <a:ea typeface="Merriweather"/>
                <a:cs typeface="Merriweather"/>
                <a:sym typeface="Merriweather"/>
              </a:rPr>
              <a:t>Eclipsing systems:</a:t>
            </a:r>
            <a:r>
              <a:rPr lang="en">
                <a:solidFill>
                  <a:schemeClr val="dk1"/>
                </a:solidFill>
                <a:latin typeface="Merriweather"/>
                <a:ea typeface="Merriweather"/>
                <a:cs typeface="Merriweather"/>
                <a:sym typeface="Merriweather"/>
              </a:rPr>
              <a:t> Geometry directly constraints masses, radii, and inclination to percent-level precision</a:t>
            </a:r>
            <a:endParaRPr>
              <a:solidFill>
                <a:schemeClr val="dk1"/>
              </a:solidFill>
              <a:latin typeface="Merriweather"/>
              <a:ea typeface="Merriweather"/>
              <a:cs typeface="Merriweather"/>
              <a:sym typeface="Merriweather"/>
            </a:endParaRPr>
          </a:p>
          <a:p>
            <a:pPr indent="0" lvl="0" marL="0" rtl="0" algn="ctr">
              <a:lnSpc>
                <a:spcPct val="150000"/>
              </a:lnSpc>
              <a:spcBef>
                <a:spcPts val="1200"/>
              </a:spcBef>
              <a:spcAft>
                <a:spcPts val="1200"/>
              </a:spcAft>
              <a:buNone/>
            </a:pPr>
            <a:r>
              <a:rPr b="1" lang="en">
                <a:solidFill>
                  <a:schemeClr val="dk1"/>
                </a:solidFill>
                <a:latin typeface="Merriweather"/>
                <a:ea typeface="Merriweather"/>
                <a:cs typeface="Merriweather"/>
                <a:sym typeface="Merriweather"/>
              </a:rPr>
              <a:t>Ellipsoid systems:</a:t>
            </a:r>
            <a:r>
              <a:rPr lang="en">
                <a:solidFill>
                  <a:schemeClr val="dk1"/>
                </a:solidFill>
                <a:latin typeface="Merriweather"/>
                <a:ea typeface="Merriweather"/>
                <a:cs typeface="Merriweather"/>
                <a:sym typeface="Merriweather"/>
              </a:rPr>
              <a:t> Tidal modulations provide partial constraints when paired with spectroscopic priors</a:t>
            </a:r>
            <a:endParaRPr>
              <a:solidFill>
                <a:schemeClr val="dk1"/>
              </a:solidFill>
              <a:latin typeface="Merriweather"/>
              <a:ea typeface="Merriweather"/>
              <a:cs typeface="Merriweather"/>
              <a:sym typeface="Merriweath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41B47"/>
        </a:solidFill>
      </p:bgPr>
    </p:bg>
    <p:spTree>
      <p:nvGrpSpPr>
        <p:cNvPr id="90" name="Shape 90"/>
        <p:cNvGrpSpPr/>
        <p:nvPr/>
      </p:nvGrpSpPr>
      <p:grpSpPr>
        <a:xfrm>
          <a:off x="0" y="0"/>
          <a:ext cx="0" cy="0"/>
          <a:chOff x="0" y="0"/>
          <a:chExt cx="0" cy="0"/>
        </a:xfrm>
      </p:grpSpPr>
      <p:sp>
        <p:nvSpPr>
          <p:cNvPr id="91" name="Google Shape;91;p17"/>
          <p:cNvSpPr/>
          <p:nvPr/>
        </p:nvSpPr>
        <p:spPr>
          <a:xfrm>
            <a:off x="438450" y="3949625"/>
            <a:ext cx="8267100" cy="727800"/>
          </a:xfrm>
          <a:prstGeom prst="roundRect">
            <a:avLst>
              <a:gd fmla="val 16667" name="adj"/>
            </a:avLst>
          </a:prstGeom>
          <a:solidFill>
            <a:srgbClr val="D5A6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7"/>
          <p:cNvSpPr txBox="1"/>
          <p:nvPr/>
        </p:nvSpPr>
        <p:spPr>
          <a:xfrm>
            <a:off x="4228075" y="3134925"/>
            <a:ext cx="4500600" cy="46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2"/>
                </a:solidFill>
                <a:latin typeface="Merriweather Light"/>
                <a:ea typeface="Merriweather Light"/>
                <a:cs typeface="Merriweather Light"/>
                <a:sym typeface="Merriweather Light"/>
              </a:rPr>
              <a:t>Figure: system </a:t>
            </a:r>
            <a:r>
              <a:rPr lang="en" sz="1000">
                <a:solidFill>
                  <a:schemeClr val="lt2"/>
                </a:solidFill>
                <a:latin typeface="Merriweather"/>
                <a:ea typeface="Merriweather"/>
                <a:cs typeface="Merriweather"/>
                <a:sym typeface="Merriweather"/>
              </a:rPr>
              <a:t> J2322+0509,</a:t>
            </a:r>
            <a:r>
              <a:rPr lang="en" sz="1000">
                <a:solidFill>
                  <a:schemeClr val="lt2"/>
                </a:solidFill>
                <a:latin typeface="Merriweather Light"/>
                <a:ea typeface="Merriweather Light"/>
                <a:cs typeface="Merriweather Light"/>
                <a:sym typeface="Merriweather Light"/>
              </a:rPr>
              <a:t> light curve of Featureless system</a:t>
            </a:r>
            <a:endParaRPr sz="1000">
              <a:solidFill>
                <a:schemeClr val="lt2"/>
              </a:solidFill>
              <a:latin typeface="Merriweather Light"/>
              <a:ea typeface="Merriweather Light"/>
              <a:cs typeface="Merriweather Light"/>
              <a:sym typeface="Merriweather Light"/>
            </a:endParaRPr>
          </a:p>
          <a:p>
            <a:pPr indent="0" lvl="0" marL="0" rtl="0" algn="ctr">
              <a:spcBef>
                <a:spcPts val="0"/>
              </a:spcBef>
              <a:spcAft>
                <a:spcPts val="0"/>
              </a:spcAft>
              <a:buNone/>
            </a:pPr>
            <a:r>
              <a:rPr lang="en" sz="1000">
                <a:solidFill>
                  <a:schemeClr val="lt2"/>
                </a:solidFill>
                <a:latin typeface="Merriweather Light"/>
                <a:ea typeface="Merriweather Light"/>
                <a:cs typeface="Merriweather Light"/>
                <a:sym typeface="Merriweather Light"/>
              </a:rPr>
              <a:t>red and </a:t>
            </a:r>
            <a:r>
              <a:rPr lang="en" sz="1000">
                <a:solidFill>
                  <a:schemeClr val="lt2"/>
                </a:solidFill>
                <a:latin typeface="Merriweather Light"/>
                <a:ea typeface="Merriweather Light"/>
                <a:cs typeface="Merriweather Light"/>
                <a:sym typeface="Merriweather Light"/>
              </a:rPr>
              <a:t>green</a:t>
            </a:r>
            <a:r>
              <a:rPr lang="en" sz="1000">
                <a:solidFill>
                  <a:schemeClr val="lt2"/>
                </a:solidFill>
                <a:latin typeface="Merriweather Light"/>
                <a:ea typeface="Merriweather Light"/>
                <a:cs typeface="Merriweather Light"/>
                <a:sym typeface="Merriweather Light"/>
              </a:rPr>
              <a:t> line shows the two different lines of best fit of the system</a:t>
            </a:r>
            <a:endParaRPr sz="1000">
              <a:solidFill>
                <a:schemeClr val="lt2"/>
              </a:solidFill>
              <a:latin typeface="Merriweather Light"/>
              <a:ea typeface="Merriweather Light"/>
              <a:cs typeface="Merriweather Light"/>
              <a:sym typeface="Merriweather Light"/>
            </a:endParaRPr>
          </a:p>
        </p:txBody>
      </p:sp>
      <p:sp>
        <p:nvSpPr>
          <p:cNvPr id="93" name="Google Shape;93;p17"/>
          <p:cNvSpPr txBox="1"/>
          <p:nvPr>
            <p:ph idx="1" type="body"/>
          </p:nvPr>
        </p:nvSpPr>
        <p:spPr>
          <a:xfrm>
            <a:off x="311700" y="1644888"/>
            <a:ext cx="3883200" cy="28158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1500">
                <a:solidFill>
                  <a:schemeClr val="lt2"/>
                </a:solidFill>
                <a:latin typeface="Merriweather"/>
                <a:ea typeface="Merriweather"/>
                <a:cs typeface="Merriweather"/>
                <a:sym typeface="Merriweather"/>
              </a:rPr>
              <a:t>Featureless systems: </a:t>
            </a:r>
            <a:r>
              <a:rPr lang="en" sz="1500">
                <a:solidFill>
                  <a:schemeClr val="lt2"/>
                </a:solidFill>
                <a:latin typeface="Merriweather"/>
                <a:ea typeface="Merriweather"/>
                <a:cs typeface="Merriweather"/>
                <a:sym typeface="Merriweather"/>
              </a:rPr>
              <a:t>Flat optical light curves leave inclination unconstrained and parameters strongly degenerate</a:t>
            </a:r>
            <a:endParaRPr sz="1500">
              <a:solidFill>
                <a:schemeClr val="lt2"/>
              </a:solidFill>
              <a:latin typeface="Merriweather"/>
              <a:ea typeface="Merriweather"/>
              <a:cs typeface="Merriweather"/>
              <a:sym typeface="Merriweather"/>
            </a:endParaRPr>
          </a:p>
          <a:p>
            <a:pPr indent="0" lvl="0" marL="0" rtl="0" algn="ctr">
              <a:spcBef>
                <a:spcPts val="1200"/>
              </a:spcBef>
              <a:spcAft>
                <a:spcPts val="0"/>
              </a:spcAft>
              <a:buClr>
                <a:schemeClr val="dk1"/>
              </a:buClr>
              <a:buSzPts val="1100"/>
              <a:buFont typeface="Arial"/>
              <a:buNone/>
            </a:pPr>
            <a:r>
              <a:rPr lang="en" sz="1500">
                <a:solidFill>
                  <a:schemeClr val="lt2"/>
                </a:solidFill>
                <a:latin typeface="Merriweather"/>
                <a:ea typeface="Merriweather"/>
                <a:cs typeface="Merriweather"/>
                <a:sym typeface="Merriweather"/>
              </a:rPr>
              <a:t>~54% of DWD light curves in optical surveys are featureless </a:t>
            </a:r>
            <a:endParaRPr sz="1500">
              <a:solidFill>
                <a:schemeClr val="lt2"/>
              </a:solidFill>
              <a:latin typeface="Merriweather"/>
              <a:ea typeface="Merriweather"/>
              <a:cs typeface="Merriweather"/>
              <a:sym typeface="Merriweather"/>
            </a:endParaRPr>
          </a:p>
          <a:p>
            <a:pPr indent="0" lvl="0" marL="0" rtl="0" algn="ctr">
              <a:lnSpc>
                <a:spcPct val="150000"/>
              </a:lnSpc>
              <a:spcBef>
                <a:spcPts val="1200"/>
              </a:spcBef>
              <a:spcAft>
                <a:spcPts val="1200"/>
              </a:spcAft>
              <a:buNone/>
            </a:pPr>
            <a:r>
              <a:t/>
            </a:r>
            <a:endParaRPr b="1" sz="1500">
              <a:solidFill>
                <a:schemeClr val="lt2"/>
              </a:solidFill>
              <a:latin typeface="Merriweather"/>
              <a:ea typeface="Merriweather"/>
              <a:cs typeface="Merriweather"/>
              <a:sym typeface="Merriweather"/>
            </a:endParaRPr>
          </a:p>
        </p:txBody>
      </p:sp>
      <p:sp>
        <p:nvSpPr>
          <p:cNvPr id="94" name="Google Shape;94;p17"/>
          <p:cNvSpPr txBox="1"/>
          <p:nvPr/>
        </p:nvSpPr>
        <p:spPr>
          <a:xfrm>
            <a:off x="0" y="4846725"/>
            <a:ext cx="9144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CCCCCC"/>
                </a:solidFill>
                <a:latin typeface="Merriweather"/>
                <a:ea typeface="Merriweather"/>
                <a:cs typeface="Merriweather"/>
                <a:sym typeface="Merriweather"/>
              </a:rPr>
              <a:t>Barrientos Laurence, Manuel H. </a:t>
            </a:r>
            <a:r>
              <a:rPr i="1" lang="en" sz="700">
                <a:solidFill>
                  <a:srgbClr val="CCCCCC"/>
                </a:solidFill>
                <a:latin typeface="Merriweather"/>
                <a:ea typeface="Merriweather"/>
                <a:cs typeface="Merriweather"/>
                <a:sym typeface="Merriweather"/>
              </a:rPr>
              <a:t>"Progress Report: Electromagnetic and Gravitational Wave Characterization of LISA Binaries in the Extremely-Low Mass Survey."</a:t>
            </a:r>
            <a:r>
              <a:rPr lang="en" sz="700">
                <a:solidFill>
                  <a:srgbClr val="CCCCCC"/>
                </a:solidFill>
                <a:latin typeface="Merriweather"/>
                <a:ea typeface="Merriweather"/>
                <a:cs typeface="Merriweather"/>
                <a:sym typeface="Merriweather"/>
              </a:rPr>
              <a:t> University of Oklahoma, 2025. Research Progress Report</a:t>
            </a:r>
            <a:endParaRPr sz="700">
              <a:solidFill>
                <a:srgbClr val="CCCCCC"/>
              </a:solidFill>
              <a:latin typeface="Merriweather"/>
              <a:ea typeface="Merriweather"/>
              <a:cs typeface="Merriweather"/>
              <a:sym typeface="Merriweather"/>
            </a:endParaRPr>
          </a:p>
        </p:txBody>
      </p:sp>
      <p:sp>
        <p:nvSpPr>
          <p:cNvPr id="95" name="Google Shape;95;p17"/>
          <p:cNvSpPr txBox="1"/>
          <p:nvPr/>
        </p:nvSpPr>
        <p:spPr>
          <a:xfrm>
            <a:off x="438450" y="4113500"/>
            <a:ext cx="8267100" cy="46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Merriweather"/>
                <a:ea typeface="Merriweather"/>
                <a:cs typeface="Merriweather"/>
                <a:sym typeface="Merriweather"/>
              </a:rPr>
              <a:t>No clear modulations → unknown inclinations → parameter degeneracy → large mass/GW uncertainty</a:t>
            </a:r>
            <a:endParaRPr sz="1300">
              <a:solidFill>
                <a:schemeClr val="dk1"/>
              </a:solidFill>
              <a:latin typeface="Merriweather"/>
              <a:ea typeface="Merriweather"/>
              <a:cs typeface="Merriweather"/>
              <a:sym typeface="Merriweather"/>
            </a:endParaRPr>
          </a:p>
        </p:txBody>
      </p:sp>
      <p:pic>
        <p:nvPicPr>
          <p:cNvPr id="96" name="Google Shape;96;p17"/>
          <p:cNvPicPr preferRelativeResize="0"/>
          <p:nvPr/>
        </p:nvPicPr>
        <p:blipFill>
          <a:blip r:embed="rId3">
            <a:alphaModFix/>
          </a:blip>
          <a:stretch>
            <a:fillRect/>
          </a:stretch>
        </p:blipFill>
        <p:spPr>
          <a:xfrm>
            <a:off x="4139050" y="474275"/>
            <a:ext cx="4678651" cy="2660649"/>
          </a:xfrm>
          <a:prstGeom prst="rect">
            <a:avLst/>
          </a:prstGeom>
          <a:noFill/>
          <a:ln>
            <a:noFill/>
          </a:ln>
        </p:spPr>
      </p:pic>
      <p:sp>
        <p:nvSpPr>
          <p:cNvPr id="97" name="Google Shape;97;p17"/>
          <p:cNvSpPr txBox="1"/>
          <p:nvPr>
            <p:ph type="title"/>
          </p:nvPr>
        </p:nvSpPr>
        <p:spPr>
          <a:xfrm>
            <a:off x="311700" y="289675"/>
            <a:ext cx="3999900" cy="978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chemeClr val="lt1"/>
                </a:solidFill>
                <a:latin typeface="Merriweather"/>
                <a:ea typeface="Merriweather"/>
                <a:cs typeface="Merriweather"/>
                <a:sym typeface="Merriweather"/>
              </a:rPr>
              <a:t>Characterizing DWD Systems </a:t>
            </a:r>
            <a:endParaRPr b="1">
              <a:solidFill>
                <a:schemeClr val="lt1"/>
              </a:solidFill>
              <a:latin typeface="Merriweather"/>
              <a:ea typeface="Merriweather"/>
              <a:cs typeface="Merriweather"/>
              <a:sym typeface="Merriweath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41B47"/>
        </a:solidFill>
      </p:bgPr>
    </p:bg>
    <p:spTree>
      <p:nvGrpSpPr>
        <p:cNvPr id="101" name="Shape 101"/>
        <p:cNvGrpSpPr/>
        <p:nvPr/>
      </p:nvGrpSpPr>
      <p:grpSpPr>
        <a:xfrm>
          <a:off x="0" y="0"/>
          <a:ext cx="0" cy="0"/>
          <a:chOff x="0" y="0"/>
          <a:chExt cx="0" cy="0"/>
        </a:xfrm>
      </p:grpSpPr>
      <p:sp>
        <p:nvSpPr>
          <p:cNvPr id="102" name="Google Shape;102;p18"/>
          <p:cNvSpPr/>
          <p:nvPr/>
        </p:nvSpPr>
        <p:spPr>
          <a:xfrm>
            <a:off x="4685575" y="0"/>
            <a:ext cx="4458300" cy="5143500"/>
          </a:xfrm>
          <a:prstGeom prst="rect">
            <a:avLst/>
          </a:prstGeom>
          <a:solidFill>
            <a:srgbClr val="D5A6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8"/>
          <p:cNvSpPr txBox="1"/>
          <p:nvPr>
            <p:ph type="title"/>
          </p:nvPr>
        </p:nvSpPr>
        <p:spPr>
          <a:xfrm>
            <a:off x="311700" y="445025"/>
            <a:ext cx="4420800" cy="61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Merriweather"/>
                <a:ea typeface="Merriweather"/>
                <a:cs typeface="Merriweather"/>
                <a:sym typeface="Merriweather"/>
              </a:rPr>
              <a:t>My Research so Far</a:t>
            </a:r>
            <a:endParaRPr b="1">
              <a:solidFill>
                <a:schemeClr val="lt1"/>
              </a:solidFill>
              <a:latin typeface="Merriweather"/>
              <a:ea typeface="Merriweather"/>
              <a:cs typeface="Merriweather"/>
              <a:sym typeface="Merriweather"/>
            </a:endParaRPr>
          </a:p>
        </p:txBody>
      </p:sp>
      <p:sp>
        <p:nvSpPr>
          <p:cNvPr id="104" name="Google Shape;104;p18"/>
          <p:cNvSpPr txBox="1"/>
          <p:nvPr>
            <p:ph idx="1" type="body"/>
          </p:nvPr>
        </p:nvSpPr>
        <p:spPr>
          <a:xfrm>
            <a:off x="311700" y="1060625"/>
            <a:ext cx="4260300" cy="3508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700">
                <a:solidFill>
                  <a:schemeClr val="lt2"/>
                </a:solidFill>
                <a:latin typeface="Merriweather"/>
                <a:ea typeface="Merriweather"/>
                <a:cs typeface="Merriweather"/>
                <a:sym typeface="Merriweather"/>
              </a:rPr>
              <a:t>Observing at longer wavelengths (e.g., Deep IR ~960 nm) shifts flux ratio balance toward the cooler companion</a:t>
            </a:r>
            <a:endParaRPr sz="1700">
              <a:solidFill>
                <a:schemeClr val="lt2"/>
              </a:solidFill>
              <a:latin typeface="Merriweather"/>
              <a:ea typeface="Merriweather"/>
              <a:cs typeface="Merriweather"/>
              <a:sym typeface="Merriweather"/>
            </a:endParaRPr>
          </a:p>
          <a:p>
            <a:pPr indent="0" lvl="0" marL="0" rtl="0" algn="l">
              <a:lnSpc>
                <a:spcPct val="115000"/>
              </a:lnSpc>
              <a:spcBef>
                <a:spcPts val="1200"/>
              </a:spcBef>
              <a:spcAft>
                <a:spcPts val="1200"/>
              </a:spcAft>
              <a:buNone/>
            </a:pPr>
            <a:r>
              <a:rPr lang="en" sz="1700">
                <a:solidFill>
                  <a:schemeClr val="lt2"/>
                </a:solidFill>
                <a:latin typeface="Merriweather"/>
                <a:ea typeface="Merriweather"/>
                <a:cs typeface="Merriweather"/>
                <a:sym typeface="Merriweather"/>
              </a:rPr>
              <a:t>By observing one of the systems in the infrared we can test if we can apply physical parameter constraints to complement the UV and optical constraints of the primary source</a:t>
            </a:r>
            <a:endParaRPr sz="1700">
              <a:solidFill>
                <a:schemeClr val="lt2"/>
              </a:solidFill>
              <a:latin typeface="Merriweather"/>
              <a:ea typeface="Merriweather"/>
              <a:cs typeface="Merriweather"/>
              <a:sym typeface="Merriweather"/>
            </a:endParaRPr>
          </a:p>
        </p:txBody>
      </p:sp>
      <p:sp>
        <p:nvSpPr>
          <p:cNvPr id="105" name="Google Shape;105;p18"/>
          <p:cNvSpPr txBox="1"/>
          <p:nvPr/>
        </p:nvSpPr>
        <p:spPr>
          <a:xfrm>
            <a:off x="5009700" y="3900157"/>
            <a:ext cx="3822600" cy="107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System: J0935+4411</a:t>
            </a:r>
            <a:endParaRPr sz="12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x</a:t>
            </a:r>
            <a:r>
              <a:rPr lang="en" sz="1200">
                <a:solidFill>
                  <a:schemeClr val="dk1"/>
                </a:solidFill>
                <a:latin typeface="Times New Roman"/>
                <a:ea typeface="Times New Roman"/>
                <a:cs typeface="Times New Roman"/>
                <a:sym typeface="Times New Roman"/>
              </a:rPr>
              <a:t>-axis: Flux y-axis: Observed Wavelength (μm)</a:t>
            </a:r>
            <a:endParaRPr sz="12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Image from PanSTARRS-1 Image Access, in the Deep Infrared, ~960 nm </a:t>
            </a:r>
            <a:endParaRPr sz="12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Photometry from Sphere-x</a:t>
            </a:r>
            <a:endParaRPr sz="12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106" name="Google Shape;106;p18"/>
          <p:cNvSpPr txBox="1"/>
          <p:nvPr/>
        </p:nvSpPr>
        <p:spPr>
          <a:xfrm>
            <a:off x="0" y="4527900"/>
            <a:ext cx="4685700" cy="615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700">
                <a:solidFill>
                  <a:srgbClr val="CCCCCC"/>
                </a:solidFill>
              </a:rPr>
              <a:t>Image: </a:t>
            </a:r>
            <a:r>
              <a:rPr lang="en" sz="700" u="sng">
                <a:solidFill>
                  <a:srgbClr val="CCCCCC"/>
                </a:solidFill>
                <a:latin typeface="Times New Roman"/>
                <a:ea typeface="Times New Roman"/>
                <a:cs typeface="Times New Roman"/>
                <a:sym typeface="Times New Roman"/>
                <a:hlinkClick r:id="rId3">
                  <a:extLst>
                    <a:ext uri="{A12FA001-AC4F-418D-AE19-62706E023703}">
                      <ahyp:hlinkClr val="tx"/>
                    </a:ext>
                  </a:extLst>
                </a:hlinkClick>
              </a:rPr>
              <a:t>https://ps1images.stsci.edu/cgi-bin/ps1cutouts?pos=12%3A35%3A49.853+++15%3A43%3A18.954&amp;filter=color&amp;filter=g&amp;filter=r&amp;filter=i&amp;filter=z&amp;filter=y&amp;filetypes=stack&amp;auxiliary=data&amp;size=240&amp;output_size=0&amp;verbose=0&amp;autoscale=99.500000&amp;catlist=</a:t>
            </a:r>
            <a:r>
              <a:rPr lang="en" sz="700">
                <a:solidFill>
                  <a:srgbClr val="CCCCCC"/>
                </a:solidFill>
                <a:latin typeface="Times New Roman"/>
                <a:ea typeface="Times New Roman"/>
                <a:cs typeface="Times New Roman"/>
                <a:sym typeface="Times New Roman"/>
              </a:rPr>
              <a:t> </a:t>
            </a:r>
            <a:endParaRPr sz="700">
              <a:solidFill>
                <a:srgbClr val="CCCCCC"/>
              </a:solidFill>
              <a:latin typeface="Times New Roman"/>
              <a:ea typeface="Times New Roman"/>
              <a:cs typeface="Times New Roman"/>
              <a:sym typeface="Times New Roman"/>
            </a:endParaRPr>
          </a:p>
          <a:p>
            <a:pPr indent="0" lvl="0" marL="0" rtl="0" algn="l">
              <a:spcBef>
                <a:spcPts val="0"/>
              </a:spcBef>
              <a:spcAft>
                <a:spcPts val="0"/>
              </a:spcAft>
              <a:buNone/>
            </a:pPr>
            <a:r>
              <a:rPr lang="en" sz="700">
                <a:solidFill>
                  <a:srgbClr val="CCCCCC"/>
                </a:solidFill>
                <a:latin typeface="Times New Roman"/>
                <a:ea typeface="Times New Roman"/>
                <a:cs typeface="Times New Roman"/>
                <a:sym typeface="Times New Roman"/>
              </a:rPr>
              <a:t>Plot: </a:t>
            </a:r>
            <a:r>
              <a:rPr lang="en" sz="700" u="sng">
                <a:solidFill>
                  <a:srgbClr val="CCCCCC"/>
                </a:solidFill>
                <a:latin typeface="Times New Roman"/>
                <a:ea typeface="Times New Roman"/>
                <a:cs typeface="Times New Roman"/>
                <a:sym typeface="Times New Roman"/>
                <a:hlinkClick r:id="rId4">
                  <a:extLst>
                    <a:ext uri="{A12FA001-AC4F-418D-AE19-62706E023703}">
                      <ahyp:hlinkClr val="tx"/>
                    </a:ext>
                  </a:extLst>
                </a:hlinkClick>
              </a:rPr>
              <a:t>https://irsa.ipac.caltech.edu/applications/spherex/tool-spectrophotometry</a:t>
            </a:r>
            <a:r>
              <a:rPr lang="en" sz="700">
                <a:solidFill>
                  <a:srgbClr val="CCCCCC"/>
                </a:solidFill>
                <a:latin typeface="Times New Roman"/>
                <a:ea typeface="Times New Roman"/>
                <a:cs typeface="Times New Roman"/>
                <a:sym typeface="Times New Roman"/>
              </a:rPr>
              <a:t> </a:t>
            </a:r>
            <a:endParaRPr sz="700">
              <a:solidFill>
                <a:srgbClr val="CCCCCC"/>
              </a:solidFill>
              <a:latin typeface="Times New Roman"/>
              <a:ea typeface="Times New Roman"/>
              <a:cs typeface="Times New Roman"/>
              <a:sym typeface="Times New Roman"/>
            </a:endParaRPr>
          </a:p>
        </p:txBody>
      </p:sp>
      <p:pic>
        <p:nvPicPr>
          <p:cNvPr id="107" name="Google Shape;107;p18" title="J0935+4411.png"/>
          <p:cNvPicPr preferRelativeResize="0"/>
          <p:nvPr/>
        </p:nvPicPr>
        <p:blipFill>
          <a:blip r:embed="rId5">
            <a:alphaModFix/>
          </a:blip>
          <a:stretch>
            <a:fillRect/>
          </a:stretch>
        </p:blipFill>
        <p:spPr>
          <a:xfrm>
            <a:off x="5057988" y="2085538"/>
            <a:ext cx="3751200" cy="1814700"/>
          </a:xfrm>
          <a:prstGeom prst="rect">
            <a:avLst/>
          </a:prstGeom>
          <a:noFill/>
          <a:ln>
            <a:noFill/>
          </a:ln>
        </p:spPr>
      </p:pic>
      <p:pic>
        <p:nvPicPr>
          <p:cNvPr id="108" name="Google Shape;108;p18"/>
          <p:cNvPicPr preferRelativeResize="0"/>
          <p:nvPr/>
        </p:nvPicPr>
        <p:blipFill>
          <a:blip r:embed="rId6">
            <a:alphaModFix/>
          </a:blip>
          <a:stretch>
            <a:fillRect/>
          </a:stretch>
        </p:blipFill>
        <p:spPr>
          <a:xfrm>
            <a:off x="6176288" y="436963"/>
            <a:ext cx="1514400" cy="1533600"/>
          </a:xfrm>
          <a:prstGeom prst="round2DiagRect">
            <a:avLst>
              <a:gd fmla="val 16667" name="adj1"/>
              <a:gd fmla="val 0" name="adj2"/>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FDF"/>
        </a:solidFill>
      </p:bgPr>
    </p:bg>
    <p:spTree>
      <p:nvGrpSpPr>
        <p:cNvPr id="112" name="Shape 112"/>
        <p:cNvGrpSpPr/>
        <p:nvPr/>
      </p:nvGrpSpPr>
      <p:grpSpPr>
        <a:xfrm>
          <a:off x="0" y="0"/>
          <a:ext cx="0" cy="0"/>
          <a:chOff x="0" y="0"/>
          <a:chExt cx="0" cy="0"/>
        </a:xfrm>
      </p:grpSpPr>
      <p:sp>
        <p:nvSpPr>
          <p:cNvPr id="113" name="Google Shape;11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741B47"/>
                </a:solidFill>
                <a:latin typeface="Merriweather"/>
                <a:ea typeface="Merriweather"/>
                <a:cs typeface="Merriweather"/>
                <a:sym typeface="Merriweather"/>
              </a:rPr>
              <a:t>Questions?</a:t>
            </a:r>
            <a:endParaRPr b="1">
              <a:solidFill>
                <a:srgbClr val="741B47"/>
              </a:solidFill>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